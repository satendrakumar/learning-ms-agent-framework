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8" r:id="rId1"/>
  </p:sldMasterIdLst>
  <p:notesMasterIdLst>
    <p:notesMasterId r:id="rId5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6" r:id="rId38"/>
    <p:sldId id="297" r:id="rId39"/>
    <p:sldId id="298" r:id="rId40"/>
    <p:sldId id="299" r:id="rId41"/>
    <p:sldId id="300" r:id="rId42"/>
    <p:sldId id="301" r:id="rId43"/>
    <p:sldId id="302" r:id="rId44"/>
    <p:sldId id="303" r:id="rId45"/>
    <p:sldId id="304" r:id="rId46"/>
    <p:sldId id="308" r:id="rId47"/>
    <p:sldId id="310" r:id="rId48"/>
    <p:sldId id="311" r:id="rId49"/>
    <p:sldId id="314" r:id="rId50"/>
    <p:sldId id="315" r:id="rId51"/>
    <p:sldId id="316" r:id="rId52"/>
    <p:sldId id="317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1"/>
    <p:restoredTop sz="86084"/>
  </p:normalViewPr>
  <p:slideViewPr>
    <p:cSldViewPr snapToGrid="0" snapToObjects="1">
      <p:cViewPr varScale="1">
        <p:scale>
          <a:sx n="122" d="100"/>
          <a:sy n="122" d="100"/>
        </p:scale>
        <p:origin x="1328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6343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[OPEN]</a:t>
            </a:r>
          </a:p>
          <a:p>
            <a:r>
              <a:rPr dirty="0"/>
              <a:t>Welcome. Ninety minutes, eight modules, and by the end you will have written and run a</a:t>
            </a:r>
          </a:p>
          <a:p>
            <a:r>
              <a:rPr dirty="0"/>
              <a:t>tool-calling agent, a memory-backed agent, a multi-agent workflow, and a middleware</a:t>
            </a:r>
          </a:p>
          <a:p>
            <a:r>
              <a:rPr dirty="0"/>
              <a:t>guardrail — all on your own laptop, against a local model.</a:t>
            </a:r>
          </a:p>
          <a:p>
            <a:endParaRPr dirty="0"/>
          </a:p>
          <a:p>
            <a:r>
              <a:rPr dirty="0"/>
              <a:t>[FRAME THE PROMISE]</a:t>
            </a:r>
          </a:p>
          <a:p>
            <a:r>
              <a:rPr dirty="0"/>
              <a:t>This is not a "here is the API surface" talk. The framing question all the way through is:</a:t>
            </a:r>
          </a:p>
          <a:p>
            <a:r>
              <a:rPr dirty="0"/>
              <a:t>what does it take to move an agent from a notebook demo to something you would put behind</a:t>
            </a:r>
          </a:p>
          <a:p>
            <a:r>
              <a:rPr dirty="0"/>
              <a:t>a production endpoint? Every module answers one piece of that.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Before you say a word, have three terminals open and pre-warmed: (1) the </a:t>
            </a:r>
            <a:r>
              <a:rPr dirty="0" err="1"/>
              <a:t>vLLM</a:t>
            </a:r>
            <a:r>
              <a:rPr dirty="0"/>
              <a:t> server</a:t>
            </a:r>
          </a:p>
          <a:p>
            <a:r>
              <a:rPr dirty="0"/>
              <a:t>already serving, (2) the repo root, (3) a spare. The single most common workshop failure</a:t>
            </a:r>
          </a:p>
          <a:p>
            <a:r>
              <a:rPr dirty="0"/>
              <a:t>is a cold model server — first token can take 60+ seconds while weights load.</a:t>
            </a:r>
          </a:p>
          <a:p>
            <a:endParaRPr dirty="0"/>
          </a:p>
          <a:p>
            <a:r>
              <a:rPr dirty="0"/>
              <a:t>[LOGISTICS]</a:t>
            </a:r>
          </a:p>
          <a:p>
            <a:r>
              <a:rPr dirty="0"/>
              <a:t>Tell people now: clone the repo, run `</a:t>
            </a:r>
            <a:r>
              <a:rPr dirty="0" err="1"/>
              <a:t>uv</a:t>
            </a:r>
            <a:r>
              <a:rPr dirty="0"/>
              <a:t> sync`, and start `./</a:t>
            </a:r>
            <a:r>
              <a:rPr dirty="0" err="1"/>
              <a:t>vllm-run.sh</a:t>
            </a:r>
            <a:r>
              <a:rPr dirty="0"/>
              <a:t>` in the</a:t>
            </a:r>
          </a:p>
          <a:p>
            <a:r>
              <a:rPr dirty="0"/>
              <a:t>background. It downloads weights on first run — get that started during the intro.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Four pairs. Modules 1-2 are the mental model. 3-4 are what makes an agent useful — tools</a:t>
            </a:r>
          </a:p>
          <a:p>
            <a:r>
              <a:rPr dirty="0"/>
              <a:t>and memory. 5-6 are how you scale beyond one agent. 7-8 are what makes it survivable in</a:t>
            </a:r>
          </a:p>
          <a:p>
            <a:r>
              <a:rPr dirty="0"/>
              <a:t>production.</a:t>
            </a:r>
          </a:p>
          <a:p>
            <a:endParaRPr dirty="0"/>
          </a:p>
          <a:p>
            <a:r>
              <a:rPr dirty="0"/>
              <a:t>[PACING]</a:t>
            </a:r>
          </a:p>
          <a:p>
            <a:r>
              <a:rPr dirty="0"/>
              <a:t>Roughly ten minutes each, but 03 (tools) and 06 (workflows) always run long because those</a:t>
            </a:r>
          </a:p>
          <a:p>
            <a:r>
              <a:rPr dirty="0"/>
              <a:t>are where hands go up. Budget for that by keeping 01 tight — the "why" section is the one</a:t>
            </a:r>
          </a:p>
          <a:p>
            <a:r>
              <a:rPr dirty="0"/>
              <a:t>you can compress if you are behind.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Say explicitly that modules 5 and 8 are the ones people ask about afterwards, so if</a:t>
            </a:r>
          </a:p>
          <a:p>
            <a:r>
              <a:rPr dirty="0"/>
              <a:t>something has to be cut for time you will cut demo repetitions, not those sections. It</a:t>
            </a:r>
          </a:p>
          <a:p>
            <a:r>
              <a:rPr dirty="0"/>
              <a:t>buys you permission to move fast without seeming rushed.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Start </a:t>
            </a:r>
            <a:r>
              <a:rPr dirty="0" err="1"/>
              <a:t>sceptical</a:t>
            </a:r>
            <a:r>
              <a:rPr dirty="0"/>
              <a:t> on purpose. This audience has seen a lot of agent frameworks, and most of</a:t>
            </a:r>
          </a:p>
          <a:p>
            <a:r>
              <a:rPr dirty="0"/>
              <a:t>them are a thin wrapper over a while-loop. If you open with features, you lose them. Open</a:t>
            </a:r>
          </a:p>
          <a:p>
            <a:r>
              <a:rPr dirty="0"/>
              <a:t>with the failure modes they have personally hit.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Genuinely ask: "who here has written their own agent loop?" Most hands go up. Then: "who</a:t>
            </a:r>
          </a:p>
          <a:p>
            <a:r>
              <a:rPr dirty="0"/>
              <a:t>still maintains it?" Far fewer. That laugh is the argument for this whole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Draw the distinction hard: a completion is a pure function; an agent is a process with</a:t>
            </a:r>
          </a:p>
          <a:p>
            <a:r>
              <a:rPr dirty="0"/>
              <a:t>state. Once you have a process, you inherit every operational concern that processes have</a:t>
            </a:r>
          </a:p>
          <a:p>
            <a:r>
              <a:rPr dirty="0"/>
              <a:t>— lifecycle, observability, failure handling, resource limits.</a:t>
            </a:r>
          </a:p>
          <a:p>
            <a:endParaRPr dirty="0"/>
          </a:p>
          <a:p>
            <a:r>
              <a:rPr dirty="0"/>
              <a:t>[KEY POINT]</a:t>
            </a:r>
          </a:p>
          <a:p>
            <a:r>
              <a:rPr dirty="0"/>
              <a:t>The chips along the bottom are the real curriculum. Nobody needs a framework to write a</a:t>
            </a:r>
          </a:p>
          <a:p>
            <a:r>
              <a:rPr dirty="0"/>
              <a:t>while-loop around a tool call. People need a framework because item eight on that list</a:t>
            </a:r>
          </a:p>
          <a:p>
            <a:r>
              <a:rPr dirty="0"/>
              <a:t>arrives three weeks after the demo, and by then the loop has grown to 800 lines.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Pick one chip and tell a war story — "context limits" works well. Describe an agent that</a:t>
            </a:r>
          </a:p>
          <a:p>
            <a:r>
              <a:rPr dirty="0"/>
              <a:t>worked beautifully for six turns and then started silently dropping the system prompt.</a:t>
            </a:r>
          </a:p>
          <a:p>
            <a:r>
              <a:rPr dirty="0"/>
              <a:t>Concrete beats abstract here.</a:t>
            </a:r>
          </a:p>
          <a:p>
            <a:endParaRPr dirty="0"/>
          </a:p>
          <a:p>
            <a:r>
              <a:rPr dirty="0"/>
              <a:t>[TRANSITION]</a:t>
            </a:r>
          </a:p>
          <a:p>
            <a:r>
              <a:rPr dirty="0"/>
              <a:t>"So: what would you build if you had to solve all eight of those once, properly?"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Walk this list fast — it should feel like a slightly painful inventory rather than a</a:t>
            </a:r>
          </a:p>
          <a:p>
            <a:r>
              <a:rPr dirty="0"/>
              <a:t>lecture. The audience is checking off the ones they have personally written.</a:t>
            </a:r>
          </a:p>
          <a:p>
            <a:endParaRPr dirty="0"/>
          </a:p>
          <a:p>
            <a:r>
              <a:rPr dirty="0"/>
              <a:t>[KEY POINT]</a:t>
            </a:r>
          </a:p>
          <a:p>
            <a:r>
              <a:rPr dirty="0"/>
              <a:t>Land the callout: the case for a framework here is not capability, it is consistency.</a:t>
            </a:r>
          </a:p>
          <a:p>
            <a:r>
              <a:rPr dirty="0"/>
              <a:t>Eight teams hand-rolling eight tool loops is eight different retry semantics and eight</a:t>
            </a:r>
          </a:p>
          <a:p>
            <a:r>
              <a:rPr dirty="0"/>
              <a:t>different bugs in production.</a:t>
            </a:r>
          </a:p>
          <a:p>
            <a:endParaRPr dirty="0"/>
          </a:p>
          <a:p>
            <a:r>
              <a:rPr dirty="0"/>
              <a:t>[HONEST CAVEAT]</a:t>
            </a:r>
          </a:p>
          <a:p>
            <a:r>
              <a:rPr dirty="0"/>
              <a:t>Say out loud that if all you need is one prompt and one function call, you do not need</a:t>
            </a:r>
          </a:p>
          <a:p>
            <a:r>
              <a:rPr dirty="0"/>
              <a:t>this. Frameworks earn their keep at the second agent, the second provider, or the first</a:t>
            </a:r>
          </a:p>
          <a:p>
            <a:r>
              <a:rPr dirty="0"/>
              <a:t>compliance review. Being honest here buys credibility for the rest of the deck.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"Provider swaps" is the one architects react to. If the room skews architect, dwell there</a:t>
            </a:r>
          </a:p>
          <a:p>
            <a:r>
              <a:rPr dirty="0"/>
              <a:t>and mention that the same Agent code in this repo runs against OpenAI, Azure, Foundry,</a:t>
            </a:r>
          </a:p>
          <a:p>
            <a:r>
              <a:rPr dirty="0"/>
              <a:t>Bedrock, Gemini, </a:t>
            </a:r>
            <a:r>
              <a:rPr dirty="0" err="1"/>
              <a:t>Ollama</a:t>
            </a:r>
            <a:r>
              <a:rPr dirty="0"/>
              <a:t> and a local </a:t>
            </a:r>
            <a:r>
              <a:rPr dirty="0" err="1"/>
              <a:t>vLLM</a:t>
            </a:r>
            <a:r>
              <a:rPr dirty="0"/>
              <a:t>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The lineage matters because it explains the design. </a:t>
            </a:r>
            <a:r>
              <a:rPr dirty="0" err="1"/>
              <a:t>AutoGen</a:t>
            </a:r>
            <a:r>
              <a:rPr dirty="0"/>
              <a:t> brought the research-side</a:t>
            </a:r>
          </a:p>
          <a:p>
            <a:r>
              <a:rPr dirty="0"/>
              <a:t>ergonomics — spinning up multi-agent conversations in a few lines. Semantic Kernel brought</a:t>
            </a:r>
          </a:p>
          <a:p>
            <a:r>
              <a:rPr dirty="0"/>
              <a:t>the parts enterprises actually asked for — state management, telemetry, connectors, a</a:t>
            </a:r>
          </a:p>
          <a:p>
            <a:r>
              <a:rPr dirty="0"/>
              <a:t>plugin model. Agent Framework is the convergence, plus a real workflow engine.</a:t>
            </a:r>
          </a:p>
          <a:p>
            <a:endParaRPr dirty="0"/>
          </a:p>
          <a:p>
            <a:r>
              <a:rPr dirty="0"/>
              <a:t>[KEY POINT]</a:t>
            </a:r>
          </a:p>
          <a:p>
            <a:r>
              <a:rPr dirty="0"/>
              <a:t>If someone asks "is </a:t>
            </a:r>
            <a:r>
              <a:rPr dirty="0" err="1"/>
              <a:t>AutoGen</a:t>
            </a:r>
            <a:r>
              <a:rPr dirty="0"/>
              <a:t> dead / should I migrate off SK" — the honest framing is that</a:t>
            </a:r>
          </a:p>
          <a:p>
            <a:r>
              <a:rPr dirty="0"/>
              <a:t>this is the forward-looking line, both prior projects informed it, and migration guidance</a:t>
            </a:r>
          </a:p>
          <a:p>
            <a:r>
              <a:rPr dirty="0"/>
              <a:t>exists in the docs. Do not oversell a hard deprecation you cannot substantiate.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The right-hand column is what is genuinely new rather than merged. </a:t>
            </a:r>
            <a:r>
              <a:rPr dirty="0" err="1"/>
              <a:t>Emphasise</a:t>
            </a:r>
            <a:r>
              <a:rPr dirty="0"/>
              <a:t> open</a:t>
            </a:r>
          </a:p>
          <a:p>
            <a:r>
              <a:rPr dirty="0"/>
              <a:t>standards: MCP for tools, A2A for agent-to-agent, AG-UI for front ends, </a:t>
            </a:r>
            <a:r>
              <a:rPr dirty="0" err="1"/>
              <a:t>OpenTelemetry</a:t>
            </a:r>
            <a:r>
              <a:rPr dirty="0"/>
              <a:t> for</a:t>
            </a:r>
          </a:p>
          <a:p>
            <a:r>
              <a:rPr dirty="0"/>
              <a:t>traces. That is an unusually standards-forward posture and it is a real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Core is small and provider-agnostic on purpose. Everything vendor-specific lives in a</a:t>
            </a:r>
          </a:p>
          <a:p>
            <a:r>
              <a:rPr dirty="0"/>
              <a:t>sibling distribution. That is why `Agent` never mentions OpenAI — it takes a client.</a:t>
            </a:r>
          </a:p>
          <a:p>
            <a:endParaRPr dirty="0"/>
          </a:p>
          <a:p>
            <a:r>
              <a:rPr dirty="0"/>
              <a:t>[GOTCHA WORTH SAYING OUT LOUD]</a:t>
            </a:r>
          </a:p>
          <a:p>
            <a:r>
              <a:rPr dirty="0"/>
              <a:t>The same class is reachable two ways: `from </a:t>
            </a:r>
            <a:r>
              <a:rPr dirty="0" err="1"/>
              <a:t>agent_framework_openai</a:t>
            </a:r>
            <a:r>
              <a:rPr dirty="0"/>
              <a:t> import ...` and</a:t>
            </a:r>
          </a:p>
          <a:p>
            <a:r>
              <a:rPr dirty="0"/>
              <a:t>`from </a:t>
            </a:r>
            <a:r>
              <a:rPr dirty="0" err="1"/>
              <a:t>agent_framework.openai</a:t>
            </a:r>
            <a:r>
              <a:rPr dirty="0"/>
              <a:t> import ...`. Both work — namespace package plus per-provider</a:t>
            </a:r>
          </a:p>
          <a:p>
            <a:r>
              <a:rPr dirty="0"/>
              <a:t>distribution. The examples in this repo mix both, and that is not a bug. If you see it in</a:t>
            </a:r>
          </a:p>
          <a:p>
            <a:r>
              <a:rPr dirty="0"/>
              <a:t>review, do not "fix" it blindly.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If anyone asks about install size — yes, the meta-package is heavy. In production you pin</a:t>
            </a:r>
          </a:p>
          <a:p>
            <a:r>
              <a:rPr dirty="0"/>
              <a:t>the specific provider distributions you need. For a workshop, the meta-package means</a:t>
            </a:r>
          </a:p>
          <a:p>
            <a:r>
              <a:rPr dirty="0"/>
              <a:t>nobody gets blocked on a missing import halfway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This is the module that pays for the rest of the day. If people leave with the run</a:t>
            </a:r>
          </a:p>
          <a:p>
            <a:r>
              <a:rPr dirty="0"/>
              <a:t>lifecycle diagram in their heads, everything afterwards — tools, memory, middleware — is</a:t>
            </a:r>
          </a:p>
          <a:p>
            <a:r>
              <a:rPr dirty="0"/>
              <a:t>just "which hook does this hang off".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Slow down here. It is tempting to rush to the tool demo because that is the fun part, but</a:t>
            </a:r>
          </a:p>
          <a:p>
            <a:r>
              <a:rPr dirty="0"/>
              <a:t>a shaky mental model at module 2 means confused questions at module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Five nouns. Everything in the framework is one of these or a composition of them.</a:t>
            </a:r>
          </a:p>
          <a:p>
            <a:endParaRPr dirty="0"/>
          </a:p>
          <a:p>
            <a:r>
              <a:rPr dirty="0"/>
              <a:t>[KEY POINT]</a:t>
            </a:r>
          </a:p>
          <a:p>
            <a:r>
              <a:rPr dirty="0"/>
              <a:t>The callout is the design principle worth repeating. There is no `class </a:t>
            </a:r>
            <a:r>
              <a:rPr dirty="0" err="1"/>
              <a:t>MyAgent</a:t>
            </a:r>
            <a:r>
              <a:rPr dirty="0"/>
              <a:t>(Agent)` in</a:t>
            </a:r>
          </a:p>
          <a:p>
            <a:r>
              <a:rPr dirty="0"/>
              <a:t>idiomatic code. When someone asks "how do I </a:t>
            </a:r>
            <a:r>
              <a:rPr dirty="0" err="1"/>
              <a:t>customise</a:t>
            </a:r>
            <a:r>
              <a:rPr dirty="0"/>
              <a:t> X", the answer is almost always</a:t>
            </a:r>
          </a:p>
          <a:p>
            <a:r>
              <a:rPr dirty="0"/>
              <a:t>"pass something in", not "override something".</a:t>
            </a:r>
          </a:p>
          <a:p>
            <a:endParaRPr dirty="0"/>
          </a:p>
          <a:p>
            <a:r>
              <a:rPr dirty="0"/>
              <a:t>[ORDER MATTERS]</a:t>
            </a:r>
          </a:p>
          <a:p>
            <a:r>
              <a:rPr dirty="0"/>
              <a:t>Introduce them in dependency order: a client is useless alone, an agent needs a client, a</a:t>
            </a:r>
          </a:p>
          <a:p>
            <a:r>
              <a:rPr dirty="0"/>
              <a:t>session needs an agent, a context provider hangs off the agent and reads/writes session</a:t>
            </a:r>
          </a:p>
          <a:p>
            <a:r>
              <a:rPr dirty="0"/>
              <a:t>state. Tools are the only one that stands alone as plain Python.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Ask the room to predict which of the five is the one people misuse most. Answer: sessions</a:t>
            </a:r>
          </a:p>
          <a:p>
            <a:r>
              <a:rPr dirty="0"/>
              <a:t>— specifically, sharing one session across concurrent users. Flag it now, revisit in</a:t>
            </a:r>
          </a:p>
          <a:p>
            <a:r>
              <a:rPr dirty="0"/>
              <a:t>module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The point of this slide is one line of code. `client=` is the only place the provider</a:t>
            </a:r>
          </a:p>
          <a:p>
            <a:r>
              <a:rPr dirty="0"/>
              <a:t>appears. Everything downstream — tools, sessions, workflows, middleware — is written</a:t>
            </a:r>
          </a:p>
          <a:p>
            <a:r>
              <a:rPr dirty="0"/>
              <a:t>against the abstraction.</a:t>
            </a:r>
          </a:p>
          <a:p>
            <a:endParaRPr dirty="0"/>
          </a:p>
          <a:p>
            <a:r>
              <a:rPr dirty="0"/>
              <a:t>[THE GOTCHA — say this twice]</a:t>
            </a:r>
          </a:p>
          <a:p>
            <a:r>
              <a:rPr dirty="0"/>
              <a:t>`</a:t>
            </a:r>
            <a:r>
              <a:rPr dirty="0" err="1"/>
              <a:t>OpenAIChatCompletionClient</a:t>
            </a:r>
            <a:r>
              <a:rPr dirty="0"/>
              <a:t>` and `</a:t>
            </a:r>
            <a:r>
              <a:rPr dirty="0" err="1"/>
              <a:t>OpenAIChatClient</a:t>
            </a:r>
            <a:r>
              <a:rPr dirty="0"/>
              <a:t>` are different clients for different</a:t>
            </a:r>
          </a:p>
          <a:p>
            <a:r>
              <a:rPr dirty="0"/>
              <a:t>OpenAI APIs. The workshop runs against a local </a:t>
            </a:r>
            <a:r>
              <a:rPr dirty="0" err="1"/>
              <a:t>vLLM</a:t>
            </a:r>
            <a:r>
              <a:rPr dirty="0"/>
              <a:t> server, which serves Chat Completions</a:t>
            </a:r>
          </a:p>
          <a:p>
            <a:r>
              <a:rPr dirty="0"/>
              <a:t>only. Every example here uses the </a:t>
            </a:r>
            <a:r>
              <a:rPr dirty="0" err="1"/>
              <a:t>ChatCompletion</a:t>
            </a:r>
            <a:r>
              <a:rPr dirty="0"/>
              <a:t> variant deliberately.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This is the single highest-value troubleshooting fact in the deck. When someone's laptop</a:t>
            </a:r>
          </a:p>
          <a:p>
            <a:r>
              <a:rPr dirty="0"/>
              <a:t>throws a 404 in twenty minutes, it is this. Consider writing it on a whiteboard and</a:t>
            </a:r>
          </a:p>
          <a:p>
            <a:r>
              <a:rPr dirty="0"/>
              <a:t>leaving it up.</a:t>
            </a:r>
          </a:p>
          <a:p>
            <a:endParaRPr dirty="0"/>
          </a:p>
          <a:p>
            <a:r>
              <a:rPr dirty="0"/>
              <a:t>[ARCHITECT ANGLE]</a:t>
            </a:r>
          </a:p>
          <a:p>
            <a:r>
              <a:rPr dirty="0"/>
              <a:t>Provider-neutrality is not just portability theatre — it is how you run cheap local models</a:t>
            </a:r>
          </a:p>
          <a:p>
            <a:r>
              <a:rPr dirty="0"/>
              <a:t>in CI and a frontier model in production without branching your agent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Seventeen lines, and four of them are imports. Point out that there is no client</a:t>
            </a:r>
          </a:p>
          <a:p>
            <a:r>
              <a:rPr dirty="0"/>
              <a:t>configuration in sight — base URL, key and model all come from the environment via</a:t>
            </a:r>
          </a:p>
          <a:p>
            <a:r>
              <a:rPr dirty="0"/>
              <a:t>`</a:t>
            </a:r>
            <a:r>
              <a:rPr dirty="0" err="1"/>
              <a:t>load_dotenv</a:t>
            </a:r>
            <a:r>
              <a:rPr dirty="0"/>
              <a:t>()`.</a:t>
            </a:r>
          </a:p>
          <a:p>
            <a:endParaRPr dirty="0"/>
          </a:p>
          <a:p>
            <a:r>
              <a:rPr dirty="0"/>
              <a:t>[WALK THE CODE]</a:t>
            </a:r>
          </a:p>
          <a:p>
            <a:r>
              <a:rPr dirty="0"/>
              <a:t>Agent takes a client, a name, and instructions. `name` matters more than it looks: it</a:t>
            </a:r>
          </a:p>
          <a:p>
            <a:r>
              <a:rPr dirty="0"/>
              <a:t>shows up in traces, in multi-agent transcripts as `</a:t>
            </a:r>
            <a:r>
              <a:rPr dirty="0" err="1"/>
              <a:t>author_name</a:t>
            </a:r>
            <a:r>
              <a:rPr dirty="0"/>
              <a:t>`, and in </a:t>
            </a:r>
            <a:r>
              <a:rPr dirty="0" err="1"/>
              <a:t>DevUI</a:t>
            </a:r>
            <a:r>
              <a:rPr dirty="0"/>
              <a:t>. Give agents</a:t>
            </a:r>
          </a:p>
          <a:p>
            <a:r>
              <a:rPr dirty="0"/>
              <a:t>real names, not "agent1".</a:t>
            </a:r>
          </a:p>
          <a:p>
            <a:endParaRPr dirty="0"/>
          </a:p>
          <a:p>
            <a:r>
              <a:rPr dirty="0"/>
              <a:t>[KEY POINT]</a:t>
            </a:r>
          </a:p>
          <a:p>
            <a:r>
              <a:rPr dirty="0"/>
              <a:t>`instructions` is not the user prompt. It is applied to every run in the session. A common</a:t>
            </a:r>
          </a:p>
          <a:p>
            <a:r>
              <a:rPr dirty="0"/>
              <a:t>beginner bug is stuffing per-request context into instructions instead of into the message</a:t>
            </a:r>
          </a:p>
          <a:p>
            <a:r>
              <a:rPr dirty="0"/>
              <a:t>or a context provider.</a:t>
            </a:r>
          </a:p>
          <a:p>
            <a:endParaRPr dirty="0"/>
          </a:p>
          <a:p>
            <a:r>
              <a:rPr dirty="0"/>
              <a:t>[DEMO CUE]</a:t>
            </a:r>
          </a:p>
          <a:p>
            <a:r>
              <a:rPr dirty="0" err="1"/>
              <a:t>uv</a:t>
            </a:r>
            <a:r>
              <a:rPr dirty="0"/>
              <a:t> run python examples/01_hello_agent.py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Run it twice — once as written, once after changing instructions to something absurd like</a:t>
            </a:r>
          </a:p>
          <a:p>
            <a:r>
              <a:rPr dirty="0"/>
              <a:t>"answer only in haiku". Nothing lands the instructions/prompt distinction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This is the slide to draw on a whiteboard rather than read. Four rings around one model</a:t>
            </a:r>
          </a:p>
          <a:p>
            <a:r>
              <a:rPr dirty="0"/>
              <a:t>call.</a:t>
            </a:r>
          </a:p>
          <a:p>
            <a:endParaRPr dirty="0"/>
          </a:p>
          <a:p>
            <a:r>
              <a:rPr dirty="0"/>
              <a:t>[WALK IT]</a:t>
            </a:r>
          </a:p>
          <a:p>
            <a:r>
              <a:rPr dirty="0"/>
              <a:t>1. You call </a:t>
            </a:r>
            <a:r>
              <a:rPr dirty="0" err="1"/>
              <a:t>agent.run</a:t>
            </a:r>
            <a:r>
              <a:rPr dirty="0"/>
              <a:t>(). 2. Every registered context provider gets </a:t>
            </a:r>
            <a:r>
              <a:rPr dirty="0" err="1"/>
              <a:t>before_run</a:t>
            </a:r>
            <a:r>
              <a:rPr dirty="0"/>
              <a:t> — this is</a:t>
            </a:r>
          </a:p>
          <a:p>
            <a:r>
              <a:rPr dirty="0"/>
              <a:t>where memory injects "the user's name is Alice" into the instructions. 3. Agent middleware</a:t>
            </a:r>
          </a:p>
          <a:p>
            <a:r>
              <a:rPr dirty="0"/>
              <a:t>wraps the whole invocation and can short-circuit it entirely. 4. The model responds — and</a:t>
            </a:r>
          </a:p>
          <a:p>
            <a:r>
              <a:rPr dirty="0"/>
              <a:t>if it asks for a tool, function middleware wraps that call, the tool runs, the result goes</a:t>
            </a:r>
          </a:p>
          <a:p>
            <a:r>
              <a:rPr dirty="0"/>
              <a:t>back, and the model gets another turn. That inner loop repeats. 5. </a:t>
            </a:r>
            <a:r>
              <a:rPr dirty="0" err="1"/>
              <a:t>after_run</a:t>
            </a:r>
            <a:r>
              <a:rPr dirty="0"/>
              <a:t> fires so</a:t>
            </a:r>
          </a:p>
          <a:p>
            <a:r>
              <a:rPr dirty="0"/>
              <a:t>providers can persist anything they learned.</a:t>
            </a:r>
          </a:p>
          <a:p>
            <a:endParaRPr dirty="0"/>
          </a:p>
          <a:p>
            <a:r>
              <a:rPr dirty="0"/>
              <a:t>[KEY POINT]</a:t>
            </a:r>
          </a:p>
          <a:p>
            <a:r>
              <a:rPr dirty="0"/>
              <a:t>The tool loop is inside the middleware, not outside it. That is why one agent middleware</a:t>
            </a:r>
          </a:p>
          <a:p>
            <a:r>
              <a:rPr dirty="0"/>
              <a:t>sees the whole multi-turn tool exchange as a single unit, while function middleware fires</a:t>
            </a:r>
          </a:p>
          <a:p>
            <a:r>
              <a:rPr dirty="0"/>
              <a:t>per tool call. People get this backwards constantly.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Ask: "where would you put a token budget check?" Good answers differ — agent middleware</a:t>
            </a:r>
          </a:p>
          <a:p>
            <a:r>
              <a:rPr dirty="0"/>
              <a:t>for a per-request cap, function middleware for a per-tool cap. Let the room argue for</a:t>
            </a:r>
          </a:p>
          <a:p>
            <a:r>
              <a:rPr dirty="0"/>
              <a:t>thirty seconds; it proves they have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Same `run` method either way — `stream=True` flips it from </a:t>
            </a:r>
            <a:r>
              <a:rPr dirty="0" err="1"/>
              <a:t>awaitable</a:t>
            </a:r>
            <a:r>
              <a:rPr dirty="0"/>
              <a:t> to async iterator.</a:t>
            </a:r>
          </a:p>
          <a:p>
            <a:r>
              <a:rPr dirty="0"/>
              <a:t>That symmetry is deliberate and it means you can develop non-streaming and ship streaming</a:t>
            </a:r>
          </a:p>
          <a:p>
            <a:r>
              <a:rPr dirty="0"/>
              <a:t>without restructuring.</a:t>
            </a:r>
          </a:p>
          <a:p>
            <a:endParaRPr dirty="0"/>
          </a:p>
          <a:p>
            <a:r>
              <a:rPr dirty="0"/>
              <a:t>[WATCH FOR]</a:t>
            </a:r>
          </a:p>
          <a:p>
            <a:r>
              <a:rPr dirty="0"/>
              <a:t>`if </a:t>
            </a:r>
            <a:r>
              <a:rPr dirty="0" err="1"/>
              <a:t>chunk.text</a:t>
            </a:r>
            <a:r>
              <a:rPr dirty="0"/>
              <a:t>:` is not defensive noise. Streaming updates carry more than text — tool call</a:t>
            </a:r>
          </a:p>
          <a:p>
            <a:r>
              <a:rPr dirty="0"/>
              <a:t>deltas, usage, annotations. Iterating naively and printing `chunk` prints objects.</a:t>
            </a:r>
          </a:p>
          <a:p>
            <a:endParaRPr dirty="0"/>
          </a:p>
          <a:p>
            <a:r>
              <a:rPr dirty="0"/>
              <a:t>[REPO SPECIFIC]</a:t>
            </a:r>
          </a:p>
          <a:p>
            <a:r>
              <a:rPr dirty="0"/>
              <a:t>Examples here pass `</a:t>
            </a:r>
            <a:r>
              <a:rPr dirty="0" err="1"/>
              <a:t>max_tokens</a:t>
            </a:r>
            <a:r>
              <a:rPr dirty="0"/>
              <a:t>` explicitly because the local </a:t>
            </a:r>
            <a:r>
              <a:rPr dirty="0" err="1"/>
              <a:t>vLLM</a:t>
            </a:r>
            <a:r>
              <a:rPr dirty="0"/>
              <a:t> server runs with</a:t>
            </a:r>
          </a:p>
          <a:p>
            <a:r>
              <a:rPr dirty="0"/>
              <a:t>`--max-model-</a:t>
            </a:r>
            <a:r>
              <a:rPr dirty="0" err="1"/>
              <a:t>len</a:t>
            </a:r>
            <a:r>
              <a:rPr dirty="0"/>
              <a:t>=8192`. On a hosted frontier model you would usually leave it off. Mention</a:t>
            </a:r>
          </a:p>
          <a:p>
            <a:r>
              <a:rPr dirty="0"/>
              <a:t>that `</a:t>
            </a:r>
            <a:r>
              <a:rPr dirty="0" err="1"/>
              <a:t>default_options</a:t>
            </a:r>
            <a:r>
              <a:rPr dirty="0"/>
              <a:t>={"</a:t>
            </a:r>
            <a:r>
              <a:rPr dirty="0" err="1"/>
              <a:t>max_tokens</a:t>
            </a:r>
            <a:r>
              <a:rPr dirty="0"/>
              <a:t>": 500}` on the Agent sets a baseline for every call —</a:t>
            </a:r>
          </a:p>
          <a:p>
            <a:r>
              <a:rPr dirty="0"/>
              <a:t>see examples/08.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If the room is UI-oriented, note that streaming plus AG-UI (module 8) is how you get a</a:t>
            </a:r>
          </a:p>
          <a:p>
            <a:r>
              <a:rPr dirty="0"/>
              <a:t>token-by-token chat front end with no bespoke transport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[SETUP]</a:t>
            </a:r>
          </a:p>
          <a:p>
            <a:r>
              <a:rPr dirty="0" err="1"/>
              <a:t>vLLM</a:t>
            </a:r>
            <a:r>
              <a:rPr dirty="0"/>
              <a:t> must already be serving on localhost:8000 before this slide. First run downloads</a:t>
            </a:r>
          </a:p>
          <a:p>
            <a:r>
              <a:rPr dirty="0"/>
              <a:t>Qwen3.5-4B weights — do not do that live.</a:t>
            </a:r>
          </a:p>
          <a:p>
            <a:endParaRPr dirty="0"/>
          </a:p>
          <a:p>
            <a:r>
              <a:rPr dirty="0"/>
              <a:t>[DEMO SCRIPT]</a:t>
            </a:r>
          </a:p>
          <a:p>
            <a:r>
              <a:rPr dirty="0"/>
              <a:t>1. Show the file (17 lines). 2. Run it. 3. Point at the three outputs and map each to the</a:t>
            </a:r>
          </a:p>
          <a:p>
            <a:r>
              <a:rPr dirty="0"/>
              <a:t>code. 4. Change instructions to "answer only in haiku", re-run, get a laugh, move on.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Keep your terminal font large — 18pt minimum. And pre-clear </a:t>
            </a:r>
            <a:r>
              <a:rPr dirty="0" err="1"/>
              <a:t>scrollback</a:t>
            </a:r>
            <a:r>
              <a:rPr dirty="0"/>
              <a:t>; a wall of </a:t>
            </a:r>
            <a:r>
              <a:rPr dirty="0" err="1"/>
              <a:t>vLLM</a:t>
            </a:r>
            <a:endParaRPr dirty="0"/>
          </a:p>
          <a:p>
            <a:r>
              <a:rPr dirty="0"/>
              <a:t>debug logging above your output kills the moment.</a:t>
            </a:r>
          </a:p>
          <a:p>
            <a:endParaRPr dirty="0"/>
          </a:p>
          <a:p>
            <a:r>
              <a:rPr dirty="0"/>
              <a:t>[COMMON FAILURE]</a:t>
            </a:r>
          </a:p>
          <a:p>
            <a:r>
              <a:rPr dirty="0"/>
              <a:t>404 from the client almost always means OPENAI_BASE_URL is unset or you are on</a:t>
            </a:r>
          </a:p>
          <a:p>
            <a:r>
              <a:rPr dirty="0" err="1"/>
              <a:t>OpenAIChatClient</a:t>
            </a:r>
            <a:r>
              <a:rPr dirty="0"/>
              <a:t> instead of </a:t>
            </a:r>
            <a:r>
              <a:rPr dirty="0" err="1"/>
              <a:t>OpenAIChatCompletionClient</a:t>
            </a:r>
            <a:r>
              <a:rPr dirty="0"/>
              <a:t>. Have .env open in a tab.</a:t>
            </a:r>
          </a:p>
          <a:p>
            <a:endParaRPr dirty="0"/>
          </a:p>
          <a:p>
            <a:r>
              <a:rPr dirty="0"/>
              <a:t>[TIMING]</a:t>
            </a:r>
          </a:p>
          <a:p>
            <a:r>
              <a:rPr dirty="0"/>
              <a:t>Three minutes. Do not let this one sprawl — the interesting demos 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Tools are where an agent stops being a chatbot. Everything before this was text in, text</a:t>
            </a:r>
          </a:p>
          <a:p>
            <a:r>
              <a:rPr dirty="0"/>
              <a:t>out. From here the model can cause effects — which is exactly why the approval slide at</a:t>
            </a:r>
          </a:p>
          <a:p>
            <a:r>
              <a:rPr dirty="0"/>
              <a:t>the end of this module matters more than the syntax at the start.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This module always overruns because it is the most immediately useful. Watch the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The decorator does one job: it turns a Python signature into a JSON Schema the model can</a:t>
            </a:r>
          </a:p>
          <a:p>
            <a:r>
              <a:rPr dirty="0"/>
              <a:t>be trained on. Name, docstring, type hints and Field descriptions are all inputs to that</a:t>
            </a:r>
          </a:p>
          <a:p>
            <a:r>
              <a:rPr dirty="0"/>
              <a:t>schema.</a:t>
            </a:r>
          </a:p>
          <a:p>
            <a:endParaRPr dirty="0"/>
          </a:p>
          <a:p>
            <a:r>
              <a:rPr dirty="0"/>
              <a:t>[KEY POINT — the docstring]</a:t>
            </a:r>
          </a:p>
          <a:p>
            <a:r>
              <a:rPr dirty="0"/>
              <a:t>Say this plainly: your docstring is prompt engineering. It is the highest-leverage text in</a:t>
            </a:r>
          </a:p>
          <a:p>
            <a:r>
              <a:rPr dirty="0"/>
              <a:t>the whole agent, and it is the one most teams write last and worst.</a:t>
            </a:r>
          </a:p>
          <a:p>
            <a:endParaRPr dirty="0"/>
          </a:p>
          <a:p>
            <a:r>
              <a:rPr dirty="0"/>
              <a:t>[PRACTICAL ADVICE]</a:t>
            </a:r>
          </a:p>
          <a:p>
            <a:r>
              <a:rPr dirty="0"/>
              <a:t>Return errors as strings, not exceptions, when you want the model to recover — "no city</a:t>
            </a:r>
          </a:p>
          <a:p>
            <a:r>
              <a:rPr dirty="0"/>
              <a:t>found named </a:t>
            </a:r>
            <a:r>
              <a:rPr dirty="0" err="1"/>
              <a:t>Xyz</a:t>
            </a:r>
            <a:r>
              <a:rPr dirty="0"/>
              <a:t>, try a fuller name" gives the model something to do. Raise when you want</a:t>
            </a:r>
          </a:p>
          <a:p>
            <a:r>
              <a:rPr dirty="0"/>
              <a:t>the run to fail loudly.</a:t>
            </a:r>
          </a:p>
          <a:p>
            <a:endParaRPr dirty="0"/>
          </a:p>
          <a:p>
            <a:r>
              <a:rPr dirty="0"/>
              <a:t>[UNITS]</a:t>
            </a:r>
          </a:p>
          <a:p>
            <a:r>
              <a:rPr dirty="0"/>
              <a:t>Tell the war story about units. A tool that returns "24" versus "24C" versus "the high is</a:t>
            </a:r>
          </a:p>
          <a:p>
            <a:r>
              <a:rPr dirty="0"/>
              <a:t>24 degrees Celsius" produces measurably different downstream </a:t>
            </a:r>
            <a:r>
              <a:rPr dirty="0" err="1"/>
              <a:t>behaviour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Ask the room to critique a deliberately bad docstring — "gets data" — before you show the</a:t>
            </a:r>
          </a:p>
          <a:p>
            <a:r>
              <a:rPr dirty="0"/>
              <a:t>good one. Participation here wakes people up mid-session.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 err="1"/>
              <a:t>Emphasise</a:t>
            </a:r>
            <a:r>
              <a:rPr dirty="0"/>
              <a:t> that step 1 is structured output, not text parsing. The model emits a tool call</a:t>
            </a:r>
          </a:p>
          <a:p>
            <a:r>
              <a:rPr dirty="0"/>
              <a:t>with JSON arguments; the framework validates against the schema before your function ever</a:t>
            </a:r>
          </a:p>
          <a:p>
            <a:r>
              <a:rPr dirty="0"/>
              <a:t>sees it. That validation boundary is one of the quiet wins over hand-rolled loops.</a:t>
            </a:r>
          </a:p>
          <a:p>
            <a:endParaRPr dirty="0"/>
          </a:p>
          <a:p>
            <a:r>
              <a:rPr dirty="0"/>
              <a:t>[KEY POINT]</a:t>
            </a:r>
          </a:p>
          <a:p>
            <a:r>
              <a:rPr dirty="0"/>
              <a:t>Step 4 is the recursion. The loop terminates when the model stops asking for tools — which</a:t>
            </a:r>
          </a:p>
          <a:p>
            <a:r>
              <a:rPr dirty="0"/>
              <a:t>means termination is a model decision unless you impose limits. Hence the red panel.</a:t>
            </a:r>
          </a:p>
          <a:p>
            <a:endParaRPr dirty="0"/>
          </a:p>
          <a:p>
            <a:r>
              <a:rPr dirty="0"/>
              <a:t>[WAR STORY]</a:t>
            </a:r>
          </a:p>
          <a:p>
            <a:r>
              <a:rPr dirty="0"/>
              <a:t>Describe a retrieval tool that returned "no results found", the model rephrased and called</a:t>
            </a:r>
          </a:p>
          <a:p>
            <a:r>
              <a:rPr dirty="0"/>
              <a:t>again, and again — forty times, until the context window filled. Fix was a call budget</a:t>
            </a:r>
          </a:p>
          <a:p>
            <a:r>
              <a:rPr dirty="0"/>
              <a:t>plus a tool that said "no results; do not retry with a synonym".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If you have time, ask what happens when two tool calls come back in one response. Answer:</a:t>
            </a:r>
          </a:p>
          <a:p>
            <a:r>
              <a:rPr dirty="0"/>
              <a:t>they can be dispatched in parallel — which is why your tools should be safe to run</a:t>
            </a:r>
          </a:p>
          <a:p>
            <a:r>
              <a:rPr dirty="0"/>
              <a:t>concurrently and ideally idempotent.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This is example 02 essentially verbatim. Note that `tools=` accepts a list or a bare tool —</a:t>
            </a:r>
          </a:p>
          <a:p>
            <a:r>
              <a:rPr dirty="0"/>
              <a:t>example 16 passes `tools=</a:t>
            </a:r>
            <a:r>
              <a:rPr dirty="0" err="1"/>
              <a:t>get_weather</a:t>
            </a:r>
            <a:r>
              <a:rPr dirty="0"/>
              <a:t>` with no list, and that is fine.</a:t>
            </a:r>
          </a:p>
          <a:p>
            <a:endParaRPr dirty="0"/>
          </a:p>
          <a:p>
            <a:r>
              <a:rPr dirty="0"/>
              <a:t>[SUBTLE POINT]</a:t>
            </a:r>
          </a:p>
          <a:p>
            <a:r>
              <a:rPr dirty="0"/>
              <a:t>You do not strictly need the `@tool` decorator — a plain typed function with a docstring</a:t>
            </a:r>
          </a:p>
          <a:p>
            <a:r>
              <a:rPr dirty="0"/>
              <a:t>works (see </a:t>
            </a:r>
            <a:r>
              <a:rPr dirty="0" err="1"/>
              <a:t>dev_ui</a:t>
            </a:r>
            <a:r>
              <a:rPr dirty="0"/>
              <a:t>/</a:t>
            </a:r>
            <a:r>
              <a:rPr dirty="0" err="1"/>
              <a:t>agent.py</a:t>
            </a:r>
            <a:r>
              <a:rPr dirty="0"/>
              <a:t>). You reach for the decorator when you want to control approval</a:t>
            </a:r>
          </a:p>
          <a:p>
            <a:r>
              <a:rPr dirty="0" err="1"/>
              <a:t>behaviour</a:t>
            </a:r>
            <a:r>
              <a:rPr dirty="0"/>
              <a:t> or other tool-level settings.</a:t>
            </a:r>
          </a:p>
          <a:p>
            <a:endParaRPr dirty="0"/>
          </a:p>
          <a:p>
            <a:r>
              <a:rPr dirty="0"/>
              <a:t>[MODEL BEHAVIOUR]</a:t>
            </a:r>
          </a:p>
          <a:p>
            <a:r>
              <a:rPr dirty="0"/>
              <a:t>With a small local model, tool selection is less reliable than with a frontier model. That</a:t>
            </a:r>
          </a:p>
          <a:p>
            <a:r>
              <a:rPr dirty="0"/>
              <a:t>is why the instructions here explicitly say "Use </a:t>
            </a:r>
            <a:r>
              <a:rPr dirty="0" err="1"/>
              <a:t>get_weather</a:t>
            </a:r>
            <a:r>
              <a:rPr dirty="0"/>
              <a:t> to answer". Mention that this</a:t>
            </a:r>
          </a:p>
          <a:p>
            <a:r>
              <a:rPr dirty="0"/>
              <a:t>is a real production technique for cheap models, not a workshop hack.</a:t>
            </a:r>
          </a:p>
          <a:p>
            <a:endParaRPr dirty="0"/>
          </a:p>
          <a:p>
            <a:r>
              <a:rPr dirty="0"/>
              <a:t>[DEMO CUE]</a:t>
            </a:r>
          </a:p>
          <a:p>
            <a:r>
              <a:rPr dirty="0" err="1"/>
              <a:t>uv</a:t>
            </a:r>
            <a:r>
              <a:rPr dirty="0"/>
              <a:t> run python examples/02_add_tools.py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Ask it about a city, then ask something unrelated — "what is 2+2" — and show that the model</a:t>
            </a:r>
          </a:p>
          <a:p>
            <a:r>
              <a:rPr dirty="0"/>
              <a:t>does not call the tool. Demonstrating restraint is more convincing than demonstrating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[DEMO SCRIPT]</a:t>
            </a:r>
          </a:p>
          <a:p>
            <a:r>
              <a:rPr dirty="0"/>
              <a:t>The docstring vandalism is the memorable one. Change the docstring to "gets data", re-run,</a:t>
            </a:r>
          </a:p>
          <a:p>
            <a:r>
              <a:rPr dirty="0"/>
              <a:t>and the small local model will often stop calling the tool or call it with a nonsense</a:t>
            </a:r>
          </a:p>
          <a:p>
            <a:r>
              <a:rPr dirty="0"/>
              <a:t>argument. Restore it and it works again. That is the whole "docstring is an API" lesson in</a:t>
            </a:r>
          </a:p>
          <a:p>
            <a:r>
              <a:rPr dirty="0"/>
              <a:t>forty seconds.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Have the edit ready in a second editor tab so you are not typing under pressure. Use git</a:t>
            </a:r>
          </a:p>
          <a:p>
            <a:r>
              <a:rPr dirty="0"/>
              <a:t>to restore: `git checkout examples/02_add_tools.py`.</a:t>
            </a:r>
          </a:p>
          <a:p>
            <a:endParaRPr dirty="0"/>
          </a:p>
          <a:p>
            <a:r>
              <a:rPr dirty="0"/>
              <a:t>[IF ASKED ABOUT PARALLEL CALLS]</a:t>
            </a:r>
          </a:p>
          <a:p>
            <a:r>
              <a:rPr dirty="0"/>
              <a:t>Two-city prompts sometimes yield two tool calls in one response, sometimes sequential ones</a:t>
            </a:r>
          </a:p>
          <a:p>
            <a:r>
              <a:rPr dirty="0"/>
              <a:t>— depends on the model. Do not promise a specific </a:t>
            </a:r>
            <a:r>
              <a:rPr dirty="0" err="1"/>
              <a:t>behaviour</a:t>
            </a:r>
            <a:r>
              <a:rPr dirty="0"/>
              <a:t> live.</a:t>
            </a:r>
          </a:p>
          <a:p>
            <a:endParaRPr dirty="0"/>
          </a:p>
          <a:p>
            <a:r>
              <a:rPr dirty="0"/>
              <a:t>[TIMING]</a:t>
            </a:r>
          </a:p>
          <a:p>
            <a:r>
              <a:rPr dirty="0"/>
              <a:t>Four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Memory is where most agent projects quietly go wrong. Not because it is conceptually hard,</a:t>
            </a:r>
          </a:p>
          <a:p>
            <a:r>
              <a:rPr dirty="0"/>
              <a:t>but because "just append to the message list" works perfectly until turn thirty, and then</a:t>
            </a:r>
          </a:p>
          <a:p>
            <a:r>
              <a:rPr dirty="0"/>
              <a:t>it fails as a cost problem and a quality problem simultaneously.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Ask how many people have hit a context-length error in production. Then ask how many</a:t>
            </a:r>
          </a:p>
          <a:p>
            <a:r>
              <a:rPr dirty="0"/>
              <a:t>solved it by truncating the oldest messages. Then ask how that went.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Three horizons, three different mechanisms, and the mistake is using one for another's job.</a:t>
            </a:r>
          </a:p>
          <a:p>
            <a:endParaRPr dirty="0"/>
          </a:p>
          <a:p>
            <a:r>
              <a:rPr dirty="0"/>
              <a:t>[THE TURN]</a:t>
            </a:r>
          </a:p>
          <a:p>
            <a:r>
              <a:rPr dirty="0"/>
              <a:t>The message list. Cheap, explicit, gone afterwards. Anything you can recompute belongs</a:t>
            </a:r>
          </a:p>
          <a:p>
            <a:r>
              <a:rPr dirty="0"/>
              <a:t>here, not in memory.</a:t>
            </a:r>
          </a:p>
          <a:p>
            <a:endParaRPr dirty="0"/>
          </a:p>
          <a:p>
            <a:r>
              <a:rPr dirty="0"/>
              <a:t>[THE SESSION]</a:t>
            </a:r>
          </a:p>
          <a:p>
            <a:r>
              <a:rPr dirty="0"/>
              <a:t>`</a:t>
            </a:r>
            <a:r>
              <a:rPr dirty="0" err="1"/>
              <a:t>agent.create_session</a:t>
            </a:r>
            <a:r>
              <a:rPr dirty="0"/>
              <a:t>()` returns a handle you pass to every run. It carries history plus a</a:t>
            </a:r>
          </a:p>
          <a:p>
            <a:r>
              <a:rPr dirty="0"/>
              <a:t>state </a:t>
            </a:r>
            <a:r>
              <a:rPr dirty="0" err="1"/>
              <a:t>dict</a:t>
            </a:r>
            <a:r>
              <a:rPr dirty="0"/>
              <a:t> that context providers read and write. In-memory by default — which is fine for</a:t>
            </a:r>
          </a:p>
          <a:p>
            <a:r>
              <a:rPr dirty="0"/>
              <a:t>a CLI and wrong for a web service.</a:t>
            </a:r>
          </a:p>
          <a:p>
            <a:endParaRPr dirty="0"/>
          </a:p>
          <a:p>
            <a:r>
              <a:rPr dirty="0"/>
              <a:t>[BEYOND]</a:t>
            </a:r>
          </a:p>
          <a:p>
            <a:r>
              <a:rPr dirty="0"/>
              <a:t>This is where retrieval lives. A context provider that queries Redis, mem0, Cosmos or</a:t>
            </a:r>
          </a:p>
          <a:p>
            <a:r>
              <a:rPr dirty="0"/>
              <a:t>Azure AI Search and injects the top few facts into the instructions for this run.</a:t>
            </a:r>
          </a:p>
          <a:p>
            <a:endParaRPr dirty="0"/>
          </a:p>
          <a:p>
            <a:r>
              <a:rPr dirty="0"/>
              <a:t>[KEY POINT]</a:t>
            </a:r>
          </a:p>
          <a:p>
            <a:r>
              <a:rPr dirty="0"/>
              <a:t>Sessions are not a database. If your process restarts, an in-memory session is gone. For</a:t>
            </a:r>
          </a:p>
          <a:p>
            <a:r>
              <a:rPr dirty="0"/>
              <a:t>anything user-facing, back it with a real history provider — module 8 revisits this.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The three-bar visual maps to cost. Longer horizon, more retrieval, more tokens. Every</a:t>
            </a:r>
          </a:p>
          <a:p>
            <a:r>
              <a:rPr dirty="0"/>
              <a:t>memory decision is a cost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Deliberately unremarkable code — that is the point. The session is a parameter, not a</a:t>
            </a:r>
          </a:p>
          <a:p>
            <a:r>
              <a:rPr dirty="0"/>
              <a:t>global, not an ambient context.</a:t>
            </a:r>
          </a:p>
          <a:p>
            <a:endParaRPr dirty="0"/>
          </a:p>
          <a:p>
            <a:r>
              <a:rPr dirty="0"/>
              <a:t>[KEY POINT — the production bug]</a:t>
            </a:r>
          </a:p>
          <a:p>
            <a:r>
              <a:rPr dirty="0"/>
              <a:t>"One session per conversation." The failure mode is a service that creates the agent at</a:t>
            </a:r>
          </a:p>
          <a:p>
            <a:r>
              <a:rPr dirty="0"/>
              <a:t>module scope, creates one session next to it, and serves every user from it. Everyone sees</a:t>
            </a:r>
          </a:p>
          <a:p>
            <a:r>
              <a:rPr dirty="0"/>
              <a:t>everyone's history. It passes local testing perfectly because you are one user.</a:t>
            </a:r>
          </a:p>
          <a:p>
            <a:endParaRPr dirty="0"/>
          </a:p>
          <a:p>
            <a:r>
              <a:rPr dirty="0"/>
              <a:t>[STATELESSNESS]</a:t>
            </a:r>
          </a:p>
          <a:p>
            <a:r>
              <a:rPr dirty="0"/>
              <a:t>Omitting `session=` is a legitimate design choice, not an oversight. Classification,</a:t>
            </a:r>
          </a:p>
          <a:p>
            <a:r>
              <a:rPr dirty="0"/>
              <a:t>extraction and </a:t>
            </a:r>
            <a:r>
              <a:rPr dirty="0" err="1"/>
              <a:t>summarisation</a:t>
            </a:r>
            <a:r>
              <a:rPr dirty="0"/>
              <a:t> endpoints should usually be stateless — cheaper, more</a:t>
            </a:r>
          </a:p>
          <a:p>
            <a:r>
              <a:rPr dirty="0"/>
              <a:t>predictable, trivially parallel.</a:t>
            </a:r>
          </a:p>
          <a:p>
            <a:endParaRPr dirty="0"/>
          </a:p>
          <a:p>
            <a:r>
              <a:rPr dirty="0"/>
              <a:t>[DEMO CUE]</a:t>
            </a:r>
          </a:p>
          <a:p>
            <a:r>
              <a:rPr dirty="0" err="1"/>
              <a:t>uv</a:t>
            </a:r>
            <a:r>
              <a:rPr dirty="0"/>
              <a:t> run python examples/03_multi_turn.py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Run it, then comment out `session=session` on the second call and run again. The agent no</a:t>
            </a:r>
          </a:p>
          <a:p>
            <a:r>
              <a:rPr dirty="0"/>
              <a:t>longer knows Alice. Ten seconds, perfectly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Two hooks. </a:t>
            </a:r>
            <a:r>
              <a:rPr dirty="0" err="1"/>
              <a:t>before_run</a:t>
            </a:r>
            <a:r>
              <a:rPr dirty="0"/>
              <a:t> injects, </a:t>
            </a:r>
            <a:r>
              <a:rPr dirty="0" err="1"/>
              <a:t>after_run</a:t>
            </a:r>
            <a:r>
              <a:rPr dirty="0"/>
              <a:t> captures. That is the entire contract.</a:t>
            </a:r>
          </a:p>
          <a:p>
            <a:endParaRPr dirty="0"/>
          </a:p>
          <a:p>
            <a:r>
              <a:rPr dirty="0"/>
              <a:t>[KEY POINT — the callout]</a:t>
            </a:r>
          </a:p>
          <a:p>
            <a:r>
              <a:rPr dirty="0"/>
              <a:t>People come in expecting a RAG API and are briefly disappointed there isn't one. Reframe</a:t>
            </a:r>
          </a:p>
          <a:p>
            <a:r>
              <a:rPr dirty="0"/>
              <a:t>it: retrieval is a </a:t>
            </a:r>
            <a:r>
              <a:rPr dirty="0" err="1"/>
              <a:t>before_run</a:t>
            </a:r>
            <a:r>
              <a:rPr dirty="0"/>
              <a:t> hook. </a:t>
            </a:r>
            <a:r>
              <a:rPr dirty="0" err="1"/>
              <a:t>Personalisation</a:t>
            </a:r>
            <a:r>
              <a:rPr dirty="0"/>
              <a:t> is a </a:t>
            </a:r>
            <a:r>
              <a:rPr dirty="0" err="1"/>
              <a:t>before_run</a:t>
            </a:r>
            <a:r>
              <a:rPr dirty="0"/>
              <a:t> hook. Compliance</a:t>
            </a:r>
          </a:p>
          <a:p>
            <a:r>
              <a:rPr dirty="0"/>
              <a:t>banners are a </a:t>
            </a:r>
            <a:r>
              <a:rPr dirty="0" err="1"/>
              <a:t>before_run</a:t>
            </a:r>
            <a:r>
              <a:rPr dirty="0"/>
              <a:t> hook. One seam, many uses — that is good design, not a gap.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extend_instructions</a:t>
            </a:r>
            <a:r>
              <a:rPr dirty="0"/>
              <a:t>]</a:t>
            </a:r>
          </a:p>
          <a:p>
            <a:r>
              <a:rPr dirty="0"/>
              <a:t>Note it takes </a:t>
            </a:r>
            <a:r>
              <a:rPr dirty="0" err="1"/>
              <a:t>source_id</a:t>
            </a:r>
            <a:r>
              <a:rPr dirty="0"/>
              <a:t> as the first argument. Injected context is attributed, so you can</a:t>
            </a:r>
          </a:p>
          <a:p>
            <a:r>
              <a:rPr dirty="0"/>
              <a:t>trace which provider added what — matters when three providers are competing for a small</a:t>
            </a:r>
          </a:p>
          <a:p>
            <a:r>
              <a:rPr dirty="0"/>
              <a:t>context window.</a:t>
            </a:r>
          </a:p>
          <a:p>
            <a:endParaRPr dirty="0"/>
          </a:p>
          <a:p>
            <a:r>
              <a:rPr dirty="0"/>
              <a:t>[BE HONEST]</a:t>
            </a:r>
          </a:p>
          <a:p>
            <a:r>
              <a:rPr dirty="0"/>
              <a:t>The example's name extraction is a substring hack for teaching. Real implementations use a</a:t>
            </a:r>
          </a:p>
          <a:p>
            <a:r>
              <a:rPr dirty="0"/>
              <a:t>model call, an entity extractor, or explicit user profile writes. Say so before someone in</a:t>
            </a:r>
          </a:p>
          <a:p>
            <a:r>
              <a:rPr dirty="0"/>
              <a:t>the room says it for you.</a:t>
            </a:r>
          </a:p>
          <a:p>
            <a:endParaRPr dirty="0"/>
          </a:p>
          <a:p>
            <a:r>
              <a:rPr dirty="0"/>
              <a:t>[DEMO CUE]</a:t>
            </a:r>
          </a:p>
          <a:p>
            <a:r>
              <a:rPr dirty="0" err="1"/>
              <a:t>uv</a:t>
            </a:r>
            <a:r>
              <a:rPr dirty="0"/>
              <a:t> run python examples/04_memory.py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This is the composition payoff from module 2, made concrete. Three providers, one session,</a:t>
            </a:r>
          </a:p>
          <a:p>
            <a:r>
              <a:rPr dirty="0"/>
              <a:t>one set of hooks. Nothing here subclasses Agent.</a:t>
            </a:r>
          </a:p>
          <a:p>
            <a:endParaRPr dirty="0"/>
          </a:p>
          <a:p>
            <a:r>
              <a:rPr dirty="0"/>
              <a:t>[READ THE STACK]</a:t>
            </a:r>
          </a:p>
          <a:p>
            <a:r>
              <a:rPr dirty="0"/>
              <a:t>The transcript is what makes the conversation multi-turn — </a:t>
            </a:r>
            <a:r>
              <a:rPr dirty="0" err="1"/>
              <a:t>load_messages</a:t>
            </a:r>
            <a:r>
              <a:rPr dirty="0"/>
              <a:t>=True replays it.</a:t>
            </a:r>
          </a:p>
          <a:p>
            <a:r>
              <a:rPr dirty="0"/>
              <a:t>Mem0 adds durable semantic memory that outlives the session. The audit store has</a:t>
            </a:r>
          </a:p>
          <a:p>
            <a:r>
              <a:rPr dirty="0" err="1"/>
              <a:t>load_messages</a:t>
            </a:r>
            <a:r>
              <a:rPr dirty="0"/>
              <a:t>=False, so it never feeds the model; it only records.</a:t>
            </a:r>
          </a:p>
          <a:p>
            <a:endParaRPr dirty="0"/>
          </a:p>
          <a:p>
            <a:r>
              <a:rPr dirty="0"/>
              <a:t>[WHY ORDER MATTERS]</a:t>
            </a:r>
          </a:p>
          <a:p>
            <a:r>
              <a:rPr dirty="0"/>
              <a:t>Providers run in list order. The audit store is last and sets </a:t>
            </a:r>
            <a:r>
              <a:rPr dirty="0" err="1"/>
              <a:t>store_context_messages</a:t>
            </a:r>
            <a:r>
              <a:rPr dirty="0"/>
              <a:t>=True,</a:t>
            </a:r>
          </a:p>
          <a:p>
            <a:r>
              <a:rPr dirty="0"/>
              <a:t>so it captures context the earlier providers injected. Put it first and it would record</a:t>
            </a:r>
          </a:p>
          <a:p>
            <a:r>
              <a:rPr dirty="0"/>
              <a:t>nothing useful. That is the one detail people get wrong.</a:t>
            </a:r>
          </a:p>
          <a:p>
            <a:endParaRPr dirty="0"/>
          </a:p>
          <a:p>
            <a:r>
              <a:rPr dirty="0"/>
              <a:t>[THE NUMBERS]</a:t>
            </a:r>
          </a:p>
          <a:p>
            <a:r>
              <a:rPr dirty="0"/>
              <a:t>When you run it, the transcript holds 4 messages and the audit copy holds 6. That gap is</a:t>
            </a:r>
          </a:p>
          <a:p>
            <a:r>
              <a:rPr dirty="0"/>
              <a:t>the injected context, visible. Point at it.</a:t>
            </a:r>
          </a:p>
          <a:p>
            <a:endParaRPr dirty="0"/>
          </a:p>
          <a:p>
            <a:r>
              <a:rPr dirty="0"/>
              <a:t>[MEM0 IS OPTIONAL]</a:t>
            </a:r>
          </a:p>
          <a:p>
            <a:r>
              <a:rPr dirty="0"/>
              <a:t>The example skips Mem0 unless MEM0_API_KEY is set, so it runs offline. Say that, or someone</a:t>
            </a:r>
          </a:p>
          <a:p>
            <a:r>
              <a:rPr dirty="0"/>
              <a:t>will assume the whole slide needs a hosted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Module 4 opened by saying an in-memory session is fine for a CLI and wrong for a service.</a:t>
            </a:r>
          </a:p>
          <a:p>
            <a:r>
              <a:rPr dirty="0"/>
              <a:t>This is the fix, and there are exactly two shapes.</a:t>
            </a:r>
          </a:p>
          <a:p>
            <a:endParaRPr dirty="0"/>
          </a:p>
          <a:p>
            <a:r>
              <a:rPr dirty="0"/>
              <a:t>[LEFT — the provider owns it]</a:t>
            </a:r>
          </a:p>
          <a:p>
            <a:r>
              <a:rPr dirty="0" err="1"/>
              <a:t>FileHistoryProvider</a:t>
            </a:r>
            <a:r>
              <a:rPr dirty="0"/>
              <a:t> takes a directory and writes one append-only file per session. Reusing</a:t>
            </a:r>
          </a:p>
          <a:p>
            <a:r>
              <a:rPr dirty="0"/>
              <a:t>the </a:t>
            </a:r>
            <a:r>
              <a:rPr dirty="0" err="1"/>
              <a:t>session_id</a:t>
            </a:r>
            <a:r>
              <a:rPr dirty="0"/>
              <a:t> picks up where you left off. Run the example twice and the record count goes</a:t>
            </a:r>
          </a:p>
          <a:p>
            <a:r>
              <a:rPr dirty="0"/>
              <a:t>from 2 to 4 — that is the whole demo.</a:t>
            </a:r>
          </a:p>
          <a:p>
            <a:endParaRPr dirty="0"/>
          </a:p>
          <a:p>
            <a:r>
              <a:rPr dirty="0"/>
              <a:t>[HONEST CAVEAT]</a:t>
            </a:r>
          </a:p>
          <a:p>
            <a:r>
              <a:rPr dirty="0" err="1"/>
              <a:t>FileHistoryProvider</a:t>
            </a:r>
            <a:r>
              <a:rPr dirty="0"/>
              <a:t> is marked experimental in 1.13 and warns on import. Great for local</a:t>
            </a:r>
          </a:p>
          <a:p>
            <a:r>
              <a:rPr dirty="0"/>
              <a:t>development; for a service use Redis or Cosmos, or option two.</a:t>
            </a:r>
          </a:p>
          <a:p>
            <a:endParaRPr dirty="0"/>
          </a:p>
          <a:p>
            <a:r>
              <a:rPr dirty="0"/>
              <a:t>[RIGHT — you own it]</a:t>
            </a:r>
          </a:p>
          <a:p>
            <a:r>
              <a:rPr dirty="0" err="1"/>
              <a:t>session.to_dict</a:t>
            </a:r>
            <a:r>
              <a:rPr dirty="0"/>
              <a:t>() gives you a plain dict. </a:t>
            </a:r>
            <a:r>
              <a:rPr dirty="0" err="1"/>
              <a:t>Serialise</a:t>
            </a:r>
            <a:r>
              <a:rPr dirty="0"/>
              <a:t> it wherever you already keep state.</a:t>
            </a:r>
          </a:p>
          <a:p>
            <a:r>
              <a:rPr dirty="0"/>
              <a:t>This is usually the right answer for a web service, because you already have somewhere to</a:t>
            </a:r>
          </a:p>
          <a:p>
            <a:r>
              <a:rPr dirty="0"/>
              <a:t>put it and you control the lifecycle and retention.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The persuasive detail is that the second half of the example builds a brand-new agent</a:t>
            </a:r>
          </a:p>
          <a:p>
            <a:r>
              <a:rPr dirty="0"/>
              <a:t>object and hands it the restored session — and the agent still knows the </a:t>
            </a:r>
            <a:r>
              <a:rPr dirty="0" err="1"/>
              <a:t>favourite</a:t>
            </a:r>
            <a:r>
              <a:rPr dirty="0"/>
              <a:t> </a:t>
            </a:r>
            <a:r>
              <a:rPr dirty="0" err="1"/>
              <a:t>colour</a:t>
            </a:r>
            <a:r>
              <a:rPr dirty="0"/>
              <a:t>.</a:t>
            </a:r>
          </a:p>
          <a:p>
            <a:r>
              <a:rPr dirty="0"/>
              <a:t>Same conversation, different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Seven strategies, one job: decide what to forget. Do not read the list out — group it.</a:t>
            </a:r>
          </a:p>
          <a:p>
            <a:r>
              <a:rPr dirty="0"/>
              <a:t>Two blunt ones, two tool-focused ones, one that does the budget </a:t>
            </a:r>
            <a:r>
              <a:rPr dirty="0" err="1"/>
              <a:t>maths</a:t>
            </a:r>
            <a:r>
              <a:rPr dirty="0"/>
              <a:t> for you, and one that</a:t>
            </a:r>
          </a:p>
          <a:p>
            <a:r>
              <a:rPr dirty="0"/>
              <a:t>costs a model call.</a:t>
            </a:r>
          </a:p>
          <a:p>
            <a:endParaRPr dirty="0"/>
          </a:p>
          <a:p>
            <a:r>
              <a:rPr dirty="0"/>
              <a:t>[THE DISTINCTION THAT MATTERS]</a:t>
            </a:r>
          </a:p>
          <a:p>
            <a:r>
              <a:rPr dirty="0" err="1"/>
              <a:t>ToolResultCompactionStrategy</a:t>
            </a:r>
            <a:r>
              <a:rPr dirty="0"/>
              <a:t> *replaces* old tool groups with a readable</a:t>
            </a:r>
          </a:p>
          <a:p>
            <a:r>
              <a:rPr dirty="0"/>
              <a:t>"[Tool results: ...]" line — it reclaims the message structure and keeps a trace of what</a:t>
            </a:r>
          </a:p>
          <a:p>
            <a:r>
              <a:rPr dirty="0"/>
              <a:t>the tools returned. </a:t>
            </a:r>
            <a:r>
              <a:rPr dirty="0" err="1"/>
              <a:t>SelectiveToolCallCompactionStrategy</a:t>
            </a:r>
            <a:r>
              <a:rPr dirty="0"/>
              <a:t> *excludes* those groups entirely.</a:t>
            </a:r>
          </a:p>
          <a:p>
            <a:r>
              <a:rPr dirty="0"/>
              <a:t>In example 08 on the same transcript that is roughly 2,016 tokens versus 1,714. The second</a:t>
            </a:r>
          </a:p>
          <a:p>
            <a:r>
              <a:rPr dirty="0"/>
              <a:t>saves more and tells you less. Choose deliberately.</a:t>
            </a:r>
          </a:p>
          <a:p>
            <a:endParaRPr dirty="0"/>
          </a:p>
          <a:p>
            <a:r>
              <a:rPr dirty="0"/>
              <a:t>[DO NOT OVERSELL]</a:t>
            </a:r>
          </a:p>
          <a:p>
            <a:r>
              <a:rPr dirty="0"/>
              <a:t>Resist saying "tool results are always the biggest win" — it depends entirely on your</a:t>
            </a:r>
          </a:p>
          <a:p>
            <a:r>
              <a:rPr dirty="0"/>
              <a:t>payload sizes. The honest framing is: measure it, which is what example 08 is for.</a:t>
            </a:r>
          </a:p>
          <a:p>
            <a:endParaRPr dirty="0"/>
          </a:p>
          <a:p>
            <a:r>
              <a:rPr dirty="0"/>
              <a:t>[COMPOSITION]</a:t>
            </a:r>
          </a:p>
          <a:p>
            <a:r>
              <a:rPr dirty="0" err="1"/>
              <a:t>TokenBudgetComposedStrategy</a:t>
            </a:r>
            <a:r>
              <a:rPr dirty="0"/>
              <a:t> runs strategies in order until an included-token budget is</a:t>
            </a:r>
          </a:p>
          <a:p>
            <a:r>
              <a:rPr dirty="0"/>
              <a:t>satisfied. Cheap structural wins first, </a:t>
            </a:r>
            <a:r>
              <a:rPr dirty="0" err="1"/>
              <a:t>summarisation</a:t>
            </a:r>
            <a:r>
              <a:rPr dirty="0"/>
              <a:t> later, hard window as a backstop.</a:t>
            </a:r>
          </a:p>
          <a:p>
            <a:endParaRPr dirty="0"/>
          </a:p>
          <a:p>
            <a:r>
              <a:rPr dirty="0"/>
              <a:t>[COST ANGLE]</a:t>
            </a:r>
          </a:p>
          <a:p>
            <a:r>
              <a:rPr dirty="0"/>
              <a:t>For architects: compaction is a cost control as much as a correctness control. Every turn</a:t>
            </a:r>
          </a:p>
          <a:p>
            <a:r>
              <a:rPr dirty="0"/>
              <a:t>you do not resend is money.</a:t>
            </a:r>
          </a:p>
          <a:p>
            <a:endParaRPr dirty="0"/>
          </a:p>
          <a:p>
            <a:r>
              <a:rPr dirty="0"/>
              <a:t>[WATCH OUT]</a:t>
            </a:r>
          </a:p>
          <a:p>
            <a:r>
              <a:rPr dirty="0" err="1"/>
              <a:t>Summarisation</a:t>
            </a:r>
            <a:r>
              <a:rPr dirty="0"/>
              <a:t> loses detail by definition. If the agent needs exact prior values — order</a:t>
            </a:r>
          </a:p>
          <a:p>
            <a:r>
              <a:rPr dirty="0"/>
              <a:t>IDs, amounts — keep them in structured session state, not in prose you are about to</a:t>
            </a:r>
          </a:p>
          <a:p>
            <a:r>
              <a:rPr dirty="0"/>
              <a:t>compress.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[SETUP]</a:t>
            </a:r>
          </a:p>
          <a:p>
            <a:r>
              <a:rPr dirty="0"/>
              <a:t>Example 07 needs a second model server (</a:t>
            </a:r>
            <a:r>
              <a:rPr dirty="0" err="1"/>
              <a:t>Ollama</a:t>
            </a:r>
            <a:r>
              <a:rPr dirty="0"/>
              <a:t> on 11434). Decide before the session</a:t>
            </a:r>
          </a:p>
          <a:p>
            <a:r>
              <a:rPr dirty="0"/>
              <a:t>whether you are running it; if not, present it as a code read.</a:t>
            </a:r>
          </a:p>
          <a:p>
            <a:endParaRPr dirty="0"/>
          </a:p>
          <a:p>
            <a:r>
              <a:rPr dirty="0"/>
              <a:t>[DEMO SCRIPT]</a:t>
            </a:r>
          </a:p>
          <a:p>
            <a:r>
              <a:rPr dirty="0"/>
              <a:t>Do 03 and 04 back to back — they are fast and they build. 04 is the satisfying one: the</a:t>
            </a:r>
          </a:p>
          <a:p>
            <a:r>
              <a:rPr dirty="0"/>
              <a:t>agent asks for the name, you give it, and two turns later it uses the name without being</a:t>
            </a:r>
          </a:p>
          <a:p>
            <a:r>
              <a:rPr dirty="0"/>
              <a:t>prompted. Then show the printed session state so people see where it lived.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When showing 04, point out that the agent addresses Alice by name on a completely</a:t>
            </a:r>
          </a:p>
          <a:p>
            <a:r>
              <a:rPr dirty="0"/>
              <a:t>unrelated </a:t>
            </a:r>
            <a:r>
              <a:rPr dirty="0" err="1"/>
              <a:t>maths</a:t>
            </a:r>
            <a:r>
              <a:rPr dirty="0"/>
              <a:t> question. That is </a:t>
            </a:r>
            <a:r>
              <a:rPr dirty="0" err="1"/>
              <a:t>before_run</a:t>
            </a:r>
            <a:r>
              <a:rPr dirty="0"/>
              <a:t> injecting into instructions, visibly.</a:t>
            </a:r>
          </a:p>
          <a:p>
            <a:endParaRPr dirty="0"/>
          </a:p>
          <a:p>
            <a:r>
              <a:rPr dirty="0"/>
              <a:t>[TIMING]</a:t>
            </a:r>
          </a:p>
          <a:p>
            <a:r>
              <a:rPr dirty="0"/>
              <a:t>Five minutes for all three, less if you skip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Short module, high strategic value. Architects care about this one more than the syntax</a:t>
            </a:r>
          </a:p>
          <a:p>
            <a:r>
              <a:rPr dirty="0"/>
              <a:t>modules.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If you are behind schedule, this is the module to compress to two slides — but do not skip</a:t>
            </a:r>
          </a:p>
          <a:p>
            <a:r>
              <a:rPr dirty="0"/>
              <a:t>it. It is the most-asked-about topic in the follow-up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Nine lines to give an agent the entire Microsoft Learn documentation corpus as tools. No</a:t>
            </a:r>
          </a:p>
          <a:p>
            <a:r>
              <a:rPr dirty="0"/>
              <a:t>schemas written, no endpoints wrapped.</a:t>
            </a:r>
          </a:p>
          <a:p>
            <a:endParaRPr dirty="0"/>
          </a:p>
          <a:p>
            <a:r>
              <a:rPr dirty="0"/>
              <a:t>[WHY async with]</a:t>
            </a:r>
          </a:p>
          <a:p>
            <a:r>
              <a:rPr dirty="0"/>
              <a:t>The MCP tool holds a live connection. The context manager ties that connection's lifetime</a:t>
            </a:r>
          </a:p>
          <a:p>
            <a:r>
              <a:rPr dirty="0"/>
              <a:t>to the agent's. Forgetting it is the number one MCP bug — you get "tool not available" or a</a:t>
            </a:r>
          </a:p>
          <a:p>
            <a:r>
              <a:rPr dirty="0"/>
              <a:t>dangling session.</a:t>
            </a:r>
          </a:p>
          <a:p>
            <a:endParaRPr dirty="0"/>
          </a:p>
          <a:p>
            <a:r>
              <a:rPr dirty="0"/>
              <a:t>[DISCOVERY]</a:t>
            </a:r>
          </a:p>
          <a:p>
            <a:r>
              <a:rPr dirty="0" err="1"/>
              <a:t>Emphasise</a:t>
            </a:r>
            <a:r>
              <a:rPr dirty="0"/>
              <a:t> that the tool list comes from the server at connect time. That is the payoff: the</a:t>
            </a:r>
          </a:p>
          <a:p>
            <a:r>
              <a:rPr dirty="0"/>
              <a:t>server can add a tool tomorrow and your agent picks it up with no redeploy. It is also the</a:t>
            </a:r>
          </a:p>
          <a:p>
            <a:r>
              <a:rPr dirty="0"/>
              <a:t>risk — the server can change </a:t>
            </a:r>
            <a:r>
              <a:rPr dirty="0" err="1"/>
              <a:t>behaviour</a:t>
            </a:r>
            <a:r>
              <a:rPr dirty="0"/>
              <a:t> under you.</a:t>
            </a:r>
          </a:p>
          <a:p>
            <a:endParaRPr dirty="0"/>
          </a:p>
          <a:p>
            <a:r>
              <a:rPr dirty="0"/>
              <a:t>[DEMO CUE]</a:t>
            </a:r>
          </a:p>
          <a:p>
            <a:r>
              <a:rPr dirty="0" err="1"/>
              <a:t>uv</a:t>
            </a:r>
            <a:r>
              <a:rPr dirty="0"/>
              <a:t> run python examples/09_mcp_docs_agent.py</a:t>
            </a:r>
          </a:p>
          <a:p>
            <a:endParaRPr dirty="0"/>
          </a:p>
          <a:p>
            <a:r>
              <a:rPr dirty="0"/>
              <a:t>[NETWORK WARNING]</a:t>
            </a:r>
          </a:p>
          <a:p>
            <a:r>
              <a:rPr dirty="0"/>
              <a:t>This one hits the public internet. If conference </a:t>
            </a:r>
            <a:r>
              <a:rPr dirty="0" err="1"/>
              <a:t>wifi</a:t>
            </a:r>
            <a:r>
              <a:rPr dirty="0"/>
              <a:t> is unreliable, screenshot the output</a:t>
            </a:r>
          </a:p>
          <a:p>
            <a:r>
              <a:rPr dirty="0"/>
              <a:t>beforehand. Also note it is the slowest demo in the deck — the model reads real 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[DEMO SCRIPT]</a:t>
            </a:r>
          </a:p>
          <a:p>
            <a:r>
              <a:rPr dirty="0"/>
              <a:t>Lead with the file, not the output. The persuasive thing is how little code there is.</a:t>
            </a:r>
          </a:p>
          <a:p>
            <a:endParaRPr dirty="0"/>
          </a:p>
          <a:p>
            <a:r>
              <a:rPr dirty="0"/>
              <a:t>[THE MONEY MOMENT]</a:t>
            </a:r>
          </a:p>
          <a:p>
            <a:r>
              <a:rPr dirty="0"/>
              <a:t>Ask about something genuinely recent — newer than the model's training data. Correct answer</a:t>
            </a:r>
          </a:p>
          <a:p>
            <a:r>
              <a:rPr dirty="0"/>
              <a:t>proves the tool did real work, which no amount of explanation achieves.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This demo is slow. Fill the gap by narrating what is happening: connect, discover tools,</a:t>
            </a:r>
          </a:p>
          <a:p>
            <a:r>
              <a:rPr dirty="0"/>
              <a:t>model picks one, server search, results back, generation. Silence during a slow demo reads</a:t>
            </a:r>
          </a:p>
          <a:p>
            <a:r>
              <a:rPr dirty="0"/>
              <a:t>as breakage.</a:t>
            </a:r>
          </a:p>
          <a:p>
            <a:endParaRPr dirty="0"/>
          </a:p>
          <a:p>
            <a:r>
              <a:rPr dirty="0"/>
              <a:t>[TIMING]</a:t>
            </a:r>
          </a:p>
          <a:p>
            <a:r>
              <a:rPr dirty="0"/>
              <a:t>Three minutes, and be ready to cut it to zero if the network is bad.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The pivot in this module: an agent decides what to do next; a workflow is you deciding.</a:t>
            </a:r>
          </a:p>
          <a:p>
            <a:r>
              <a:rPr dirty="0"/>
              <a:t>Both are legitimate. Knowing which you want is a design skill, and it is the thing that</a:t>
            </a:r>
          </a:p>
          <a:p>
            <a:r>
              <a:rPr dirty="0"/>
              <a:t>separates people who ship agents from people who demo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One axis: who chooses the next step. That is the entire distinction, and it maps directly</a:t>
            </a:r>
          </a:p>
          <a:p>
            <a:r>
              <a:rPr dirty="0"/>
              <a:t>onto testability. A workflow you can unit test. An agent you can only evaluate.</a:t>
            </a:r>
          </a:p>
          <a:p>
            <a:endParaRPr dirty="0"/>
          </a:p>
          <a:p>
            <a:r>
              <a:rPr dirty="0"/>
              <a:t>[THE PRACTICAL ANSWER]</a:t>
            </a:r>
          </a:p>
          <a:p>
            <a:r>
              <a:rPr dirty="0"/>
              <a:t>Nearly every production system that works is a deterministic skeleton with agentic joints.</a:t>
            </a:r>
          </a:p>
          <a:p>
            <a:r>
              <a:rPr dirty="0"/>
              <a:t>The workflow guarantees the stages happen in order and the audit trail exists; the agents</a:t>
            </a:r>
          </a:p>
          <a:p>
            <a:r>
              <a:rPr dirty="0"/>
              <a:t>inside each stage handle the messy language work.</a:t>
            </a:r>
          </a:p>
          <a:p>
            <a:endParaRPr dirty="0"/>
          </a:p>
          <a:p>
            <a:r>
              <a:rPr dirty="0"/>
              <a:t>[ANTI-PATTERN TO NAME]</a:t>
            </a:r>
          </a:p>
          <a:p>
            <a:r>
              <a:rPr dirty="0"/>
              <a:t>"One big agent with twenty tools and a 2,000-word prompt telling it what order to do things</a:t>
            </a:r>
          </a:p>
          <a:p>
            <a:r>
              <a:rPr dirty="0"/>
              <a:t>in." That is a workflow written in English instead of Python. If you find yourself</a:t>
            </a:r>
          </a:p>
          <a:p>
            <a:r>
              <a:rPr dirty="0"/>
              <a:t>numbering steps in a system prompt, you want a workflow.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Ask for a use case from the room and classify it live. Two or three of these makes the</a:t>
            </a:r>
          </a:p>
          <a:p>
            <a:r>
              <a:rPr dirty="0"/>
              <a:t>distinction stick far better than the slide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The `@workflow` decorator buys you tracing, typed outputs and a consistent run interface</a:t>
            </a:r>
          </a:p>
          <a:p>
            <a:r>
              <a:rPr dirty="0"/>
              <a:t>over what is otherwise ordinary async Python. The body is readable by anyone on your team</a:t>
            </a:r>
          </a:p>
          <a:p>
            <a:r>
              <a:rPr dirty="0"/>
              <a:t>on day one.</a:t>
            </a:r>
          </a:p>
          <a:p>
            <a:endParaRPr dirty="0"/>
          </a:p>
          <a:p>
            <a:r>
              <a:rPr dirty="0"/>
              <a:t>[WHY NOT ALWAYS THIS?]</a:t>
            </a:r>
          </a:p>
          <a:p>
            <a:r>
              <a:rPr dirty="0"/>
              <a:t>Because the topology is implicit. You cannot inspect it, </a:t>
            </a:r>
            <a:r>
              <a:rPr dirty="0" err="1"/>
              <a:t>visualise</a:t>
            </a:r>
            <a:r>
              <a:rPr dirty="0"/>
              <a:t> it, checkpoint it or</a:t>
            </a:r>
          </a:p>
          <a:p>
            <a:r>
              <a:rPr dirty="0"/>
              <a:t>resume it mid-flight the way you can a graph. For a two-step chain that trade is obviously</a:t>
            </a:r>
          </a:p>
          <a:p>
            <a:r>
              <a:rPr dirty="0"/>
              <a:t>correct. For a twelve-node process with retries, it is not.</a:t>
            </a:r>
          </a:p>
          <a:p>
            <a:endParaRPr dirty="0"/>
          </a:p>
          <a:p>
            <a:r>
              <a:rPr dirty="0"/>
              <a:t>[POINT AT </a:t>
            </a:r>
            <a:r>
              <a:rPr dirty="0" err="1"/>
              <a:t>get_outputs</a:t>
            </a:r>
            <a:r>
              <a:rPr dirty="0"/>
              <a:t>()]</a:t>
            </a:r>
          </a:p>
          <a:p>
            <a:r>
              <a:rPr dirty="0"/>
              <a:t>Small API detail people trip on: the result object is not the string. A workflow run can</a:t>
            </a:r>
          </a:p>
          <a:p>
            <a:r>
              <a:rPr dirty="0"/>
              <a:t>emit several outputs, so you index into `</a:t>
            </a:r>
            <a:r>
              <a:rPr dirty="0" err="1"/>
              <a:t>get_outputs</a:t>
            </a:r>
            <a:r>
              <a:rPr dirty="0"/>
              <a:t>()`.</a:t>
            </a:r>
          </a:p>
          <a:p>
            <a:endParaRPr dirty="0"/>
          </a:p>
          <a:p>
            <a:r>
              <a:rPr dirty="0"/>
              <a:t>[DEMO CUE]</a:t>
            </a:r>
          </a:p>
          <a:p>
            <a:r>
              <a:rPr dirty="0" err="1"/>
              <a:t>uv</a:t>
            </a:r>
            <a:r>
              <a:rPr dirty="0"/>
              <a:t> run python examples/10_functional_workflow.py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Add a third agent live — an editor that rewrites based on the review. Three lines. It shows</a:t>
            </a:r>
          </a:p>
          <a:p>
            <a:r>
              <a:rPr dirty="0"/>
              <a:t>how cheap composition is once agents are just </a:t>
            </a:r>
            <a:r>
              <a:rPr dirty="0" err="1"/>
              <a:t>callables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Two ways to declare a node: a class with @handler methods, or a decorated async function.</a:t>
            </a:r>
          </a:p>
          <a:p>
            <a:r>
              <a:rPr dirty="0"/>
              <a:t>Edges are declared on the builder. The topology is data, which is what makes it</a:t>
            </a:r>
          </a:p>
          <a:p>
            <a:r>
              <a:rPr dirty="0"/>
              <a:t>inspectable and </a:t>
            </a:r>
            <a:r>
              <a:rPr dirty="0" err="1"/>
              <a:t>checkpointable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[THE TWO VERBS]</a:t>
            </a:r>
          </a:p>
          <a:p>
            <a:r>
              <a:rPr dirty="0"/>
              <a:t>`</a:t>
            </a:r>
            <a:r>
              <a:rPr dirty="0" err="1"/>
              <a:t>ctx.send_message</a:t>
            </a:r>
            <a:r>
              <a:rPr dirty="0"/>
              <a:t>(...)` forwards to the next executor. `</a:t>
            </a:r>
            <a:r>
              <a:rPr dirty="0" err="1"/>
              <a:t>ctx.yield_output</a:t>
            </a:r>
            <a:r>
              <a:rPr dirty="0"/>
              <a:t>(...)` produces a</a:t>
            </a:r>
          </a:p>
          <a:p>
            <a:r>
              <a:rPr dirty="0"/>
              <a:t>workflow result. Confusing these is the most common first-time error — a workflow that runs</a:t>
            </a:r>
          </a:p>
          <a:p>
            <a:r>
              <a:rPr dirty="0"/>
              <a:t>and returns nothing usually means everything called </a:t>
            </a:r>
            <a:r>
              <a:rPr dirty="0" err="1"/>
              <a:t>send_message</a:t>
            </a:r>
            <a:r>
              <a:rPr dirty="0"/>
              <a:t> and nothing yielded.</a:t>
            </a:r>
          </a:p>
          <a:p>
            <a:endParaRPr dirty="0"/>
          </a:p>
          <a:p>
            <a:r>
              <a:rPr dirty="0"/>
              <a:t>[NO MODEL REQUIRED]</a:t>
            </a:r>
          </a:p>
          <a:p>
            <a:r>
              <a:rPr dirty="0"/>
              <a:t>Highlight the green chip. This example is pure string manipulation, which makes it the</a:t>
            </a:r>
          </a:p>
          <a:p>
            <a:r>
              <a:rPr dirty="0"/>
              <a:t>perfect smoke test — if this runs, the install is fine and the problem is your model</a:t>
            </a:r>
          </a:p>
          <a:p>
            <a:r>
              <a:rPr dirty="0"/>
              <a:t>server.</a:t>
            </a:r>
          </a:p>
          <a:p>
            <a:endParaRPr dirty="0"/>
          </a:p>
          <a:p>
            <a:r>
              <a:rPr dirty="0"/>
              <a:t>[TYPE PARAMETERS]</a:t>
            </a:r>
          </a:p>
          <a:p>
            <a:r>
              <a:rPr dirty="0"/>
              <a:t>`</a:t>
            </a:r>
            <a:r>
              <a:rPr dirty="0" err="1"/>
              <a:t>WorkflowContext</a:t>
            </a:r>
            <a:r>
              <a:rPr dirty="0"/>
              <a:t>[str]` versus `</a:t>
            </a:r>
            <a:r>
              <a:rPr dirty="0" err="1"/>
              <a:t>WorkflowContext</a:t>
            </a:r>
            <a:r>
              <a:rPr dirty="0"/>
              <a:t>[Never, str]` — the first type is what this</a:t>
            </a:r>
          </a:p>
          <a:p>
            <a:r>
              <a:rPr dirty="0"/>
              <a:t>executor sends onward, the second is what it yields as output. Never means "sends nothing</a:t>
            </a:r>
          </a:p>
          <a:p>
            <a:r>
              <a:rPr dirty="0"/>
              <a:t>onward". Worth thirty seconds; the types are load-bearing.</a:t>
            </a:r>
          </a:p>
          <a:p>
            <a:endParaRPr dirty="0"/>
          </a:p>
          <a:p>
            <a:r>
              <a:rPr dirty="0"/>
              <a:t>[DEMO CUE]</a:t>
            </a:r>
          </a:p>
          <a:p>
            <a:r>
              <a:rPr dirty="0" err="1"/>
              <a:t>uv</a:t>
            </a:r>
            <a:r>
              <a:rPr dirty="0"/>
              <a:t> run python examples/11_graph_workflow.py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Four declaration forms, and one idea that matters more than all of them: the</a:t>
            </a:r>
          </a:p>
          <a:p>
            <a:r>
              <a:rPr dirty="0" err="1"/>
              <a:t>WorkflowContext</a:t>
            </a:r>
            <a:r>
              <a:rPr dirty="0"/>
              <a:t> type parameters are not decoration, they are the node's contract.</a:t>
            </a:r>
          </a:p>
          <a:p>
            <a:endParaRPr dirty="0"/>
          </a:p>
          <a:p>
            <a:r>
              <a:rPr dirty="0"/>
              <a:t>[THE FOUR FORMS]</a:t>
            </a:r>
          </a:p>
          <a:p>
            <a:r>
              <a:rPr dirty="0"/>
              <a:t>Class-based with @handler is the default. Add a second @handler and the same node accepts a</a:t>
            </a:r>
          </a:p>
          <a:p>
            <a:r>
              <a:rPr dirty="0"/>
              <a:t>second message type — dispatch is on the message type, not the edge. The @executor</a:t>
            </a:r>
          </a:p>
          <a:p>
            <a:r>
              <a:rPr dirty="0"/>
              <a:t>decorator gives you the same thing from a plain async function. Explicit decorator types</a:t>
            </a:r>
          </a:p>
          <a:p>
            <a:r>
              <a:rPr dirty="0"/>
              <a:t>are the escape hatch when you cannot or will not annotate — and it is all-or-nothing, you</a:t>
            </a:r>
          </a:p>
          <a:p>
            <a:r>
              <a:rPr dirty="0"/>
              <a:t>cannot mix explicit params with hints.</a:t>
            </a:r>
          </a:p>
          <a:p>
            <a:endParaRPr dirty="0"/>
          </a:p>
          <a:p>
            <a:r>
              <a:rPr dirty="0"/>
              <a:t>[THE CONTEXT TABLE — spend your time here]</a:t>
            </a:r>
          </a:p>
          <a:p>
            <a:r>
              <a:rPr dirty="0"/>
              <a:t>No parameters means the node is a sink: logging, metrics, tracing. One parameter is what it</a:t>
            </a:r>
          </a:p>
          <a:p>
            <a:r>
              <a:rPr dirty="0"/>
              <a:t>sends. </a:t>
            </a:r>
            <a:r>
              <a:rPr dirty="0" err="1"/>
              <a:t>WorkflowContext</a:t>
            </a:r>
            <a:r>
              <a:rPr dirty="0"/>
              <a:t>[Never, U] means it yields a workflow output and sends nothing — that</a:t>
            </a:r>
          </a:p>
          <a:p>
            <a:r>
              <a:rPr dirty="0"/>
              <a:t>is your terminal node. Two parameters means it does both.</a:t>
            </a:r>
          </a:p>
          <a:p>
            <a:endParaRPr dirty="0"/>
          </a:p>
          <a:p>
            <a:r>
              <a:rPr dirty="0"/>
              <a:t>[WHY IT MATTERS]</a:t>
            </a:r>
          </a:p>
          <a:p>
            <a:r>
              <a:rPr dirty="0"/>
              <a:t>These are validated when you call build(). Get them wrong and you get a</a:t>
            </a:r>
          </a:p>
          <a:p>
            <a:r>
              <a:rPr dirty="0" err="1"/>
              <a:t>WorkflowValidationError</a:t>
            </a:r>
            <a:r>
              <a:rPr dirty="0"/>
              <a:t> before anything executes — for example, yielding an output from a</a:t>
            </a:r>
          </a:p>
          <a:p>
            <a:r>
              <a:rPr dirty="0"/>
              <a:t>node declared </a:t>
            </a:r>
            <a:r>
              <a:rPr dirty="0" err="1"/>
              <a:t>WorkflowContext</a:t>
            </a:r>
            <a:r>
              <a:rPr dirty="0"/>
              <a:t>[str] fails with "must have output type annotations defined".</a:t>
            </a:r>
          </a:p>
          <a:p>
            <a:r>
              <a:rPr dirty="0"/>
              <a:t>That is a good error to have seen once.</a:t>
            </a:r>
          </a:p>
          <a:p>
            <a:endParaRPr dirty="0"/>
          </a:p>
          <a:p>
            <a:r>
              <a:rPr dirty="0"/>
              <a:t>[BUILD-TIME OUTPUT DESIGNATION]</a:t>
            </a:r>
          </a:p>
          <a:p>
            <a:r>
              <a:rPr dirty="0" err="1"/>
              <a:t>output_from</a:t>
            </a:r>
            <a:r>
              <a:rPr dirty="0"/>
              <a:t> and </a:t>
            </a:r>
            <a:r>
              <a:rPr dirty="0" err="1"/>
              <a:t>intermediate_output_from</a:t>
            </a:r>
            <a:r>
              <a:rPr dirty="0"/>
              <a:t> on </a:t>
            </a:r>
            <a:r>
              <a:rPr dirty="0" err="1"/>
              <a:t>WorkflowBuilder</a:t>
            </a:r>
            <a:r>
              <a:rPr dirty="0"/>
              <a:t> decide whose yields the caller</a:t>
            </a:r>
          </a:p>
          <a:p>
            <a:r>
              <a:rPr dirty="0"/>
              <a:t>sees. There is no per-call flag and no </a:t>
            </a:r>
            <a:r>
              <a:rPr dirty="0" err="1"/>
              <a:t>ctx.yield_intermediate</a:t>
            </a:r>
            <a:r>
              <a:rPr dirty="0"/>
              <a:t> — the same </a:t>
            </a:r>
            <a:r>
              <a:rPr dirty="0" err="1"/>
              <a:t>yield_output</a:t>
            </a:r>
            <a:r>
              <a:rPr dirty="0"/>
              <a:t> call is</a:t>
            </a:r>
          </a:p>
          <a:p>
            <a:r>
              <a:rPr dirty="0"/>
              <a:t>labelled output or intermediate purely by that build-time list.</a:t>
            </a:r>
          </a:p>
          <a:p>
            <a:endParaRPr dirty="0"/>
          </a:p>
          <a:p>
            <a:r>
              <a:rPr dirty="0"/>
              <a:t>[DEMO CUE]</a:t>
            </a:r>
          </a:p>
          <a:p>
            <a:r>
              <a:rPr dirty="0" err="1"/>
              <a:t>uv</a:t>
            </a:r>
            <a:r>
              <a:rPr dirty="0"/>
              <a:t> run python examples/12_executor_types.py        (no model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Nodes do the work; edges are the design. Six primitives, and picking the right one is most</a:t>
            </a:r>
          </a:p>
          <a:p>
            <a:r>
              <a:rPr dirty="0"/>
              <a:t>of what graph design actually is.</a:t>
            </a:r>
          </a:p>
          <a:p>
            <a:endParaRPr dirty="0"/>
          </a:p>
          <a:p>
            <a:r>
              <a:rPr dirty="0"/>
              <a:t>[WORK DOWN THE LIST]</a:t>
            </a:r>
          </a:p>
          <a:p>
            <a:r>
              <a:rPr dirty="0" err="1"/>
              <a:t>add_chain</a:t>
            </a:r>
            <a:r>
              <a:rPr dirty="0"/>
              <a:t> is the one you will use most — do not be clever when a chain will do. Conditional</a:t>
            </a:r>
          </a:p>
          <a:p>
            <a:r>
              <a:rPr dirty="0"/>
              <a:t>edges guard a branch with a predicate. Fan-out sends the same message to several nodes;</a:t>
            </a:r>
          </a:p>
          <a:p>
            <a:r>
              <a:rPr dirty="0"/>
              <a:t>fan-in collects their results and hands the target a list, which is the bit people do not</a:t>
            </a:r>
          </a:p>
          <a:p>
            <a:r>
              <a:rPr dirty="0"/>
              <a:t>expect — the fan-in handler signature takes list[T].</a:t>
            </a:r>
          </a:p>
          <a:p>
            <a:endParaRPr dirty="0"/>
          </a:p>
          <a:p>
            <a:r>
              <a:rPr dirty="0"/>
              <a:t>[SWITCH VS CONDITIONAL — the real distinction]</a:t>
            </a:r>
          </a:p>
          <a:p>
            <a:r>
              <a:rPr dirty="0"/>
              <a:t>Conditional edges are independent: two overlapping predicates means both branches run. A</a:t>
            </a:r>
          </a:p>
          <a:p>
            <a:r>
              <a:rPr dirty="0"/>
              <a:t>switch-case group picks exactly one, and requires a Default. If you want mutually exclusive</a:t>
            </a:r>
          </a:p>
          <a:p>
            <a:r>
              <a:rPr dirty="0"/>
              <a:t>routing, use switch-case and let the framework enforce it rather than hand-writing</a:t>
            </a:r>
          </a:p>
          <a:p>
            <a:r>
              <a:rPr dirty="0"/>
              <a:t>complementary lambdas.</a:t>
            </a:r>
          </a:p>
          <a:p>
            <a:endParaRPr dirty="0"/>
          </a:p>
          <a:p>
            <a:r>
              <a:rPr dirty="0"/>
              <a:t>[MULTI-SELECTION]</a:t>
            </a:r>
          </a:p>
          <a:p>
            <a:r>
              <a:rPr dirty="0"/>
              <a:t>The selection function receives the message plus every candidate target id and returns the</a:t>
            </a:r>
          </a:p>
          <a:p>
            <a:r>
              <a:rPr dirty="0"/>
              <a:t>ids you want. Good for notification fan-out where the channel set is data-driven.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Example 13 is six complete workflows in one file, all model-free, all printing their</a:t>
            </a:r>
          </a:p>
          <a:p>
            <a:r>
              <a:rPr dirty="0"/>
              <a:t>routing decisions. It is the best file in the repo for reading aloud.</a:t>
            </a:r>
          </a:p>
          <a:p>
            <a:endParaRPr dirty="0"/>
          </a:p>
          <a:p>
            <a:r>
              <a:rPr dirty="0"/>
              <a:t>[DEMO CUE]</a:t>
            </a:r>
          </a:p>
          <a:p>
            <a:r>
              <a:rPr dirty="0" err="1"/>
              <a:t>uv</a:t>
            </a:r>
            <a:r>
              <a:rPr dirty="0"/>
              <a:t> run python examples/13_edge_patterns.py        (no model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Five named patterns from </a:t>
            </a:r>
            <a:r>
              <a:rPr dirty="0" err="1"/>
              <a:t>agent_framework.orchestrations</a:t>
            </a:r>
            <a:r>
              <a:rPr dirty="0"/>
              <a:t>. Most multi-agent systems are one</a:t>
            </a:r>
          </a:p>
          <a:p>
            <a:r>
              <a:rPr dirty="0"/>
              <a:t>of the first two.</a:t>
            </a:r>
          </a:p>
          <a:p>
            <a:endParaRPr dirty="0"/>
          </a:p>
          <a:p>
            <a:r>
              <a:rPr dirty="0"/>
              <a:t>[SEQUENTIAL]</a:t>
            </a:r>
          </a:p>
          <a:p>
            <a:r>
              <a:rPr dirty="0"/>
              <a:t>Draft → review → edit. Boring and correct.</a:t>
            </a:r>
          </a:p>
          <a:p>
            <a:endParaRPr dirty="0"/>
          </a:p>
          <a:p>
            <a:r>
              <a:rPr dirty="0"/>
              <a:t>[CONCURRENT]</a:t>
            </a:r>
          </a:p>
          <a:p>
            <a:r>
              <a:rPr dirty="0"/>
              <a:t>Same prompt to N agents, gather all responses. Example 15 does this with a researcher, a</a:t>
            </a:r>
          </a:p>
          <a:p>
            <a:r>
              <a:rPr dirty="0"/>
              <a:t>marketer and a compliance reviewer. Latency of the slowest, not the sum.</a:t>
            </a:r>
          </a:p>
          <a:p>
            <a:endParaRPr dirty="0"/>
          </a:p>
          <a:p>
            <a:r>
              <a:rPr dirty="0"/>
              <a:t>[HANDOFF]</a:t>
            </a:r>
          </a:p>
          <a:p>
            <a:r>
              <a:rPr dirty="0"/>
              <a:t>Control transfers. Triage agent decides this is a billing question and hands to the billing</a:t>
            </a:r>
          </a:p>
          <a:p>
            <a:r>
              <a:rPr dirty="0"/>
              <a:t>agent, which now owns the conversation.</a:t>
            </a:r>
          </a:p>
          <a:p>
            <a:endParaRPr dirty="0"/>
          </a:p>
          <a:p>
            <a:r>
              <a:rPr dirty="0"/>
              <a:t>[GROUP CHAT]</a:t>
            </a:r>
          </a:p>
          <a:p>
            <a:r>
              <a:rPr dirty="0"/>
              <a:t>Agents share a transcript with managed turn-taking. Powerful, expensive, hard to bound —</a:t>
            </a:r>
          </a:p>
          <a:p>
            <a:r>
              <a:rPr dirty="0"/>
              <a:t>every agent reads everything.</a:t>
            </a:r>
          </a:p>
          <a:p>
            <a:endParaRPr dirty="0"/>
          </a:p>
          <a:p>
            <a:r>
              <a:rPr dirty="0"/>
              <a:t>[MAGENTIC]</a:t>
            </a:r>
          </a:p>
          <a:p>
            <a:r>
              <a:rPr dirty="0"/>
              <a:t>A manager agent plans and delegates dynamically. Impressive in demos. Be candid that</a:t>
            </a:r>
          </a:p>
          <a:p>
            <a:r>
              <a:rPr dirty="0"/>
              <a:t>unpredictable cost and latency make it a poor default.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Land the sequencing advice. The failure mode in this space is picking the most sophisticated</a:t>
            </a:r>
          </a:p>
          <a:p>
            <a:r>
              <a:rPr dirty="0"/>
              <a:t>pattern because it is the most interesting, then discovering your per-request cost is</a:t>
            </a:r>
          </a:p>
          <a:p>
            <a:r>
              <a:rPr dirty="0"/>
              <a:t>twenty times what you budgeted.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Three perspectives on one question, in parallel. The wall-clock cost is the slowest</a:t>
            </a:r>
          </a:p>
          <a:p>
            <a:r>
              <a:rPr dirty="0"/>
              <a:t>participant, not the sum — that is the whole reason to reach for this.</a:t>
            </a:r>
          </a:p>
          <a:p>
            <a:endParaRPr dirty="0"/>
          </a:p>
          <a:p>
            <a:r>
              <a:rPr dirty="0"/>
              <a:t>[NOTE </a:t>
            </a:r>
            <a:r>
              <a:rPr dirty="0" err="1"/>
              <a:t>default_options</a:t>
            </a:r>
            <a:r>
              <a:rPr dirty="0"/>
              <a:t>]</a:t>
            </a:r>
          </a:p>
          <a:p>
            <a:r>
              <a:rPr dirty="0"/>
              <a:t>Each agent caps </a:t>
            </a:r>
            <a:r>
              <a:rPr dirty="0" err="1"/>
              <a:t>max_tokens</a:t>
            </a:r>
            <a:r>
              <a:rPr dirty="0"/>
              <a:t> at 500 via </a:t>
            </a:r>
            <a:r>
              <a:rPr dirty="0" err="1"/>
              <a:t>default_options</a:t>
            </a:r>
            <a:r>
              <a:rPr dirty="0"/>
              <a:t>. With three agents running</a:t>
            </a:r>
          </a:p>
          <a:p>
            <a:r>
              <a:rPr dirty="0"/>
              <a:t>concurrently against a small local model, uncapped generation will exhaust the context</a:t>
            </a:r>
          </a:p>
          <a:p>
            <a:r>
              <a:rPr dirty="0"/>
              <a:t>budget. This is a real pattern, not a workshop artifact — bound every participant in a</a:t>
            </a:r>
          </a:p>
          <a:p>
            <a:r>
              <a:rPr dirty="0"/>
              <a:t>fan-out.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author_name</a:t>
            </a:r>
            <a:r>
              <a:rPr dirty="0"/>
              <a:t>]</a:t>
            </a:r>
          </a:p>
          <a:p>
            <a:r>
              <a:rPr dirty="0"/>
              <a:t>The aggregated output preserves who said what. That is what makes the transcript useful</a:t>
            </a:r>
          </a:p>
          <a:p>
            <a:r>
              <a:rPr dirty="0"/>
              <a:t>downstream, and it is why naming agents properly matters.</a:t>
            </a:r>
          </a:p>
          <a:p>
            <a:endParaRPr dirty="0"/>
          </a:p>
          <a:p>
            <a:r>
              <a:rPr dirty="0"/>
              <a:t>[DESIGN CAUTION]</a:t>
            </a:r>
          </a:p>
          <a:p>
            <a:r>
              <a:rPr dirty="0"/>
              <a:t>Fan-out multiplies cost linearly and quality sub-linearly. Three agents is usually the</a:t>
            </a:r>
          </a:p>
          <a:p>
            <a:r>
              <a:rPr dirty="0"/>
              <a:t>sweet spot; ten near-identical agents produce ten near-identical answers and one large</a:t>
            </a:r>
          </a:p>
          <a:p>
            <a:r>
              <a:rPr dirty="0"/>
              <a:t>bill.</a:t>
            </a:r>
          </a:p>
          <a:p>
            <a:endParaRPr dirty="0"/>
          </a:p>
          <a:p>
            <a:r>
              <a:rPr dirty="0"/>
              <a:t>[DEMO CUE]</a:t>
            </a:r>
          </a:p>
          <a:p>
            <a:r>
              <a:rPr dirty="0" err="1"/>
              <a:t>uv</a:t>
            </a:r>
            <a:r>
              <a:rPr dirty="0"/>
              <a:t> run python examples/15_concurrent_orchestration.py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[DEMO SCRIPT]</a:t>
            </a:r>
          </a:p>
          <a:p>
            <a:r>
              <a:rPr dirty="0"/>
              <a:t>Order matters: the model-free ones first because they are instant, which resets confidence</a:t>
            </a:r>
          </a:p>
          <a:p>
            <a:r>
              <a:rPr dirty="0"/>
              <a:t>after any earlier hiccup. 13 is the most quotable — six workflows in one file, each printing</a:t>
            </a:r>
          </a:p>
          <a:p>
            <a:r>
              <a:rPr dirty="0"/>
              <a:t>its routing decision. 14 is the most instructive: the </a:t>
            </a:r>
            <a:r>
              <a:rPr dirty="0" err="1"/>
              <a:t>superstep</a:t>
            </a:r>
            <a:r>
              <a:rPr dirty="0"/>
              <a:t> timeline makes the execution</a:t>
            </a:r>
          </a:p>
          <a:p>
            <a:r>
              <a:rPr dirty="0"/>
              <a:t>model visible in a way the diagram cannot. Then 10 for readability and 15 for the payoff.</a:t>
            </a:r>
          </a:p>
          <a:p>
            <a:endParaRPr dirty="0"/>
          </a:p>
          <a:p>
            <a:r>
              <a:rPr dirty="0"/>
              <a:t>[LIVE EDIT]</a:t>
            </a:r>
          </a:p>
          <a:p>
            <a:r>
              <a:rPr dirty="0"/>
              <a:t>Adding an editor agent to 10 is the best live-coding moment in the deck — three lines,</a:t>
            </a:r>
          </a:p>
          <a:p>
            <a:r>
              <a:rPr dirty="0"/>
              <a:t>obviously correct, immediately runs. </a:t>
            </a:r>
            <a:r>
              <a:rPr dirty="0" err="1"/>
              <a:t>Practise</a:t>
            </a:r>
            <a:r>
              <a:rPr dirty="0"/>
              <a:t> it so you do not fumble the f-string.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For 08, resize the terminal so all three responses fit without scrolling. Scrolling past</a:t>
            </a:r>
          </a:p>
          <a:p>
            <a:r>
              <a:rPr dirty="0"/>
              <a:t>output while narrating loses the room.</a:t>
            </a:r>
          </a:p>
          <a:p>
            <a:endParaRPr dirty="0"/>
          </a:p>
          <a:p>
            <a:r>
              <a:rPr dirty="0"/>
              <a:t>[TIMING]</a:t>
            </a:r>
          </a:p>
          <a:p>
            <a:r>
              <a:rPr dirty="0"/>
              <a:t>Six minutes. This is the demo worth spending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If the audience knows ASP.NET Core, Express or Django middleware, say so immediately — the</a:t>
            </a:r>
          </a:p>
          <a:p>
            <a:r>
              <a:rPr dirty="0"/>
              <a:t>mental model transfers exactly. Pipeline, </a:t>
            </a:r>
            <a:r>
              <a:rPr dirty="0" err="1"/>
              <a:t>call_next</a:t>
            </a:r>
            <a:r>
              <a:rPr dirty="0"/>
              <a:t>, short-circuit.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Two scopes, and the nesting is the whole lesson: function middleware lives inside agent</a:t>
            </a:r>
          </a:p>
          <a:p>
            <a:r>
              <a:rPr dirty="0"/>
              <a:t>middleware. An agent middleware wrapping a run that makes six tool calls fires once; the</a:t>
            </a:r>
          </a:p>
          <a:p>
            <a:r>
              <a:rPr dirty="0"/>
              <a:t>function middleware fires six times.</a:t>
            </a:r>
          </a:p>
          <a:p>
            <a:endParaRPr dirty="0"/>
          </a:p>
          <a:p>
            <a:r>
              <a:rPr dirty="0"/>
              <a:t>[WHY THAT MATTERS]</a:t>
            </a:r>
          </a:p>
          <a:p>
            <a:r>
              <a:rPr dirty="0"/>
              <a:t>Put per-request concerns outside — authentication, request-level rate limits, total token</a:t>
            </a:r>
          </a:p>
          <a:p>
            <a:r>
              <a:rPr dirty="0"/>
              <a:t>budget. Put per-tool concerns inside — argument validation, per-tool timeouts, tool-level</a:t>
            </a:r>
          </a:p>
          <a:p>
            <a:r>
              <a:rPr dirty="0"/>
              <a:t>audit.</a:t>
            </a:r>
          </a:p>
          <a:p>
            <a:endParaRPr dirty="0"/>
          </a:p>
          <a:p>
            <a:r>
              <a:rPr dirty="0"/>
              <a:t>[THE FAMILIAR ANALOGY]</a:t>
            </a:r>
          </a:p>
          <a:p>
            <a:r>
              <a:rPr dirty="0"/>
              <a:t>Same shape as HTTP middleware in any framework they know. `</a:t>
            </a:r>
            <a:r>
              <a:rPr dirty="0" err="1"/>
              <a:t>call_next</a:t>
            </a:r>
            <a:r>
              <a:rPr dirty="0"/>
              <a:t>()` is `next()`. Not</a:t>
            </a:r>
          </a:p>
          <a:p>
            <a:r>
              <a:rPr dirty="0"/>
              <a:t>calling it short-circuits the pipeline.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Pose one: "you want to cap a single run at 10,000 tokens — which pipeline?" Then: "you want</a:t>
            </a:r>
          </a:p>
          <a:p>
            <a:r>
              <a:rPr dirty="0"/>
              <a:t>to stop any single tool taking more than 5 seconds — which one?" Two questions, and the</a:t>
            </a:r>
          </a:p>
          <a:p>
            <a:r>
              <a:rPr dirty="0"/>
              <a:t>model is locked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Same capability, three ergonomics. Do not spend long on the syntax — spend it on when to</a:t>
            </a:r>
          </a:p>
          <a:p>
            <a:r>
              <a:rPr dirty="0"/>
              <a:t>pick which.</a:t>
            </a:r>
          </a:p>
          <a:p>
            <a:endParaRPr dirty="0"/>
          </a:p>
          <a:p>
            <a:r>
              <a:rPr dirty="0"/>
              <a:t>[HOW DETECTION WORKS]</a:t>
            </a:r>
          </a:p>
          <a:p>
            <a:r>
              <a:rPr dirty="0"/>
              <a:t>The framework figures out whether something is agent or function middleware from either the</a:t>
            </a:r>
          </a:p>
          <a:p>
            <a:r>
              <a:rPr dirty="0"/>
              <a:t>decorator or the context parameter's type annotation. Give it both and it validates they</a:t>
            </a:r>
          </a:p>
          <a:p>
            <a:r>
              <a:rPr dirty="0"/>
              <a:t>agree. Give it neither and it raises rather than guessing — which is the right call, and</a:t>
            </a:r>
          </a:p>
          <a:p>
            <a:r>
              <a:rPr dirty="0"/>
              <a:t>example 18's docstring spells out all four cases.</a:t>
            </a:r>
          </a:p>
          <a:p>
            <a:endParaRPr dirty="0"/>
          </a:p>
          <a:p>
            <a:r>
              <a:rPr dirty="0"/>
              <a:t>[PRACTICAL GUIDANCE]</a:t>
            </a:r>
          </a:p>
          <a:p>
            <a:r>
              <a:rPr dirty="0"/>
              <a:t>Class-based for anything with dependencies you want to inject and mock. Function-based for</a:t>
            </a:r>
          </a:p>
          <a:p>
            <a:r>
              <a:rPr dirty="0"/>
              <a:t>five-line stateless concerns. Decorator when you want intent legible at a glance without</a:t>
            </a:r>
          </a:p>
          <a:p>
            <a:r>
              <a:rPr dirty="0"/>
              <a:t>importing context types.</a:t>
            </a:r>
          </a:p>
          <a:p>
            <a:endParaRPr dirty="0"/>
          </a:p>
          <a:p>
            <a:r>
              <a:rPr dirty="0"/>
              <a:t>[NOTE THE REGISTRATION]</a:t>
            </a:r>
          </a:p>
          <a:p>
            <a:r>
              <a:rPr dirty="0"/>
              <a:t>Both kinds go in the same `middleware=` list. Nothing to separate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Two </a:t>
            </a:r>
            <a:r>
              <a:rPr dirty="0" err="1"/>
              <a:t>middlewares</a:t>
            </a:r>
            <a:r>
              <a:rPr dirty="0"/>
              <a:t>, two shapes. The security one short-circuits; the logging one wraps.</a:t>
            </a:r>
          </a:p>
          <a:p>
            <a:endParaRPr dirty="0"/>
          </a:p>
          <a:p>
            <a:r>
              <a:rPr dirty="0"/>
              <a:t>[THE KEY LINE]</a:t>
            </a:r>
          </a:p>
          <a:p>
            <a:r>
              <a:rPr dirty="0"/>
              <a:t>`return` without awaiting </a:t>
            </a:r>
            <a:r>
              <a:rPr dirty="0" err="1"/>
              <a:t>call_next</a:t>
            </a:r>
            <a:r>
              <a:rPr dirty="0"/>
              <a:t>. That is the short-circuit, and it means the model is</a:t>
            </a:r>
          </a:p>
          <a:p>
            <a:r>
              <a:rPr dirty="0"/>
              <a:t>never called at all — no tokens, no latency, no chance of leaking whatever triggered the</a:t>
            </a:r>
          </a:p>
          <a:p>
            <a:r>
              <a:rPr dirty="0"/>
              <a:t>block. Compare with post-hoc output filtering, which pays for the generation and then</a:t>
            </a:r>
          </a:p>
          <a:p>
            <a:r>
              <a:rPr dirty="0"/>
              <a:t>throws it away.</a:t>
            </a:r>
          </a:p>
          <a:p>
            <a:endParaRPr dirty="0"/>
          </a:p>
          <a:p>
            <a:r>
              <a:rPr dirty="0"/>
              <a:t>[DO NOT FORGET </a:t>
            </a:r>
            <a:r>
              <a:rPr dirty="0" err="1"/>
              <a:t>context.result</a:t>
            </a:r>
            <a:r>
              <a:rPr dirty="0"/>
              <a:t>]</a:t>
            </a:r>
          </a:p>
          <a:p>
            <a:r>
              <a:rPr dirty="0"/>
              <a:t>If you short-circuit without setting a result, the caller gets nothing back and it looks</a:t>
            </a:r>
          </a:p>
          <a:p>
            <a:r>
              <a:rPr dirty="0"/>
              <a:t>like a bug. Setting a clear, user-appropriate message is part of the pattern.</a:t>
            </a:r>
          </a:p>
          <a:p>
            <a:endParaRPr dirty="0"/>
          </a:p>
          <a:p>
            <a:r>
              <a:rPr dirty="0"/>
              <a:t>[BE HONEST ABOUT THE EXAMPLE]</a:t>
            </a:r>
          </a:p>
          <a:p>
            <a:r>
              <a:rPr dirty="0"/>
              <a:t>Substring matching for "password" and "secret" is a teaching device, not a content filter.</a:t>
            </a:r>
          </a:p>
          <a:p>
            <a:r>
              <a:rPr dirty="0"/>
              <a:t>Real deployments use a classifier or a dedicated safety service. Say so — this audience</a:t>
            </a:r>
          </a:p>
          <a:p>
            <a:r>
              <a:rPr dirty="0"/>
              <a:t>will notice.</a:t>
            </a:r>
          </a:p>
          <a:p>
            <a:endParaRPr dirty="0"/>
          </a:p>
          <a:p>
            <a:r>
              <a:rPr dirty="0"/>
              <a:t>[DEMO CUE]</a:t>
            </a:r>
          </a:p>
          <a:p>
            <a:r>
              <a:rPr dirty="0" err="1"/>
              <a:t>uv</a:t>
            </a:r>
            <a:r>
              <a:rPr dirty="0"/>
              <a:t> run python examples/16_class_based_middleware.py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[IMPORTANT — repo gotcha]</a:t>
            </a:r>
          </a:p>
          <a:p>
            <a:r>
              <a:rPr dirty="0"/>
              <a:t>examples/17 is Azure Foundry only and requires `</a:t>
            </a:r>
            <a:r>
              <a:rPr dirty="0" err="1"/>
              <a:t>az</a:t>
            </a:r>
            <a:r>
              <a:rPr dirty="0"/>
              <a:t> login`. Do not run it live unless you</a:t>
            </a:r>
          </a:p>
          <a:p>
            <a:r>
              <a:rPr dirty="0"/>
              <a:t>have already authenticated. 16 and 18 both run against the local </a:t>
            </a:r>
            <a:r>
              <a:rPr dirty="0" err="1"/>
              <a:t>vLLM</a:t>
            </a:r>
            <a:r>
              <a:rPr dirty="0"/>
              <a:t> server.</a:t>
            </a:r>
          </a:p>
          <a:p>
            <a:endParaRPr dirty="0"/>
          </a:p>
          <a:p>
            <a:r>
              <a:rPr dirty="0"/>
              <a:t>[DEMO SCRIPT]</a:t>
            </a:r>
          </a:p>
          <a:p>
            <a:r>
              <a:rPr dirty="0"/>
              <a:t>Run 12. The output interleaves security check, tool logging and the answer. Point at the</a:t>
            </a:r>
          </a:p>
          <a:p>
            <a:r>
              <a:rPr dirty="0"/>
              <a:t>ordering — it is the onion, visible in </a:t>
            </a:r>
            <a:r>
              <a:rPr dirty="0" err="1"/>
              <a:t>stdout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[THE BLOCKED CASE]</a:t>
            </a:r>
          </a:p>
          <a:p>
            <a:r>
              <a:rPr dirty="0"/>
              <a:t>The second query is blocked and the tool never fires. Point out the absence of the logging</a:t>
            </a:r>
          </a:p>
          <a:p>
            <a:r>
              <a:rPr dirty="0"/>
              <a:t>line: no model call, no tool call, no cost.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Add a print to the tool body before running so the audience can see for themselves that it</a:t>
            </a:r>
          </a:p>
          <a:p>
            <a:r>
              <a:rPr dirty="0"/>
              <a:t>did not execute on the blocked path. Absence of output is a weak signal otherwise.</a:t>
            </a:r>
          </a:p>
          <a:p>
            <a:endParaRPr dirty="0"/>
          </a:p>
          <a:p>
            <a:r>
              <a:rPr dirty="0"/>
              <a:t>[TIMING]</a:t>
            </a:r>
          </a:p>
          <a:p>
            <a:r>
              <a:rPr dirty="0"/>
              <a:t>Four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Energy check — this is where people start packing up. Tell them the last module is the one</a:t>
            </a:r>
          </a:p>
          <a:p>
            <a:r>
              <a:rPr dirty="0"/>
              <a:t>their future self will thank them for, and that the best-practices slide is the one to</a:t>
            </a:r>
          </a:p>
          <a:p>
            <a:r>
              <a:rPr dirty="0"/>
              <a:t>photograph.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MCP </a:t>
            </a:r>
            <a:r>
              <a:rPr dirty="0" err="1"/>
              <a:t>standardises</a:t>
            </a:r>
            <a:r>
              <a:rPr dirty="0"/>
              <a:t> agent-to-tool. A2A </a:t>
            </a:r>
            <a:r>
              <a:rPr dirty="0" err="1"/>
              <a:t>standardises</a:t>
            </a:r>
            <a:r>
              <a:rPr dirty="0"/>
              <a:t> agent-to-agent. Different problems, same</a:t>
            </a:r>
          </a:p>
          <a:p>
            <a:r>
              <a:rPr dirty="0"/>
              <a:t>instinct: publish a contract, discover at runtime.</a:t>
            </a:r>
          </a:p>
          <a:p>
            <a:endParaRPr dirty="0"/>
          </a:p>
          <a:p>
            <a:r>
              <a:rPr dirty="0"/>
              <a:t>[THE AGENT CARD]</a:t>
            </a:r>
          </a:p>
          <a:p>
            <a:r>
              <a:rPr dirty="0"/>
              <a:t>Name, version, skills, capabilities, supported interfaces. A remote agent advertises what</a:t>
            </a:r>
          </a:p>
          <a:p>
            <a:r>
              <a:rPr dirty="0"/>
              <a:t>it can do and a client resolves that card before calling. This is service discovery for</a:t>
            </a:r>
          </a:p>
          <a:p>
            <a:r>
              <a:rPr dirty="0"/>
              <a:t>agents, and it is what makes cross-team agent composition tractable.</a:t>
            </a:r>
          </a:p>
          <a:p>
            <a:endParaRPr dirty="0"/>
          </a:p>
          <a:p>
            <a:r>
              <a:rPr dirty="0"/>
              <a:t>[REPO NOTE]</a:t>
            </a:r>
          </a:p>
          <a:p>
            <a:r>
              <a:rPr dirty="0"/>
              <a:t>others/02 serves on :9999 via Starlette; others/03 resolves the card and calls it. Two</a:t>
            </a:r>
          </a:p>
          <a:p>
            <a:r>
              <a:rPr dirty="0"/>
              <a:t>terminals — start the server first. Worth demonstrating if time allows because the</a:t>
            </a:r>
          </a:p>
          <a:p>
            <a:r>
              <a:rPr dirty="0"/>
              <a:t>discovery step is more convincing when you see it.</a:t>
            </a:r>
          </a:p>
          <a:p>
            <a:endParaRPr dirty="0"/>
          </a:p>
          <a:p>
            <a:r>
              <a:rPr dirty="0"/>
              <a:t>[ARCHITECT ANGLE]</a:t>
            </a:r>
          </a:p>
          <a:p>
            <a:r>
              <a:rPr dirty="0"/>
              <a:t>The interesting question is governance: who publishes cards, where is the registry, how do</a:t>
            </a:r>
          </a:p>
          <a:p>
            <a:r>
              <a:rPr dirty="0"/>
              <a:t>you authenticate and </a:t>
            </a:r>
            <a:r>
              <a:rPr dirty="0" err="1"/>
              <a:t>authorise</a:t>
            </a:r>
            <a:r>
              <a:rPr dirty="0"/>
              <a:t> cross-team calls. The protocol gives you the shape; the</a:t>
            </a:r>
          </a:p>
          <a:p>
            <a:r>
              <a:rPr dirty="0"/>
              <a:t>policy is yours. Be straight that this is early and evolving.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Worth a slide because it is how this whole workshop runs, and because "can I develop</a:t>
            </a:r>
          </a:p>
          <a:p>
            <a:r>
              <a:rPr dirty="0"/>
              <a:t>against something free" is the most common practical question.</a:t>
            </a:r>
          </a:p>
          <a:p>
            <a:endParaRPr dirty="0"/>
          </a:p>
          <a:p>
            <a:r>
              <a:rPr dirty="0"/>
              <a:t>[THE FLAGS THAT MATTER]</a:t>
            </a:r>
          </a:p>
          <a:p>
            <a:r>
              <a:rPr dirty="0"/>
              <a:t>`--enable-auto-tool-choice` plus `--tool-call-parser qwen3_coder`. Without those, tool</a:t>
            </a:r>
          </a:p>
          <a:p>
            <a:r>
              <a:rPr dirty="0"/>
              <a:t>calling silently does not work — the model emits text that looks like a tool call and</a:t>
            </a:r>
          </a:p>
          <a:p>
            <a:r>
              <a:rPr dirty="0"/>
              <a:t>nothing dispatches. That failure is baffling if you have not seen it before.</a:t>
            </a:r>
          </a:p>
          <a:p>
            <a:endParaRPr dirty="0"/>
          </a:p>
          <a:p>
            <a:r>
              <a:rPr dirty="0"/>
              <a:t>[THE 8K WINDOW]</a:t>
            </a:r>
          </a:p>
          <a:p>
            <a:r>
              <a:rPr dirty="0"/>
              <a:t>This single constraint explains most of the odd-looking code in the examples: </a:t>
            </a:r>
            <a:r>
              <a:rPr dirty="0" err="1"/>
              <a:t>max_tokens</a:t>
            </a:r>
            <a:r>
              <a:rPr dirty="0"/>
              <a:t> on</a:t>
            </a:r>
          </a:p>
          <a:p>
            <a:r>
              <a:rPr dirty="0"/>
              <a:t>individual calls, </a:t>
            </a:r>
            <a:r>
              <a:rPr dirty="0" err="1"/>
              <a:t>default_options</a:t>
            </a:r>
            <a:r>
              <a:rPr dirty="0"/>
              <a:t> on fan-out participants, an aggressive compaction budget</a:t>
            </a:r>
          </a:p>
          <a:p>
            <a:r>
              <a:rPr dirty="0"/>
              <a:t>in example 07.</a:t>
            </a:r>
          </a:p>
          <a:p>
            <a:endParaRPr dirty="0"/>
          </a:p>
          <a:p>
            <a:r>
              <a:rPr dirty="0"/>
              <a:t>[THE ARGUMENT FOR SMALL MODELS]</a:t>
            </a:r>
          </a:p>
          <a:p>
            <a:r>
              <a:rPr dirty="0"/>
              <a:t>Make the quality point: if your tool descriptions are vague, a frontier model papers over</a:t>
            </a:r>
          </a:p>
          <a:p>
            <a:r>
              <a:rPr dirty="0"/>
              <a:t>it and a 4B model does not. Developing against the small model surfaces prompt weaknesses</a:t>
            </a:r>
          </a:p>
          <a:p>
            <a:r>
              <a:rPr dirty="0"/>
              <a:t>early.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Mention prefix caching — it makes repeated system prompts much cheaper locally, which</a:t>
            </a:r>
          </a:p>
          <a:p>
            <a:r>
              <a:rPr dirty="0"/>
              <a:t>matters when you are running the same example twenty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This is the summary slide. Everything from the last eight modules, in one picture.</a:t>
            </a:r>
          </a:p>
          <a:p>
            <a:endParaRPr dirty="0"/>
          </a:p>
          <a:p>
            <a:r>
              <a:rPr dirty="0"/>
              <a:t>[READ IT OUTSIDE IN]</a:t>
            </a:r>
          </a:p>
          <a:p>
            <a:r>
              <a:rPr dirty="0"/>
              <a:t>A front end talks to your service over AG-UI or plain HTTP. Middleware is the outermost</a:t>
            </a:r>
          </a:p>
          <a:p>
            <a:r>
              <a:rPr dirty="0"/>
              <a:t>ring — identity, guardrails, budgets, telemetry apply before anything else happens. Inside</a:t>
            </a:r>
          </a:p>
          <a:p>
            <a:r>
              <a:rPr dirty="0"/>
              <a:t>that, a workflow gives deterministic structure. Agents are the nodes. Context providers</a:t>
            </a:r>
          </a:p>
          <a:p>
            <a:r>
              <a:rPr dirty="0"/>
              <a:t>and tools hang off the agents. Everything external — model, memory store, MCP servers,</a:t>
            </a:r>
          </a:p>
          <a:p>
            <a:r>
              <a:rPr dirty="0"/>
              <a:t>other agents, telemetry — is on the far side of a governed boundary.</a:t>
            </a:r>
          </a:p>
          <a:p>
            <a:endParaRPr dirty="0"/>
          </a:p>
          <a:p>
            <a:r>
              <a:rPr dirty="0"/>
              <a:t>[THE ONE-LINER]</a:t>
            </a:r>
          </a:p>
          <a:p>
            <a:r>
              <a:rPr dirty="0"/>
              <a:t>"Deterministic skeleton, agentic joints, governed edges." If people remember one sentence</a:t>
            </a:r>
          </a:p>
          <a:p>
            <a:r>
              <a:rPr dirty="0"/>
              <a:t>from today, this is a good candidate.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Invite the room to place their own system on this diagram. What is missing for them is</a:t>
            </a:r>
          </a:p>
          <a:p>
            <a:r>
              <a:rPr dirty="0"/>
              <a:t>usually middleware or observability — and that is a useful thing for them to notice out</a:t>
            </a:r>
          </a:p>
          <a:p>
            <a:r>
              <a:rPr dirty="0"/>
              <a:t>loud before they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Twenty examples in teaching order — the numbers are the order to work through them, top of</a:t>
            </a:r>
          </a:p>
          <a:p>
            <a:r>
              <a:rPr dirty="0"/>
              <a:t>the left column to bottom of the right. </a:t>
            </a:r>
            <a:r>
              <a:rPr dirty="0" err="1"/>
              <a:t>Colour</a:t>
            </a:r>
            <a:r>
              <a:rPr dirty="0"/>
              <a:t> groups the modules: agents and memory,</a:t>
            </a:r>
          </a:p>
          <a:p>
            <a:r>
              <a:rPr dirty="0"/>
              <a:t>workflows, middleware, production.</a:t>
            </a:r>
          </a:p>
          <a:p>
            <a:endParaRPr dirty="0"/>
          </a:p>
          <a:p>
            <a:r>
              <a:rPr dirty="0"/>
              <a:t>[POINT AT THE MODEL-FREE ONES]</a:t>
            </a:r>
          </a:p>
          <a:p>
            <a:r>
              <a:rPr dirty="0"/>
              <a:t>11, 12, 13 and 14 need no model at all, and 08 needs one only for its </a:t>
            </a:r>
            <a:r>
              <a:rPr dirty="0" err="1"/>
              <a:t>summarisation</a:t>
            </a:r>
            <a:endParaRPr dirty="0"/>
          </a:p>
          <a:p>
            <a:r>
              <a:rPr dirty="0"/>
              <a:t>strategy. That is a third of the lab people can run before the model server finishes</a:t>
            </a:r>
          </a:p>
          <a:p>
            <a:r>
              <a:rPr dirty="0"/>
              <a:t>warming up.</a:t>
            </a:r>
          </a:p>
          <a:p>
            <a:endParaRPr dirty="0"/>
          </a:p>
          <a:p>
            <a:r>
              <a:rPr dirty="0"/>
              <a:t>[HOMEWORK SUGGESTION]</a:t>
            </a:r>
          </a:p>
          <a:p>
            <a:r>
              <a:rPr dirty="0"/>
              <a:t>Point people at 20 and 07 as the two worth reading afterwards — they are the most</a:t>
            </a:r>
          </a:p>
          <a:p>
            <a:r>
              <a:rPr dirty="0"/>
              <a:t>production-relevant and the least covered by the live demos.</a:t>
            </a:r>
          </a:p>
          <a:p>
            <a:endParaRPr dirty="0"/>
          </a:p>
          <a:p>
            <a:r>
              <a:rPr dirty="0"/>
              <a:t>[REPO CAVEATS TO REPEAT]</a:t>
            </a:r>
          </a:p>
          <a:p>
            <a:r>
              <a:rPr dirty="0"/>
              <a:t>Example 17 needs Azure Foundry and `</a:t>
            </a:r>
            <a:r>
              <a:rPr dirty="0" err="1"/>
              <a:t>az</a:t>
            </a:r>
            <a:r>
              <a:rPr dirty="0"/>
              <a:t> login`. Example 07 needs an </a:t>
            </a:r>
            <a:r>
              <a:rPr dirty="0" err="1"/>
              <a:t>Ollama</a:t>
            </a:r>
            <a:r>
              <a:rPr dirty="0"/>
              <a:t> endpoint on</a:t>
            </a:r>
          </a:p>
          <a:p>
            <a:r>
              <a:rPr dirty="0"/>
              <a:t>11434 for the </a:t>
            </a:r>
            <a:r>
              <a:rPr dirty="0" err="1"/>
              <a:t>summariser</a:t>
            </a:r>
            <a:r>
              <a:rPr dirty="0"/>
              <a:t>. Everything else runs against the local </a:t>
            </a:r>
            <a:r>
              <a:rPr dirty="0" err="1"/>
              <a:t>vLLM</a:t>
            </a:r>
            <a:r>
              <a:rPr dirty="0"/>
              <a:t> server.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If you are running a longer session, this is the natural point to break for hands-on time.</a:t>
            </a:r>
          </a:p>
          <a:p>
            <a:r>
              <a:rPr dirty="0"/>
              <a:t>Suggest a concrete exercise: add a second tool to 02, then make it </a:t>
            </a:r>
            <a:r>
              <a:rPr dirty="0" err="1"/>
              <a:t>always_require</a:t>
            </a:r>
            <a:r>
              <a:rPr dirty="0"/>
              <a:t> and</a:t>
            </a:r>
          </a:p>
          <a:p>
            <a:r>
              <a:rPr dirty="0"/>
              <a:t>observe what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This is the slide to land before you let people loose. Reading code and writing code are</a:t>
            </a:r>
          </a:p>
          <a:p>
            <a:r>
              <a:rPr dirty="0"/>
              <a:t>different skills, and only one of them survives contact with their own codebase on Monday.</a:t>
            </a:r>
          </a:p>
          <a:p>
            <a:endParaRPr dirty="0"/>
          </a:p>
          <a:p>
            <a:r>
              <a:rPr dirty="0"/>
              <a:t>[HOW THE EXERCISES WORK]</a:t>
            </a:r>
          </a:p>
          <a:p>
            <a:r>
              <a:rPr dirty="0"/>
              <a:t>Every file has TODOs and a set of checks at the bottom. Run it and it tells you exactly</a:t>
            </a:r>
          </a:p>
          <a:p>
            <a:r>
              <a:rPr dirty="0"/>
              <a:t>which checks fail and why. It exits non-zero until you are done, so nobody has to guess</a:t>
            </a:r>
          </a:p>
          <a:p>
            <a:r>
              <a:rPr dirty="0"/>
              <a:t>whether they finished. Worked answers sit in exercises/solutions/.</a:t>
            </a:r>
          </a:p>
          <a:p>
            <a:endParaRPr dirty="0"/>
          </a:p>
          <a:p>
            <a:r>
              <a:rPr dirty="0"/>
              <a:t>[WHICH ONES TO ASSIGN]</a:t>
            </a:r>
          </a:p>
          <a:p>
            <a:r>
              <a:rPr dirty="0"/>
              <a:t>If you have twenty minutes, do 01 and 04. 01 makes the "docstring is an API" lesson</a:t>
            </a:r>
          </a:p>
          <a:p>
            <a:r>
              <a:rPr dirty="0"/>
              <a:t>mechanical — the check reads the generated JSON schema, so a vague docstring fails. 04</a:t>
            </a:r>
          </a:p>
          <a:p>
            <a:r>
              <a:rPr dirty="0"/>
              <a:t>makes them meet a real </a:t>
            </a:r>
            <a:r>
              <a:rPr dirty="0" err="1"/>
              <a:t>WorkflowValidationError</a:t>
            </a:r>
            <a:r>
              <a:rPr dirty="0"/>
              <a:t>, which is the fastest way to </a:t>
            </a:r>
            <a:r>
              <a:rPr dirty="0" err="1"/>
              <a:t>internalise</a:t>
            </a:r>
            <a:r>
              <a:rPr dirty="0"/>
              <a:t> the</a:t>
            </a:r>
          </a:p>
          <a:p>
            <a:r>
              <a:rPr dirty="0"/>
              <a:t>context type parameters.</a:t>
            </a:r>
          </a:p>
          <a:p>
            <a:endParaRPr dirty="0"/>
          </a:p>
          <a:p>
            <a:r>
              <a:rPr dirty="0"/>
              <a:t>[THE ONE WITH THE BEST PAYOFF]</a:t>
            </a:r>
          </a:p>
          <a:p>
            <a:r>
              <a:rPr dirty="0"/>
              <a:t>03. It looks like "hit the token budget", but the budget is always hit — the composed</a:t>
            </a:r>
          </a:p>
          <a:p>
            <a:r>
              <a:rPr dirty="0"/>
              <a:t>strategy falls back to dropping whole groups. The exercise makes you notice that the blunt</a:t>
            </a:r>
          </a:p>
          <a:p>
            <a:r>
              <a:rPr dirty="0"/>
              <a:t>fallback keeps 3 messages while a tool-aware strategy keeps 8 at the same budget. That is a</a:t>
            </a:r>
          </a:p>
          <a:p>
            <a:r>
              <a:rPr dirty="0"/>
              <a:t>real production insight and it lands much harder as a discovery than as a bullet.</a:t>
            </a:r>
          </a:p>
          <a:p>
            <a:endParaRPr dirty="0"/>
          </a:p>
          <a:p>
            <a:r>
              <a:rPr dirty="0"/>
              <a:t>[LOGISTICS]</a:t>
            </a:r>
          </a:p>
          <a:p>
            <a:r>
              <a:rPr dirty="0"/>
              <a:t>Five of the eight need no model, so hand these out early — people can start while the model</a:t>
            </a:r>
          </a:p>
          <a:p>
            <a:r>
              <a:rPr dirty="0"/>
              <a:t>server warms up. Point them at </a:t>
            </a:r>
            <a:r>
              <a:rPr dirty="0" err="1"/>
              <a:t>run_all.py</a:t>
            </a:r>
            <a:r>
              <a:rPr dirty="0"/>
              <a:t> --offline.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[TALK TRACK]</a:t>
            </a:r>
          </a:p>
          <a:p>
            <a:r>
              <a:rPr dirty="0"/>
              <a:t>Four links. The one to push hardest is python/samples in the GitHub repo — it is</a:t>
            </a:r>
          </a:p>
          <a:p>
            <a:r>
              <a:rPr dirty="0"/>
              <a:t>substantially broader than this lab and it tracks the framework as it moves.</a:t>
            </a:r>
          </a:p>
          <a:p>
            <a:endParaRPr dirty="0"/>
          </a:p>
          <a:p>
            <a:r>
              <a:rPr dirty="0"/>
              <a:t>[STRETCH GOALS]</a:t>
            </a:r>
          </a:p>
          <a:p>
            <a:r>
              <a:rPr dirty="0"/>
              <a:t>These come straight from examples/</a:t>
            </a:r>
            <a:r>
              <a:rPr dirty="0" err="1"/>
              <a:t>README.md</a:t>
            </a:r>
            <a:r>
              <a:rPr dirty="0"/>
              <a:t>. The approval one is the most instructive:</a:t>
            </a:r>
          </a:p>
          <a:p>
            <a:r>
              <a:rPr dirty="0"/>
              <a:t>flipping a single argument turns a smooth demo into a paused run that needs a human, and</a:t>
            </a:r>
          </a:p>
          <a:p>
            <a:r>
              <a:rPr dirty="0"/>
              <a:t>seeing that mechanic is worth more than reading about it.</a:t>
            </a:r>
          </a:p>
          <a:p>
            <a:endParaRPr dirty="0"/>
          </a:p>
          <a:p>
            <a:r>
              <a:rPr dirty="0"/>
              <a:t>[PRESENTER TIP]</a:t>
            </a:r>
          </a:p>
          <a:p>
            <a:r>
              <a:rPr dirty="0"/>
              <a:t>Have these links in the chat or on a handout before you show the slide — people photograph</a:t>
            </a:r>
          </a:p>
          <a:p>
            <a:r>
              <a:rPr dirty="0"/>
              <a:t>URLs badly and then never follow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[CLOSE]</a:t>
            </a:r>
          </a:p>
          <a:p>
            <a:r>
              <a:rPr dirty="0"/>
              <a:t>Land the one-liner one more time: deterministic skeleton, agentic joints, governed edges.</a:t>
            </a:r>
          </a:p>
          <a:p>
            <a:r>
              <a:rPr dirty="0"/>
              <a:t>Then get out of the way and take questions.</a:t>
            </a:r>
          </a:p>
          <a:p>
            <a:endParaRPr dirty="0"/>
          </a:p>
          <a:p>
            <a:r>
              <a:rPr dirty="0"/>
              <a:t>[QUESTIONS YOU WILL GET — have answers ready]</a:t>
            </a:r>
          </a:p>
          <a:p>
            <a:r>
              <a:rPr dirty="0"/>
              <a:t>1. "Should we migrate off </a:t>
            </a:r>
            <a:r>
              <a:rPr dirty="0" err="1"/>
              <a:t>AutoGen</a:t>
            </a:r>
            <a:r>
              <a:rPr dirty="0"/>
              <a:t> / Semantic Kernel?" — This is the forward line; migration</a:t>
            </a:r>
          </a:p>
          <a:p>
            <a:r>
              <a:rPr dirty="0"/>
              <a:t>   guidance is in the docs; do not promise timelines you do not own.</a:t>
            </a:r>
          </a:p>
          <a:p>
            <a:r>
              <a:rPr dirty="0"/>
              <a:t>2. "How does this compare to </a:t>
            </a:r>
            <a:r>
              <a:rPr dirty="0" err="1"/>
              <a:t>LangGraph</a:t>
            </a:r>
            <a:r>
              <a:rPr dirty="0"/>
              <a:t> / </a:t>
            </a:r>
            <a:r>
              <a:rPr dirty="0" err="1"/>
              <a:t>CrewAI</a:t>
            </a:r>
            <a:r>
              <a:rPr dirty="0"/>
              <a:t>?" — Be gracious. Differentiators worth</a:t>
            </a:r>
          </a:p>
          <a:p>
            <a:r>
              <a:rPr dirty="0"/>
              <a:t>   naming: standards posture (MCP, A2A, AG-UI, </a:t>
            </a:r>
            <a:r>
              <a:rPr dirty="0" err="1"/>
              <a:t>OTel</a:t>
            </a:r>
            <a:r>
              <a:rPr dirty="0"/>
              <a:t>), the .NET story, and Azure hosting</a:t>
            </a:r>
          </a:p>
          <a:p>
            <a:r>
              <a:rPr dirty="0"/>
              <a:t>   integration. Avoid trashing alternatives.</a:t>
            </a:r>
          </a:p>
          <a:p>
            <a:r>
              <a:rPr dirty="0"/>
              <a:t>3. "Is it production ready?" — Core is 1.x; several provider packages are still beta. Say</a:t>
            </a:r>
          </a:p>
          <a:p>
            <a:r>
              <a:rPr dirty="0"/>
              <a:t>   that plainly and let people make their own call.</a:t>
            </a:r>
          </a:p>
          <a:p>
            <a:r>
              <a:rPr dirty="0"/>
              <a:t>4. "What does it cost to run?" — Framework is open source; you pay for models and infra.</a:t>
            </a:r>
          </a:p>
          <a:p>
            <a:r>
              <a:rPr dirty="0"/>
              <a:t>   Point at compaction and bounded loops as the levers.</a:t>
            </a:r>
          </a:p>
          <a:p>
            <a:r>
              <a:rPr dirty="0"/>
              <a:t>5. "Can we run it fully offline?" — Yes, that is what today's setup was. </a:t>
            </a:r>
            <a:r>
              <a:rPr dirty="0" err="1"/>
              <a:t>vLLM</a:t>
            </a:r>
            <a:r>
              <a:rPr dirty="0"/>
              <a:t> or </a:t>
            </a:r>
            <a:r>
              <a:rPr dirty="0" err="1"/>
              <a:t>Ollama</a:t>
            </a:r>
            <a:r>
              <a:rPr dirty="0"/>
              <a:t>,</a:t>
            </a:r>
          </a:p>
          <a:p>
            <a:r>
              <a:rPr dirty="0"/>
              <a:t>   local MCP servers over </a:t>
            </a:r>
            <a:r>
              <a:rPr dirty="0" err="1"/>
              <a:t>stdio</a:t>
            </a:r>
            <a:r>
              <a:rPr dirty="0"/>
              <a:t>, no egress.</a:t>
            </a:r>
          </a:p>
          <a:p>
            <a:endParaRPr dirty="0"/>
          </a:p>
          <a:p>
            <a:r>
              <a:rPr dirty="0"/>
              <a:t>[IF THE ROOM IS QUIET]</a:t>
            </a:r>
          </a:p>
          <a:p>
            <a:r>
              <a:rPr dirty="0"/>
              <a:t>Ask them: "what is the first thing you would build with this?" Someone always has an answer,</a:t>
            </a:r>
          </a:p>
          <a:p>
            <a:r>
              <a:rPr dirty="0"/>
              <a:t>and it usually starts a real conversation.</a:t>
            </a:r>
          </a:p>
          <a:p>
            <a:endParaRPr dirty="0"/>
          </a:p>
          <a:p>
            <a:r>
              <a:rPr dirty="0"/>
              <a:t>[FINALLY]</a:t>
            </a:r>
          </a:p>
          <a:p>
            <a:r>
              <a:rPr dirty="0"/>
              <a:t>Remind them the repo has all fourteen examples plus the hosting samples, and that</a:t>
            </a:r>
          </a:p>
          <a:p>
            <a:r>
              <a:rPr dirty="0"/>
              <a:t>examples/</a:t>
            </a:r>
            <a:r>
              <a:rPr dirty="0" err="1"/>
              <a:t>README.md</a:t>
            </a:r>
            <a:r>
              <a:rPr dirty="0"/>
              <a:t> is the guided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642" y="97104"/>
            <a:ext cx="4134357" cy="3331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492488"/>
            <a:ext cx="3349751" cy="14113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73880" y="0"/>
            <a:ext cx="78181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6644" y="6338703"/>
            <a:ext cx="21966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383669" y="6338703"/>
            <a:ext cx="139257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76247" y="6342301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6245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09862"/>
            <a:ext cx="10963656" cy="451375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033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888410" cy="284556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88841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7424272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343955"/>
            <a:ext cx="2100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67853" y="6343955"/>
            <a:ext cx="14751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06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302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1143000"/>
            <a:ext cx="8683753" cy="309514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498848"/>
            <a:ext cx="688145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6343955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6343955"/>
            <a:ext cx="2875064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129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C53C90-8C33-0C80-CBD4-B3BEE604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58" y="1869103"/>
            <a:ext cx="9337042" cy="4906929"/>
          </a:xfrm>
        </p:spPr>
        <p:txBody>
          <a:bodyPr>
            <a:normAutofit/>
          </a:bodyPr>
          <a:lstStyle>
            <a:lvl1pPr>
              <a:defRPr sz="7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219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111" y="105196"/>
            <a:ext cx="9023561" cy="2113392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685800" indent="-4572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720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1011" y="73742"/>
            <a:ext cx="6863496" cy="2220726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4565591" cy="68580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88000" y="2726267"/>
            <a:ext cx="5916507" cy="343678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88000" y="6343955"/>
            <a:ext cx="298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800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1" y="1389134"/>
            <a:ext cx="6045390" cy="40835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776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707549"/>
            <a:ext cx="3349754" cy="272145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0" y="708184"/>
            <a:ext cx="6928103" cy="55148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552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6011" y="612648"/>
            <a:ext cx="6426389" cy="1143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7368" y="1978488"/>
            <a:ext cx="6418935" cy="42855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56010" y="6343955"/>
            <a:ext cx="33649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89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8" y="474177"/>
            <a:ext cx="6950232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1627632"/>
            <a:ext cx="6950232" cy="46862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8" y="6343955"/>
            <a:ext cx="342290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1552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75488"/>
            <a:ext cx="6858000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627632"/>
            <a:ext cx="6858000" cy="453537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80553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20623"/>
            <a:ext cx="4494189" cy="132588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1975104"/>
            <a:ext cx="4494063" cy="41569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776" y="6343955"/>
            <a:ext cx="2098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3651" y="6343955"/>
            <a:ext cx="157303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96658" y="6343955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388507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429768"/>
            <a:ext cx="3657600" cy="166722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3" y="2315569"/>
            <a:ext cx="3657600" cy="38148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7" y="6343955"/>
            <a:ext cx="163733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703447" y="6343955"/>
            <a:ext cx="949766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653213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95088" y="0"/>
            <a:ext cx="729691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320049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929554"/>
            <a:ext cx="2699254" cy="1858941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343955"/>
            <a:ext cx="140446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355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162318"/>
            <a:ext cx="3044954" cy="18928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4162318"/>
            <a:ext cx="7460029" cy="20915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472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59341"/>
            <a:ext cx="10969753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12398"/>
            <a:ext cx="4637269" cy="420769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C8422D5-19BC-1CA0-FD0B-D86260BAA3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7221" y="1912938"/>
            <a:ext cx="5741992" cy="422433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0886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06802"/>
            <a:ext cx="4672584" cy="126948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0468" y="2173850"/>
            <a:ext cx="4564763" cy="396368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05563" y="732155"/>
            <a:ext cx="5676838" cy="540537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9627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4893733"/>
            <a:ext cx="9762068" cy="105980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6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484094"/>
            <a:ext cx="10543032" cy="453614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0495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264" y="42335"/>
            <a:ext cx="11517039" cy="61722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8000" b="1"/>
            </a:lvl1pPr>
            <a:lvl2pPr marL="228600" indent="0">
              <a:lnSpc>
                <a:spcPct val="90000"/>
              </a:lnSpc>
              <a:buNone/>
              <a:defRPr sz="7200" b="1"/>
            </a:lvl2pPr>
            <a:lvl3pPr marL="457200" indent="0">
              <a:lnSpc>
                <a:spcPct val="90000"/>
              </a:lnSpc>
              <a:buNone/>
              <a:defRPr sz="66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54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8840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5029200"/>
            <a:ext cx="9198864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3324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4909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741152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825625"/>
            <a:ext cx="507492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8563" y="1825625"/>
            <a:ext cx="5075237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32696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12064"/>
            <a:ext cx="10745788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387600"/>
            <a:ext cx="5075238" cy="37861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0468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387600"/>
            <a:ext cx="5075556" cy="37861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5564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963656" cy="96926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6229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97060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" y="89808"/>
            <a:ext cx="11462003" cy="2514600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118757"/>
            <a:ext cx="10963528" cy="2620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41605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6069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4649"/>
            <a:ext cx="10963655" cy="9723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09862"/>
            <a:ext cx="10963656" cy="4513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6424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38" r:id="rId10"/>
    <p:sldLayoutId id="2147483739" r:id="rId11"/>
    <p:sldLayoutId id="2147483740" r:id="rId12"/>
    <p:sldLayoutId id="2147483741" r:id="rId13"/>
    <p:sldLayoutId id="2147483742" r:id="rId14"/>
    <p:sldLayoutId id="2147483743" r:id="rId15"/>
    <p:sldLayoutId id="2147483744" r:id="rId16"/>
    <p:sldLayoutId id="2147483745" r:id="rId17"/>
    <p:sldLayoutId id="2147483746" r:id="rId18"/>
    <p:sldLayoutId id="2147483747" r:id="rId19"/>
    <p:sldLayoutId id="2147483748" r:id="rId20"/>
    <p:sldLayoutId id="2147483749" r:id="rId21"/>
    <p:sldLayoutId id="2147483750" r:id="rId22"/>
    <p:sldLayoutId id="2147483751" r:id="rId23"/>
    <p:sldLayoutId id="2147483752" r:id="rId24"/>
    <p:sldLayoutId id="2147483753" r:id="rId25"/>
    <p:sldLayoutId id="2147483754" r:id="rId26"/>
    <p:sldLayoutId id="2147483755" r:id="rId27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800" b="1" kern="1200" spc="-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7296">
          <p15:clr>
            <a:srgbClr val="F26B43"/>
          </p15:clr>
        </p15:guide>
        <p15:guide id="1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82296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1481328"/>
            <a:ext cx="76809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0E6FF"/>
                </a:solidFill>
                <a:latin typeface="Segoe UI"/>
              </a:rPr>
              <a:t>MICROSOFT BUILD  ·  DEVELOPER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93392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E8EDF5"/>
                </a:solidFill>
                <a:latin typeface="Segoe UI Light"/>
              </a:rPr>
              <a:t>Microsoft Agent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962656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0078D4"/>
                </a:solidFill>
                <a:latin typeface="Segoe UI Light"/>
              </a:rPr>
              <a:t>Building Production-Ready AI Agents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3913632"/>
            <a:ext cx="14630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4224528"/>
            <a:ext cx="8412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A hands-on workshop — every concept below ships as a runnable Python example.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956048"/>
            <a:ext cx="1106424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47672" y="4956048"/>
            <a:ext cx="1001268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76956" y="4956048"/>
            <a:ext cx="1106424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Memory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1396" y="4956048"/>
            <a:ext cx="1421892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9B7CF6"/>
                </a:solidFill>
                <a:latin typeface="Segoe UI"/>
              </a:rPr>
              <a:t>Workflows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61304" y="4956048"/>
            <a:ext cx="790956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9B7CF6"/>
                </a:solidFill>
                <a:latin typeface="Segoe UI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0276" y="4956048"/>
            <a:ext cx="1527048" cy="34747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9B7CF6"/>
                </a:solidFill>
                <a:latin typeface="Segoe UI"/>
              </a:rPr>
              <a:t>Middleware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5632704"/>
            <a:ext cx="45720" cy="5669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0976" y="5614416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Satendra Kumar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592531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780"/>
                </a:solidFill>
                <a:latin typeface="Segoe UI"/>
              </a:rPr>
              <a:t>agent-framework 1.13  ·  Python 3.13  ·  uv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IN" sz="3000" b="1" i="0" dirty="0">
                <a:solidFill>
                  <a:srgbClr val="E8EDF5"/>
                </a:solidFill>
                <a:latin typeface="Segoe UI Light"/>
              </a:rPr>
              <a:t>Eight </a:t>
            </a:r>
            <a:r>
              <a:rPr sz="3000" b="1" i="0" dirty="0">
                <a:solidFill>
                  <a:srgbClr val="E8EDF5"/>
                </a:solidFill>
                <a:latin typeface="Segoe UI Light"/>
              </a:rPr>
              <a:t>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50292" cy="93268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184708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78D4"/>
                </a:solidFill>
                <a:latin typeface="Segoe UI Ligh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3352" y="1837944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Why a 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3352" y="2167128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The gap between a completion and an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664208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91072" y="1664208"/>
            <a:ext cx="50292" cy="93268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65392" y="184708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78D4"/>
                </a:solidFill>
                <a:latin typeface="Segoe UI Light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51192" y="1837944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Core concepts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51192" y="2167128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Clients, agents, sessions, the run lifecycle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779776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13232" y="2779776"/>
            <a:ext cx="50292" cy="93268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7552" y="2962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50E6FF"/>
                </a:solidFill>
                <a:latin typeface="Segoe UI Ligh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3352" y="2953512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73352" y="3282696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Typed functions, the call loop, approvals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2779776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91072" y="2779776"/>
            <a:ext cx="50292" cy="93268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65392" y="2962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50E6FF"/>
                </a:solidFill>
                <a:latin typeface="Segoe UI Light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1192" y="2953512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Memory &amp;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1192" y="3282696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Sessions, providers, persistence, compaction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895344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13232" y="3895344"/>
            <a:ext cx="50292" cy="93268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7552" y="407822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9B7CF6"/>
                </a:solidFill>
                <a:latin typeface="Segoe UI Light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73352" y="4069080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MCP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73352" y="4398264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Standardised tool servers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91072" y="3895344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91072" y="3895344"/>
            <a:ext cx="50292" cy="93268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65392" y="407822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9B7CF6"/>
                </a:solidFill>
                <a:latin typeface="Segoe UI Light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51192" y="4069080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Workflows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51192" y="4398264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Executors, edges, execution, orchestration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010912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13232" y="5010912"/>
            <a:ext cx="50292" cy="93268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87552" y="519379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4ADE80"/>
                </a:solidFill>
                <a:latin typeface="Segoe UI Light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73352" y="5184648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Middleware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73352" y="5513832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Guardrails and cross-cutting concerns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91072" y="5010912"/>
            <a:ext cx="521208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291072" y="5010912"/>
            <a:ext cx="50292" cy="93268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65392" y="519379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4ADE80"/>
                </a:solidFill>
                <a:latin typeface="Segoe UI Light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1192" y="5184648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IN" sz="1600" b="1" i="0" dirty="0">
                <a:solidFill>
                  <a:srgbClr val="E8EDF5"/>
                </a:solidFill>
                <a:latin typeface="Segoe UI"/>
              </a:rPr>
              <a:t>A2A Protocol</a:t>
            </a:r>
            <a:endParaRPr sz="1600" b="1" i="0" dirty="0">
              <a:solidFill>
                <a:srgbClr val="E8EDF5"/>
              </a:solidFill>
              <a:latin typeface="Segoe U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251192" y="5513832"/>
            <a:ext cx="402336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50" dirty="0">
                <a:solidFill>
                  <a:srgbClr val="8B97AC"/>
                </a:solidFill>
                <a:latin typeface="Segoe UI"/>
              </a:rPr>
              <a:t>Agent to agent talks</a:t>
            </a:r>
            <a:endParaRPr sz="1150" b="0" i="0" dirty="0">
              <a:solidFill>
                <a:srgbClr val="8B97AC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Why a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What actually breaks when you wire an agent loop by hand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gap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39" y="4133087"/>
            <a:ext cx="215798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hand-rolled cost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38927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lineage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5663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packages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 completion is not an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74519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21305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B97AC"/>
                </a:solidFill>
                <a:latin typeface="Segoe UI"/>
              </a:rPr>
              <a:t>CHAT COMPLETION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496312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8EDF5"/>
                </a:solidFill>
                <a:latin typeface="Segoe UI"/>
              </a:rPr>
              <a:t>One shot. Stateless.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990087"/>
            <a:ext cx="4206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prompt in → tokens out. Everything it knows, you put in the prompt. Everything it does, you do afterwards.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880360"/>
            <a:ext cx="777240" cy="274320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793992" y="1874519"/>
            <a:ext cx="4709160" cy="22860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04888" y="213055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04888" y="249631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8EDF5"/>
                </a:solidFill>
                <a:latin typeface="Segoe UI"/>
              </a:rPr>
              <a:t>Loops. Acts. Remembers.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4888" y="2990087"/>
            <a:ext cx="4023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Decides to call a tool, reads the result, decides again — until the goal is met or a budget runs 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590288"/>
            <a:ext cx="107652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EDF5"/>
                </a:solidFill>
                <a:latin typeface="Segoe UI Light"/>
              </a:rPr>
              <a:t>The loop is ten lines. Everything around the loop is the hard part.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102352"/>
            <a:ext cx="21323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state across turns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4484" y="5102352"/>
            <a:ext cx="156179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tool schemas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5102352"/>
            <a:ext cx="21323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retries &amp; timeouts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96404" y="5102352"/>
            <a:ext cx="12765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approvals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91779" y="5102352"/>
            <a:ext cx="175199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context limits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62641" y="5102352"/>
            <a:ext cx="99120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traces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541264"/>
            <a:ext cx="12765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cost caps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08606" y="5541264"/>
            <a:ext cx="127650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A6780"/>
                </a:solidFill>
                <a:latin typeface="Segoe UI"/>
              </a:rPr>
              <a:t>streaming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What you end up writing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6479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9264" y="1664208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Message plumbing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1947672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Roles, tool-call IDs, multi-part content, provider drift.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606040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9264" y="2505456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Schema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788920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Python signatures → JSON Schema, kept in sync by hand.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472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9264" y="3346704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The tool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630168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Parse, dispatch, serialise results, guard against loops.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28853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9264" y="4187952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Conversation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4471416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Store, load, trim — and decide what 'trim' means.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176479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55664" y="1664208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Provider swaps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1947672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Each SDK disagrees about streaming, tools, and errors.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2606040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55664" y="2505456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Human 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2788920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Pausing mid-loop and resuming is genuinely hard.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34472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55664" y="3346704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Telemetry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3630168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Spans per turn, per tool, per token — retrofitted, always.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428853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55664" y="4187952"/>
            <a:ext cx="4773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Multi-agent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4471416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Once there are two agents, you have written an orchestrator.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5230368"/>
            <a:ext cx="10765231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13232" y="5230368"/>
            <a:ext cx="50292" cy="89611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THE ACTUAL ARGUMENT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" y="5650992"/>
            <a:ext cx="10308031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None of these are hard problems. They are all boring problems — and you will solve each one slightly differently in every service you 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Microsoft Agent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E8EDF5"/>
                </a:solidFill>
                <a:latin typeface="Segoe UI Light"/>
              </a:rPr>
              <a:t>One SDK and runtime for agents and multi-agent workflows — Python and .NET.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395728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E8EDF5"/>
                </a:solidFill>
                <a:latin typeface="Segoe UI"/>
              </a:rPr>
              <a:t>AutoGen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8B97AC"/>
                </a:solidFill>
                <a:latin typeface="Segoe UI"/>
              </a:rPr>
              <a:t>research velocity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5A6780"/>
                </a:solidFill>
                <a:latin typeface="Segoe UI"/>
              </a:rPr>
              <a:t>simple multi-agent abstractions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4023360"/>
            <a:ext cx="3246120" cy="14173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E8EDF5"/>
                </a:solidFill>
                <a:latin typeface="Segoe UI"/>
              </a:rPr>
              <a:t>Semantic Kernel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8B97AC"/>
                </a:solidFill>
                <a:latin typeface="Segoe UI"/>
              </a:rPr>
              <a:t>enterprise hardening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5A6780"/>
                </a:solidFill>
                <a:latin typeface="Segoe UI"/>
              </a:rPr>
              <a:t>state, telemetry, connectors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69663" y="3694176"/>
            <a:ext cx="822960" cy="292608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39512" y="2395728"/>
            <a:ext cx="3200400" cy="3044952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50E6FF"/>
                </a:solidFill>
                <a:latin typeface="Segoe UI"/>
              </a:rPr>
              <a:t>Agent Framework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8B97AC"/>
                </a:solidFill>
                <a:latin typeface="Segoe UI"/>
              </a:rPr>
              <a:t> 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one object model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one runtime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graph workflows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E8EDF5"/>
                </a:solidFill>
                <a:latin typeface="Segoe UI"/>
              </a:rPr>
              <a:t>open source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395728"/>
            <a:ext cx="283464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E8EDF5"/>
                </a:solidFill>
                <a:latin typeface="Segoe UI"/>
              </a:rPr>
              <a:t>Durable workflows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typed graph, checkpoints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456432"/>
            <a:ext cx="283464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E8EDF5"/>
                </a:solidFill>
                <a:latin typeface="Segoe UI"/>
              </a:rPr>
              <a:t>Open standards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MCP · A2A · AG-UI · OTel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4517136"/>
            <a:ext cx="2834640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E8EDF5"/>
                </a:solidFill>
                <a:latin typeface="Segoe UI"/>
              </a:rPr>
              <a:t>Provider-neutral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swap the client, keep the agent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WHY A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How the packages are laid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10765231" cy="1078992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1874519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50E6FF"/>
                </a:solidFill>
                <a:latin typeface="Consolas"/>
              </a:rPr>
              <a:t>agent_framework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231136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Agent · tool · AgentSession · ContextProvider · WorkflowBuilder · Executor · middleware · compaction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999232"/>
            <a:ext cx="3493008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13232" y="2999232"/>
            <a:ext cx="3493008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3200400"/>
            <a:ext cx="30358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Model providers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56616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openai  ·  azure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384048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foundry  ·  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411480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gemini  ·  bedrock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438912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mistral  ·  ollama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66344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claude  ·  copilotstudio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2999232"/>
            <a:ext cx="3493008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89120" y="2999232"/>
            <a:ext cx="3493008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45152" y="3200400"/>
            <a:ext cx="30358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Memory &amp; stores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2" y="356616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redis  ·  mem0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384048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azure_cosmos  ·  azure_ai_search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2999232"/>
            <a:ext cx="3493008" cy="21488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65008" y="2999232"/>
            <a:ext cx="3493008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3200400"/>
            <a:ext cx="30358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Surfaces &amp; hosting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56616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devui  ·  ag_ui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84048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a2a  ·  azurefunctions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11480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durabletask  ·  chatkit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389120"/>
            <a:ext cx="3035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Consolas"/>
              </a:rPr>
              <a:t>foundry_hosting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Five primitives, and the lifecycle that connects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609343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chat 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73551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87567" y="4133087"/>
            <a:ext cx="215798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context provider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5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lifecycle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Five primitives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828800"/>
            <a:ext cx="2048256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536192" y="2121408"/>
            <a:ext cx="402336" cy="402336"/>
          </a:xfrm>
          <a:prstGeom prst="ellipse">
            <a:avLst/>
          </a:prstGeom>
          <a:noFill/>
          <a:ln w="1905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221284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50E6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06624"/>
            <a:ext cx="16824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Chat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723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0E6FF"/>
                </a:solidFill>
                <a:latin typeface="Consolas"/>
              </a:rPr>
              <a:t>OpenAIChatCompletionClient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456432"/>
            <a:ext cx="16824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Talks to a model. Swappable.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907792" y="1828800"/>
            <a:ext cx="2048256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730752" y="2121408"/>
            <a:ext cx="402336" cy="402336"/>
          </a:xfrm>
          <a:prstGeom prst="ellipse">
            <a:avLst/>
          </a:prstGeom>
          <a:noFill/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07792" y="221284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78D4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90672" y="2706624"/>
            <a:ext cx="16824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0723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0078D4"/>
                </a:solidFill>
                <a:latin typeface="Consolas"/>
              </a:rPr>
              <a:t>Agent(...)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0672" y="3456432"/>
            <a:ext cx="16824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Instructions + tools + client. The unit of behaviour.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0235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102352" y="1828800"/>
            <a:ext cx="2048256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925312" y="2121408"/>
            <a:ext cx="402336" cy="402336"/>
          </a:xfrm>
          <a:prstGeom prst="ellipse">
            <a:avLst/>
          </a:prstGeom>
          <a:noFill/>
          <a:ln w="1905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02352" y="221284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9B7CF6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2706624"/>
            <a:ext cx="16824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Tool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30723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9B7CF6"/>
                </a:solidFill>
                <a:latin typeface="Consolas"/>
              </a:rPr>
              <a:t>@tool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5232" y="3456432"/>
            <a:ext cx="16824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 typed Python function the model may call.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9691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296912" y="1828800"/>
            <a:ext cx="2048256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119872" y="2121408"/>
            <a:ext cx="402336" cy="402336"/>
          </a:xfrm>
          <a:prstGeom prst="ellipse">
            <a:avLst/>
          </a:prstGeom>
          <a:noFill/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96912" y="221284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BBF24"/>
                </a:solidFill>
                <a:latin typeface="Segoe U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2706624"/>
            <a:ext cx="16824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Session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0723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BBF24"/>
                </a:solidFill>
                <a:latin typeface="Consolas"/>
              </a:rPr>
              <a:t>agent.create_session()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3456432"/>
            <a:ext cx="16824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Carries conversation state across runs.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91472" y="1828800"/>
            <a:ext cx="2048256" cy="27889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491472" y="1828800"/>
            <a:ext cx="2048256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10314432" y="2121408"/>
            <a:ext cx="402336" cy="402336"/>
          </a:xfrm>
          <a:prstGeom prst="ellipse">
            <a:avLst/>
          </a:prstGeom>
          <a:noFill/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91472" y="2212848"/>
            <a:ext cx="20482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4ADE80"/>
                </a:solidFill>
                <a:latin typeface="Segoe U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4352" y="2706624"/>
            <a:ext cx="16824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Context provider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07238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4ADE80"/>
                </a:solidFill>
                <a:latin typeface="Consolas"/>
              </a:rPr>
              <a:t>ContextProvider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4352" y="3456432"/>
            <a:ext cx="168249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Injects and captures context per run.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3232" y="4956048"/>
            <a:ext cx="10765231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13232" y="4956048"/>
            <a:ext cx="50292" cy="9144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9264" y="510235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COMPOSITION, NOT INHERITANCE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" y="5376672"/>
            <a:ext cx="103080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You never subclass Agent. You compose it: hand it a different client, another tool, one more context provider, a middleware. That is the whole extensibility story.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Chat clients: the model is a parameter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3093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only provider-specific 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20240"/>
            <a:ext cx="6309360" cy="2386584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920240"/>
            <a:ext cx="41148" cy="238658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2084832"/>
            <a:ext cx="5943600" cy="21122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7AA2F7"/>
                </a:solidFill>
                <a:latin typeface="Consolas"/>
              </a:rPr>
              <a:t>from</a:t>
            </a:r>
            <a:r>
              <a:rPr sz="13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350">
                <a:solidFill>
                  <a:srgbClr val="7AA2F7"/>
                </a:solidFill>
                <a:latin typeface="Consolas"/>
              </a:rPr>
              <a:t>import</a:t>
            </a:r>
            <a:r>
              <a:rPr sz="1350">
                <a:solidFill>
                  <a:srgbClr val="D6DEEB"/>
                </a:solidFill>
                <a:latin typeface="Consolas"/>
              </a:rPr>
              <a:t> </a:t>
            </a:r>
            <a:r>
              <a:rPr sz="1350">
                <a:solidFill>
                  <a:srgbClr val="50E6FF"/>
                </a:solidFill>
                <a:latin typeface="Consolas"/>
              </a:rPr>
              <a:t>Agent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7AA2F7"/>
                </a:solidFill>
                <a:latin typeface="Consolas"/>
              </a:rPr>
              <a:t>from</a:t>
            </a:r>
            <a:r>
              <a:rPr sz="1350">
                <a:solidFill>
                  <a:srgbClr val="D6DEEB"/>
                </a:solidFill>
                <a:latin typeface="Consolas"/>
              </a:rPr>
              <a:t> agent_framework_openai </a:t>
            </a:r>
            <a:r>
              <a:rPr sz="1350">
                <a:solidFill>
                  <a:srgbClr val="7AA2F7"/>
                </a:solidFill>
                <a:latin typeface="Consolas"/>
              </a:rPr>
              <a:t>import</a:t>
            </a:r>
            <a:r>
              <a:rPr sz="1350">
                <a:solidFill>
                  <a:srgbClr val="D6DEEB"/>
                </a:solidFill>
                <a:latin typeface="Consolas"/>
              </a:rPr>
              <a:t> </a:t>
            </a:r>
            <a:r>
              <a:rPr sz="1350">
                <a:solidFill>
                  <a:srgbClr val="50E6FF"/>
                </a:solidFill>
                <a:latin typeface="Consolas"/>
              </a:rPr>
              <a:t>OpenAIChatCompletionClient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agent = </a:t>
            </a:r>
            <a:r>
              <a:rPr sz="1350">
                <a:solidFill>
                  <a:srgbClr val="50E6FF"/>
                </a:solidFill>
                <a:latin typeface="Consolas"/>
              </a:rPr>
              <a:t>Agent</a:t>
            </a:r>
            <a:r>
              <a:rPr sz="13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3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350">
                <a:solidFill>
                  <a:srgbClr val="D6DEEB"/>
                </a:solidFill>
                <a:latin typeface="Consolas"/>
              </a:rPr>
              <a:t>(),   </a:t>
            </a:r>
            <a:r>
              <a:rPr sz="1350">
                <a:solidFill>
                  <a:srgbClr val="64748B"/>
                </a:solidFill>
                <a:latin typeface="Consolas"/>
              </a:rPr>
              <a:t># swap this line only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   name=</a:t>
            </a:r>
            <a:r>
              <a:rPr sz="1350">
                <a:solidFill>
                  <a:srgbClr val="E5A57A"/>
                </a:solidFill>
                <a:latin typeface="Consolas"/>
              </a:rPr>
              <a:t>"HelloAgent"</a:t>
            </a:r>
            <a:r>
              <a:rPr sz="13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350">
                <a:solidFill>
                  <a:srgbClr val="E5A57A"/>
                </a:solidFill>
                <a:latin typeface="Consolas"/>
              </a:rPr>
              <a:t>"You are a friendly assistant. Be brief."</a:t>
            </a:r>
            <a:r>
              <a:rPr sz="13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916"/>
              </a:lnSpc>
              <a:spcAft>
                <a:spcPts val="0"/>
              </a:spcAft>
            </a:pPr>
            <a:r>
              <a:rPr sz="135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96912" y="1645920"/>
            <a:ext cx="4206240" cy="2011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71231" y="184708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SAME AGENT, OTHER BACKENDS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1" y="2212848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AzureOpenAIChatClient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31552" y="2212848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Azure OpenAI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2542032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FoundryChatClient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31552" y="2542032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Azure AI Foundry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1" y="2871215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AnthropicChatClient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1552" y="2871215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231" y="3200399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8EDF5"/>
                </a:solidFill>
                <a:latin typeface="Consolas"/>
              </a:rPr>
              <a:t>OllamaChatClient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1552" y="3200399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local Ollama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443984"/>
            <a:ext cx="10765231" cy="107899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13232" y="4443984"/>
            <a:ext cx="50292" cy="107899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9264" y="4590288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THE ONE DISTINCTION THAT BITES PEOPLE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" y="4864608"/>
            <a:ext cx="10308031" cy="4648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 dirty="0" err="1">
                <a:solidFill>
                  <a:srgbClr val="E8EDF5"/>
                </a:solidFill>
                <a:latin typeface="Segoe UI"/>
              </a:rPr>
              <a:t>OpenAIChatCompletionClient</a:t>
            </a:r>
            <a:r>
              <a:rPr sz="1300" b="0" i="0" dirty="0">
                <a:solidFill>
                  <a:srgbClr val="E8EDF5"/>
                </a:solidFill>
                <a:latin typeface="Segoe UI"/>
              </a:rPr>
              <a:t> → Chat Completions API. </a:t>
            </a:r>
            <a:r>
              <a:rPr lang="en-US" sz="1300" b="0" i="0" dirty="0">
                <a:solidFill>
                  <a:srgbClr val="E8EDF5"/>
                </a:solidFill>
                <a:latin typeface="Segoe UI"/>
              </a:rPr>
              <a:t> </a:t>
            </a:r>
            <a:r>
              <a:rPr sz="1300" b="0" i="0" dirty="0">
                <a:solidFill>
                  <a:srgbClr val="E8EDF5"/>
                </a:solidFill>
                <a:latin typeface="Segoe UI"/>
              </a:rPr>
              <a:t>  </a:t>
            </a:r>
            <a:endParaRPr lang="en-US" sz="1300" b="0" i="0" dirty="0">
              <a:solidFill>
                <a:srgbClr val="E8EDF5"/>
              </a:solidFill>
              <a:latin typeface="Segoe UI"/>
            </a:endParaRPr>
          </a:p>
          <a:p>
            <a:pPr algn="l">
              <a:lnSpc>
                <a:spcPct val="122000"/>
              </a:lnSpc>
            </a:pPr>
            <a:r>
              <a:rPr sz="1300" b="0" i="0" dirty="0" err="1">
                <a:solidFill>
                  <a:srgbClr val="E8EDF5"/>
                </a:solidFill>
                <a:latin typeface="Segoe UI"/>
              </a:rPr>
              <a:t>OpenAIChatClient</a:t>
            </a:r>
            <a:r>
              <a:rPr sz="1300" b="0" i="0" dirty="0">
                <a:solidFill>
                  <a:srgbClr val="E8EDF5"/>
                </a:solidFill>
                <a:latin typeface="Segoe UI"/>
              </a:rPr>
              <a:t> → the newer Responses API.</a:t>
            </a:r>
            <a:r>
              <a:rPr lang="en-US" sz="1300" b="0" i="0" dirty="0">
                <a:solidFill>
                  <a:srgbClr val="E8EDF5"/>
                </a:solidFill>
                <a:latin typeface="Segoe UI"/>
              </a:rPr>
              <a:t> Make sure your server like </a:t>
            </a:r>
            <a:r>
              <a:rPr lang="en-US" sz="1300" b="0" i="0" dirty="0" err="1">
                <a:solidFill>
                  <a:srgbClr val="E8EDF5"/>
                </a:solidFill>
                <a:latin typeface="Segoe UI"/>
              </a:rPr>
              <a:t>vLLM</a:t>
            </a:r>
            <a:r>
              <a:rPr lang="en-US" sz="1300" b="0" i="0" dirty="0">
                <a:solidFill>
                  <a:srgbClr val="E8EDF5"/>
                </a:solidFill>
                <a:latin typeface="Segoe UI"/>
              </a:rPr>
              <a:t> and Ollama support response API </a:t>
            </a:r>
            <a:endParaRPr sz="1300" b="0" i="0" dirty="0">
              <a:solidFill>
                <a:srgbClr val="E8EDF5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EXAMPLES/01_HELLO_AGENT.PY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Your first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720840" cy="436956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436956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355079" cy="409524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asyncio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from</a:t>
            </a:r>
            <a:r>
              <a:rPr sz="130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50E6FF"/>
                </a:solidFill>
                <a:latin typeface="Consolas"/>
              </a:rPr>
              <a:t>Agent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from</a:t>
            </a:r>
            <a:r>
              <a:rPr sz="1300">
                <a:solidFill>
                  <a:srgbClr val="D6DEEB"/>
                </a:solidFill>
                <a:latin typeface="Consolas"/>
              </a:rPr>
              <a:t> agent_framework_openai </a:t>
            </a: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50E6FF"/>
                </a:solidFill>
                <a:latin typeface="Consolas"/>
              </a:rPr>
              <a:t>OpenAIChatCompletionClient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from</a:t>
            </a:r>
            <a:r>
              <a:rPr sz="1300">
                <a:solidFill>
                  <a:srgbClr val="D6DEEB"/>
                </a:solidFill>
                <a:latin typeface="Consolas"/>
              </a:rPr>
              <a:t> dotenv </a:t>
            </a:r>
            <a:r>
              <a:rPr sz="1300">
                <a:solidFill>
                  <a:srgbClr val="7AA2F7"/>
                </a:solidFill>
                <a:latin typeface="Consolas"/>
              </a:rPr>
              <a:t>import</a:t>
            </a:r>
            <a:r>
              <a:rPr sz="1300">
                <a:solidFill>
                  <a:srgbClr val="D6DEEB"/>
                </a:solidFill>
                <a:latin typeface="Consolas"/>
              </a:rPr>
              <a:t> load_dotenv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B4C9FF"/>
                </a:solidFill>
                <a:latin typeface="Consolas"/>
              </a:rPr>
              <a:t>load_dotenv</a:t>
            </a:r>
            <a:r>
              <a:rPr sz="130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async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7AA2F7"/>
                </a:solidFill>
                <a:latin typeface="Consolas"/>
              </a:rPr>
              <a:t>def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B4C9FF"/>
                </a:solidFill>
                <a:latin typeface="Consolas"/>
              </a:rPr>
              <a:t>main</a:t>
            </a:r>
            <a:r>
              <a:rPr sz="1300">
                <a:solidFill>
                  <a:srgbClr val="D6DEEB"/>
                </a:solidFill>
                <a:latin typeface="Consolas"/>
              </a:rPr>
              <a:t>() -&gt; </a:t>
            </a:r>
            <a:r>
              <a:rPr sz="1300">
                <a:solidFill>
                  <a:srgbClr val="7AA2F7"/>
                </a:solidFill>
                <a:latin typeface="Consolas"/>
              </a:rPr>
              <a:t>None</a:t>
            </a:r>
            <a:r>
              <a:rPr sz="1300">
                <a:solidFill>
                  <a:srgbClr val="D6DEEB"/>
                </a:solidFill>
                <a:latin typeface="Consolas"/>
              </a:rPr>
              <a:t>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agent = </a:t>
            </a:r>
            <a:r>
              <a:rPr sz="1300">
                <a:solidFill>
                  <a:srgbClr val="50E6FF"/>
                </a:solidFill>
                <a:latin typeface="Consolas"/>
              </a:rPr>
              <a:t>Agent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client=</a:t>
            </a:r>
            <a:r>
              <a:rPr sz="130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30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name=</a:t>
            </a:r>
            <a:r>
              <a:rPr sz="1300">
                <a:solidFill>
                  <a:srgbClr val="E5A57A"/>
                </a:solidFill>
                <a:latin typeface="Consolas"/>
              </a:rPr>
              <a:t>"HelloAgent"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instructions=</a:t>
            </a:r>
            <a:r>
              <a:rPr sz="1300">
                <a:solidFill>
                  <a:srgbClr val="E5A57A"/>
                </a:solidFill>
                <a:latin typeface="Consolas"/>
              </a:rPr>
              <a:t>"Keep your answers brief."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result = </a:t>
            </a: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"What is the capital of France?"</a:t>
            </a:r>
            <a:r>
              <a:rPr sz="130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B4C9FF"/>
                </a:solidFill>
                <a:latin typeface="Consolas"/>
              </a:rPr>
              <a:t>print</a:t>
            </a:r>
            <a:r>
              <a:rPr sz="1300">
                <a:solidFill>
                  <a:srgbClr val="D6DEEB"/>
                </a:solidFill>
                <a:latin typeface="Consolas"/>
              </a:rPr>
              <a:t>(result)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asyncio.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B4C9FF"/>
                </a:solidFill>
                <a:latin typeface="Consolas"/>
              </a:rPr>
              <a:t>main</a:t>
            </a:r>
            <a:r>
              <a:rPr sz="1300">
                <a:solidFill>
                  <a:srgbClr val="D6DEEB"/>
                </a:solidFill>
                <a:latin typeface="Consolas"/>
              </a:rPr>
              <a:t>())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1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55863" y="1737360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Async everywhere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5863" y="2020824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agent.run() is a coroutine. No sync shim.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9831" y="2679191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55863" y="2578608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Config from env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5863" y="2862072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load_dotenv() feeds base URL, key and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1" y="352043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55863" y="3419856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Instructions ≠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863" y="3703320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System-level, applied to every run.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99831" y="43616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55863" y="4261104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Result is rich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55863" y="4544568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result.text, .messages, .value — not just a string.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The run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agent.run()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7860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95351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context providers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before_run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888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19379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agent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middleware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5916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43407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model call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99448" y="2304288"/>
            <a:ext cx="320040" cy="237744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674352" y="1938528"/>
            <a:ext cx="1810512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context providers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Segoe UI"/>
              </a:rPr>
              <a:t>after_run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7955280" y="2999232"/>
            <a:ext cx="219456" cy="457200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Up Arrow 17"/>
          <p:cNvSpPr/>
          <p:nvPr/>
        </p:nvSpPr>
        <p:spPr>
          <a:xfrm>
            <a:off x="8503920" y="2999232"/>
            <a:ext cx="219456" cy="457200"/>
          </a:xfrm>
          <a:prstGeom prst="up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73368" y="3529584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BBF24"/>
                </a:solidFill>
                <a:latin typeface="Segoe UI"/>
              </a:rPr>
              <a:t>tool call requested?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function middleware → tool → result → model again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4535424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repeats until the model stops asking for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736592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13232" y="4736592"/>
            <a:ext cx="50292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9264" y="4882896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READ THE DIAGRAM AS AN ONION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5157216"/>
            <a:ext cx="1030803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before_run injects context → middleware wraps the call → the model may loop through tools → after_run captures what happened. Every extension point you will meet today is one of those four rings.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CORE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Streaming, options and structured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720840" cy="3431794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343179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355079" cy="31574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non-streaming — one await, full response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result = </a:t>
            </a: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"What is the capital of France?"</a:t>
            </a:r>
            <a:r>
              <a:rPr sz="130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per-call options ride alongside the prompt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result = </a:t>
            </a: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(prompt, options={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E5A57A"/>
                </a:solidFill>
                <a:latin typeface="Consolas"/>
              </a:rPr>
              <a:t>"temperature"</a:t>
            </a:r>
            <a:r>
              <a:rPr sz="1300">
                <a:solidFill>
                  <a:srgbClr val="D6DEEB"/>
                </a:solidFill>
                <a:latin typeface="Consolas"/>
              </a:rPr>
              <a:t>: </a:t>
            </a:r>
            <a:r>
              <a:rPr sz="1300">
                <a:solidFill>
                  <a:srgbClr val="86E1A0"/>
                </a:solidFill>
                <a:latin typeface="Consolas"/>
              </a:rPr>
              <a:t>0</a:t>
            </a:r>
            <a:r>
              <a:rPr sz="1300">
                <a:solidFill>
                  <a:srgbClr val="D6DEEB"/>
                </a:solidFill>
                <a:latin typeface="Consolas"/>
              </a:rPr>
              <a:t>.</a:t>
            </a:r>
            <a:r>
              <a:rPr sz="1300">
                <a:solidFill>
                  <a:srgbClr val="86E1A0"/>
                </a:solidFill>
                <a:latin typeface="Consolas"/>
              </a:rPr>
              <a:t>3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E5A57A"/>
                </a:solidFill>
                <a:latin typeface="Consolas"/>
              </a:rPr>
              <a:t>"max_tokens"</a:t>
            </a:r>
            <a:r>
              <a:rPr sz="1300">
                <a:solidFill>
                  <a:srgbClr val="D6DEEB"/>
                </a:solidFill>
                <a:latin typeface="Consolas"/>
              </a:rPr>
              <a:t>: </a:t>
            </a:r>
            <a:r>
              <a:rPr sz="1300">
                <a:solidFill>
                  <a:srgbClr val="86E1A0"/>
                </a:solidFill>
                <a:latin typeface="Consolas"/>
              </a:rPr>
              <a:t>150</a:t>
            </a:r>
            <a:r>
              <a:rPr sz="13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})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streaming — same method, stream=True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async</a:t>
            </a: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  <a:r>
              <a:rPr sz="1300">
                <a:solidFill>
                  <a:srgbClr val="7AA2F7"/>
                </a:solidFill>
                <a:latin typeface="Consolas"/>
              </a:rPr>
              <a:t>for</a:t>
            </a:r>
            <a:r>
              <a:rPr sz="1300">
                <a:solidFill>
                  <a:srgbClr val="D6DEEB"/>
                </a:solidFill>
                <a:latin typeface="Consolas"/>
              </a:rPr>
              <a:t> chunk </a:t>
            </a:r>
            <a:r>
              <a:rPr sz="1300">
                <a:solidFill>
                  <a:srgbClr val="7AA2F7"/>
                </a:solidFill>
                <a:latin typeface="Consolas"/>
              </a:rPr>
              <a:t>in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(prompt, stream=</a:t>
            </a:r>
            <a:r>
              <a:rPr sz="1300">
                <a:solidFill>
                  <a:srgbClr val="7AA2F7"/>
                </a:solidFill>
                <a:latin typeface="Consolas"/>
              </a:rPr>
              <a:t>True</a:t>
            </a:r>
            <a:r>
              <a:rPr sz="130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</a:t>
            </a:r>
            <a:r>
              <a:rPr sz="1300">
                <a:solidFill>
                  <a:srgbClr val="7AA2F7"/>
                </a:solidFill>
                <a:latin typeface="Consolas"/>
              </a:rPr>
              <a:t>if</a:t>
            </a:r>
            <a:r>
              <a:rPr sz="1300">
                <a:solidFill>
                  <a:srgbClr val="D6DEEB"/>
                </a:solidFill>
                <a:latin typeface="Consolas"/>
              </a:rPr>
              <a:t> chunk.text: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       </a:t>
            </a:r>
            <a:r>
              <a:rPr sz="1300">
                <a:solidFill>
                  <a:srgbClr val="B4C9FF"/>
                </a:solidFill>
                <a:latin typeface="Consolas"/>
              </a:rPr>
              <a:t>print</a:t>
            </a:r>
            <a:r>
              <a:rPr sz="1300">
                <a:solidFill>
                  <a:srgbClr val="D6DEEB"/>
                </a:solidFill>
                <a:latin typeface="Consolas"/>
              </a:rPr>
              <a:t>(chunk.text, end=</a:t>
            </a:r>
            <a:r>
              <a:rPr sz="1300">
                <a:solidFill>
                  <a:srgbClr val="E5A57A"/>
                </a:solidFill>
                <a:latin typeface="Consolas"/>
              </a:rPr>
              <a:t>""</a:t>
            </a:r>
            <a:r>
              <a:rPr sz="1300">
                <a:solidFill>
                  <a:srgbClr val="D6DEEB"/>
                </a:solidFill>
                <a:latin typeface="Consolas"/>
              </a:rPr>
              <a:t>, flush=</a:t>
            </a:r>
            <a:r>
              <a:rPr sz="1300">
                <a:solidFill>
                  <a:srgbClr val="7AA2F7"/>
                </a:solidFill>
                <a:latin typeface="Consolas"/>
              </a:rPr>
              <a:t>True</a:t>
            </a:r>
            <a:r>
              <a:rPr sz="130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1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55863" y="1737360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One method, two shapes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5863" y="2020824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stream=True returns an async iterator.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9831" y="2679191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55863" y="2578608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Guard chunk.text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5863" y="2862072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Chunks may carry tool calls, not text.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1" y="352043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55863" y="3419856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options is per 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863" y="3703320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default_options on Agent sets the baseline.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99831" y="4361688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55863" y="4261104"/>
            <a:ext cx="34472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Cap tokens deliberately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55863" y="4544568"/>
            <a:ext cx="3447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The workshop model has an 8k window.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hello agent, streaming,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231444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23144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4568558" cy="137018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>
                <a:solidFill>
                  <a:srgbClr val="64748B"/>
                </a:solidFill>
                <a:latin typeface="Consolas"/>
              </a:rPr>
              <a:t># start the model server first (separate terminal)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>
                <a:solidFill>
                  <a:srgbClr val="D6DEEB"/>
                </a:solidFill>
                <a:latin typeface="Consolas"/>
              </a:rPr>
              <a:t>./</a:t>
            </a:r>
            <a:r>
              <a:rPr sz="1300" dirty="0" err="1">
                <a:solidFill>
                  <a:srgbClr val="D6DEEB"/>
                </a:solidFill>
                <a:latin typeface="Consolas"/>
              </a:rPr>
              <a:t>vllm-run.sh</a:t>
            </a:r>
            <a:endParaRPr sz="1300" dirty="0">
              <a:solidFill>
                <a:srgbClr val="D6DEEB"/>
              </a:solidFill>
              <a:latin typeface="Consolas"/>
            </a:endParaRP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>
                <a:solidFill>
                  <a:srgbClr val="64748B"/>
                </a:solidFill>
                <a:latin typeface="Consolas"/>
              </a:rPr>
              <a:t># then: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 err="1">
                <a:solidFill>
                  <a:srgbClr val="D6DEEB"/>
                </a:solidFill>
                <a:latin typeface="Consolas"/>
              </a:rPr>
              <a:t>uv</a:t>
            </a:r>
            <a:r>
              <a:rPr sz="1300" dirty="0">
                <a:solidFill>
                  <a:srgbClr val="D6DEEB"/>
                </a:solidFill>
                <a:latin typeface="Consolas"/>
              </a:rPr>
              <a:t> run python examples/01_hello_agent.py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 dirty="0">
                <a:solidFill>
                  <a:srgbClr val="D6DEEB"/>
                </a:solidFill>
                <a:latin typeface="Consolas"/>
              </a:rPr>
              <a:t>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first response is blocking — the whole answer lands at once.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second passes temperature and max_tokens per 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third streams: tokens appear as they are produced.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Edit instructions live and re-run — show the behaviour change.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Giving the model a typed, governed way to touch your systems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@tool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15184" y="4133087"/>
            <a:ext cx="106070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schema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48655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approvals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Anatomy of a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492240" cy="1682495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1682495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126479" cy="140817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FFCE5C"/>
                </a:solidFill>
                <a:latin typeface="Consolas"/>
              </a:rPr>
              <a:t>@tool</a:t>
            </a:r>
            <a:r>
              <a:rPr sz="1200">
                <a:solidFill>
                  <a:srgbClr val="D6DEEB"/>
                </a:solidFill>
                <a:latin typeface="Consolas"/>
              </a:rPr>
              <a:t>(approval_mode=</a:t>
            </a:r>
            <a:r>
              <a:rPr sz="1200">
                <a:solidFill>
                  <a:srgbClr val="E5A57A"/>
                </a:solidFill>
                <a:latin typeface="Consolas"/>
              </a:rPr>
              <a:t>"never_require"</a:t>
            </a:r>
            <a:r>
              <a:rPr sz="120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def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B4C9FF"/>
                </a:solidFill>
                <a:latin typeface="Consolas"/>
              </a:rPr>
              <a:t>get_weather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location: </a:t>
            </a:r>
            <a:r>
              <a:rPr sz="1200">
                <a:solidFill>
                  <a:srgbClr val="50E6FF"/>
                </a:solidFill>
                <a:latin typeface="Consolas"/>
              </a:rPr>
              <a:t>Annotated</a:t>
            </a:r>
            <a:r>
              <a:rPr sz="1200">
                <a:solidFill>
                  <a:srgbClr val="D6DEEB"/>
                </a:solidFill>
                <a:latin typeface="Consolas"/>
              </a:rPr>
              <a:t>[str, </a:t>
            </a:r>
            <a:r>
              <a:rPr sz="1200">
                <a:solidFill>
                  <a:srgbClr val="50E6FF"/>
                </a:solidFill>
                <a:latin typeface="Consolas"/>
              </a:rPr>
              <a:t>Field</a:t>
            </a:r>
            <a:r>
              <a:rPr sz="1200">
                <a:solidFill>
                  <a:srgbClr val="D6DEEB"/>
                </a:solidFill>
                <a:latin typeface="Consolas"/>
              </a:rPr>
              <a:t>(description=</a:t>
            </a:r>
            <a:r>
              <a:rPr sz="1200">
                <a:solidFill>
                  <a:srgbClr val="E5A57A"/>
                </a:solidFill>
                <a:latin typeface="Consolas"/>
              </a:rPr>
              <a:t>"City to look up."</a:t>
            </a:r>
            <a:r>
              <a:rPr sz="1200">
                <a:solidFill>
                  <a:srgbClr val="D6DEEB"/>
                </a:solidFill>
                <a:latin typeface="Consolas"/>
              </a:rPr>
              <a:t>)],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) -&gt; str: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E5A57A"/>
                </a:solidFill>
                <a:latin typeface="Consolas"/>
              </a:rPr>
              <a:t>"""Get the weather for a given location."""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</a:t>
            </a:r>
            <a:r>
              <a:rPr sz="1200">
                <a:solidFill>
                  <a:srgbClr val="7AA2F7"/>
                </a:solidFill>
                <a:latin typeface="Consolas"/>
              </a:rPr>
              <a:t>return</a:t>
            </a:r>
            <a:r>
              <a:rPr sz="1200">
                <a:solidFill>
                  <a:srgbClr val="D6DEEB"/>
                </a:solidFill>
                <a:latin typeface="Consolas"/>
              </a:rPr>
              <a:t> f</a:t>
            </a:r>
            <a:r>
              <a:rPr sz="1200">
                <a:solidFill>
                  <a:srgbClr val="E5A57A"/>
                </a:solidFill>
                <a:latin typeface="Consolas"/>
              </a:rPr>
              <a:t>"{location}: sunny, high of 24C"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493008"/>
            <a:ext cx="6492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THE MODEL ACTUALLY RECEIVES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822191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function name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798063" y="3867911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82112" y="3822191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get_weather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3822191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the callable identifier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8795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docstring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798063" y="4233672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82112" y="418795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"Get the weather…"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6672" y="418795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when to call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55371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type hints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798063" y="4599432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82112" y="455371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location: str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6672" y="455371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types → JSON 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91947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Segoe UI"/>
              </a:rPr>
              <a:t>Field(description=…)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798063" y="4965192"/>
            <a:ext cx="256032" cy="164592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182112" y="49194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FBBF24"/>
                </a:solidFill>
                <a:latin typeface="Consolas"/>
              </a:rPr>
              <a:t>"City to look up."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6672" y="491947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what goes in the argument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79792" y="1645920"/>
            <a:ext cx="4023360" cy="27432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54112" y="184708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BF24"/>
                </a:solidFill>
                <a:latin typeface="Segoe UI"/>
              </a:rPr>
              <a:t>THE DOCSTRING IS AN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54112" y="2212848"/>
            <a:ext cx="34747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It is not a comment for humans. It is the only thing telling the model when this tool is the right choice.
Vague docstring → the model guesses. Guessing looks like a flaky agent, and you will debug the prompt for a day before you look here.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266944"/>
            <a:ext cx="10765231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13232" y="5266944"/>
            <a:ext cx="50292" cy="89611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69264" y="5413248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ADE80"/>
                </a:solidFill>
                <a:latin typeface="Segoe UI"/>
              </a:rPr>
              <a:t>DESIGN RULE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" y="5687568"/>
            <a:ext cx="10308031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Write tools the way you would write a public API for a junior engineer with no context: narrow scope, unambiguous name, explicit units, errors returned as readable strings the model can act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The tool-call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user message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889504" y="2185416"/>
            <a:ext cx="356616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19272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agent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495544" y="2185416"/>
            <a:ext cx="356616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925312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model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101583" y="2185416"/>
            <a:ext cx="356616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531351" y="1874519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tool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6473952" y="2816352"/>
            <a:ext cx="2926080" cy="201168"/>
          </a:xfrm>
          <a:prstGeom prst="left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3054096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BBF24"/>
                </a:solidFill>
                <a:latin typeface="Segoe UI"/>
              </a:rPr>
              <a:t>result</a:t>
            </a:r>
          </a:p>
        </p:txBody>
      </p:sp>
      <p:sp>
        <p:nvSpPr>
          <p:cNvPr id="17" name="Oval 16"/>
          <p:cNvSpPr/>
          <p:nvPr/>
        </p:nvSpPr>
        <p:spPr>
          <a:xfrm>
            <a:off x="713232" y="3520440"/>
            <a:ext cx="310896" cy="310896"/>
          </a:xfrm>
          <a:prstGeom prst="ellipse">
            <a:avLst/>
          </a:prstGeom>
          <a:noFill/>
          <a:ln w="1651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566160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50E6FF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3529584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Model returns a tool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6672" y="3557016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name + JSON arguments, not prose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" y="4087368"/>
            <a:ext cx="310896" cy="310896"/>
          </a:xfrm>
          <a:prstGeom prst="ellipse">
            <a:avLst/>
          </a:prstGeom>
          <a:noFill/>
          <a:ln w="1651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4133087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9B7CF6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4096511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Framework validates &amp; dispatches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6672" y="412394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schema check, then your Python runs</a:t>
            </a:r>
          </a:p>
        </p:txBody>
      </p:sp>
      <p:sp>
        <p:nvSpPr>
          <p:cNvPr id="25" name="Oval 24"/>
          <p:cNvSpPr/>
          <p:nvPr/>
        </p:nvSpPr>
        <p:spPr>
          <a:xfrm>
            <a:off x="713232" y="4654296"/>
            <a:ext cx="310896" cy="310896"/>
          </a:xfrm>
          <a:prstGeom prst="ellipse">
            <a:avLst/>
          </a:prstGeom>
          <a:noFill/>
          <a:ln w="1651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" y="4700016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BBF24"/>
                </a:solidFill>
                <a:latin typeface="Segoe U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5296" y="466344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Result goes back as a message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6672" y="46908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the model now has new facts</a:t>
            </a:r>
          </a:p>
        </p:txBody>
      </p:sp>
      <p:sp>
        <p:nvSpPr>
          <p:cNvPr id="29" name="Oval 28"/>
          <p:cNvSpPr/>
          <p:nvPr/>
        </p:nvSpPr>
        <p:spPr>
          <a:xfrm>
            <a:off x="713232" y="5221224"/>
            <a:ext cx="310896" cy="310896"/>
          </a:xfrm>
          <a:prstGeom prst="ellipse">
            <a:avLst/>
          </a:prstGeom>
          <a:noFill/>
          <a:ln w="1651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5266944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4ADE80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5296" y="5230368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8EDF5"/>
                </a:solidFill>
                <a:latin typeface="Segoe UI"/>
              </a:rPr>
              <a:t>Model decides again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76672" y="52578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answer, or call another tool — repeat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51392" y="3520440"/>
            <a:ext cx="2651760" cy="21488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07424" y="3712463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B7185"/>
                </a:solidFill>
                <a:latin typeface="Segoe UI"/>
              </a:rPr>
              <a:t>BOUND THE 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7424" y="4059936"/>
            <a:ext cx="2194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E8EDF5"/>
                </a:solidFill>
                <a:latin typeface="Segoe UI"/>
              </a:rPr>
              <a:t>Nothing stops a model calling a tool forever except limits you set: max iterations, token budget, timeouts, and idempotent tools.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EXAMPLES/02_ADD_TOOLS.PY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Tools in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6858000" cy="421627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41148" cy="421627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10512"/>
            <a:ext cx="6492240" cy="39419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, tool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pydantic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Field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@tool</a:t>
            </a:r>
            <a:r>
              <a:rPr sz="1250">
                <a:solidFill>
                  <a:srgbClr val="D6DEEB"/>
                </a:solidFill>
                <a:latin typeface="Consolas"/>
              </a:rPr>
              <a:t>(approval_mode=</a:t>
            </a:r>
            <a:r>
              <a:rPr sz="1250">
                <a:solidFill>
                  <a:srgbClr val="E5A57A"/>
                </a:solidFill>
                <a:latin typeface="Consolas"/>
              </a:rPr>
              <a:t>"never_require"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get_weather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location: </a:t>
            </a:r>
            <a:r>
              <a:rPr sz="1250">
                <a:solidFill>
                  <a:srgbClr val="50E6FF"/>
                </a:solidFill>
                <a:latin typeface="Consolas"/>
              </a:rPr>
              <a:t>Annotated</a:t>
            </a:r>
            <a:r>
              <a:rPr sz="1250">
                <a:solidFill>
                  <a:srgbClr val="D6DEEB"/>
                </a:solidFill>
                <a:latin typeface="Consolas"/>
              </a:rPr>
              <a:t>[str, </a:t>
            </a:r>
            <a:r>
              <a:rPr sz="1250">
                <a:solidFill>
                  <a:srgbClr val="50E6FF"/>
                </a:solidFill>
                <a:latin typeface="Consolas"/>
              </a:rPr>
              <a:t>Field</a:t>
            </a:r>
            <a:r>
              <a:rPr sz="1250">
                <a:solidFill>
                  <a:srgbClr val="D6DEEB"/>
                </a:solidFill>
                <a:latin typeface="Consolas"/>
              </a:rPr>
              <a:t>(description=</a:t>
            </a:r>
            <a:r>
              <a:rPr sz="1250">
                <a:solidFill>
                  <a:srgbClr val="E5A57A"/>
                </a:solidFill>
                <a:latin typeface="Consolas"/>
              </a:rPr>
              <a:t>"The location."</a:t>
            </a:r>
            <a:r>
              <a:rPr sz="1250">
                <a:solidFill>
                  <a:srgbClr val="D6DEEB"/>
                </a:solidFill>
                <a:latin typeface="Consolas"/>
              </a:rPr>
              <a:t>)],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 -&gt; str: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E5A57A"/>
                </a:solidFill>
                <a:latin typeface="Consolas"/>
              </a:rPr>
              <a:t>"""Get the weather for a given location."""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conditions = [</a:t>
            </a:r>
            <a:r>
              <a:rPr sz="1250">
                <a:solidFill>
                  <a:srgbClr val="E5A57A"/>
                </a:solidFill>
                <a:latin typeface="Consolas"/>
              </a:rPr>
              <a:t>"sunny"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"cloudy"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"rainy"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E5A57A"/>
                </a:solidFill>
                <a:latin typeface="Consolas"/>
              </a:rPr>
              <a:t>"stormy"</a:t>
            </a:r>
            <a:r>
              <a:rPr sz="1250">
                <a:solidFill>
                  <a:srgbClr val="D6DEEB"/>
                </a:solidFill>
                <a:latin typeface="Consolas"/>
              </a:rPr>
              <a:t>]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return</a:t>
            </a:r>
            <a:r>
              <a:rPr sz="1250">
                <a:solidFill>
                  <a:srgbClr val="D6DEEB"/>
                </a:solidFill>
                <a:latin typeface="Consolas"/>
              </a:rPr>
              <a:t> f</a:t>
            </a:r>
            <a:r>
              <a:rPr sz="1250">
                <a:solidFill>
                  <a:srgbClr val="E5A57A"/>
                </a:solidFill>
                <a:latin typeface="Consolas"/>
              </a:rPr>
              <a:t>"{location} is {choice(conditions)}, high {randint(10, 30)}C"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"WeatherAgent"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"Use get_weather to answer."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tools=[get_weather],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837943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93023" y="1737360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tools= takes a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020824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Or a single tool — both accepted.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624327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3" y="2523744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Plain functions work too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80720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decorator adds approval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410711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93023" y="3310127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Instructions steer usage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593591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Name the tool if the model hesitates.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6992" y="4197096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93023" y="4096511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Async tools supported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379975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Use async def for I/O-bound work.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tools and the call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84556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84556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57124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examples/02_add_tools.py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then try, live: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- ask about two cities in one message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- ask something with no tool at all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- break the docstring and watch selection degrade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model emits a tool call, not prose — show the arguments.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Two cities in one prompt can produce two tool calls.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Off-topic questions should NOT trigger the tool.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Vandalise the docstring to "gets data" and re-run.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Memory &amp;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Three horizons: the turn, the session, and everything before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28016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sessions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4368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providers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4133087"/>
            <a:ext cx="1609343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persistence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4133087"/>
            <a:ext cx="149961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compaction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MEMORY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Three horizons of 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3456432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3456432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8EDF5"/>
                </a:solidFill>
                <a:latin typeface="Segoe UI"/>
              </a:rPr>
              <a:t>The 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9572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078D4"/>
                </a:solidFill>
                <a:latin typeface="Consolas"/>
              </a:rPr>
              <a:t>message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798064"/>
            <a:ext cx="2926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What you pass into a single run. Always present, never persisted.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7552" y="3712463"/>
            <a:ext cx="457200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70832" y="1783080"/>
            <a:ext cx="3456432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70832" y="1783080"/>
            <a:ext cx="3456432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451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8EDF5"/>
                </a:solidFill>
                <a:latin typeface="Segoe UI"/>
              </a:rPr>
              <a:t>The session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39572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0E6FF"/>
                </a:solidFill>
                <a:latin typeface="Consolas"/>
              </a:rPr>
              <a:t>AgentSession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798064"/>
            <a:ext cx="2926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Conversation state across runs. In-memory by default; pluggable stores.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45152" y="3712463"/>
            <a:ext cx="1463040" cy="14630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028431" y="1783080"/>
            <a:ext cx="3456432" cy="22860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28431" y="1783080"/>
            <a:ext cx="3456432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027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8EDF5"/>
                </a:solidFill>
                <a:latin typeface="Segoe UI"/>
              </a:rPr>
              <a:t>Beyond the session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39572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9B7CF6"/>
                </a:solidFill>
                <a:latin typeface="Consolas"/>
              </a:rPr>
              <a:t>ContextProvider + store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798064"/>
            <a:ext cx="29260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Facts, preferences, prior conversations — retrieved and injected per run.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02752" y="3712463"/>
            <a:ext cx="2468880" cy="146304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" y="4224528"/>
            <a:ext cx="107652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780"/>
                </a:solidFill>
                <a:latin typeface="Segoe UI"/>
              </a:rPr>
              <a:t>grows 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553712"/>
            <a:ext cx="10765231" cy="1087374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13232" y="4553712"/>
            <a:ext cx="41148" cy="108737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50976" y="4718304"/>
            <a:ext cx="10399471" cy="81305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session = agent.</a:t>
            </a:r>
            <a:r>
              <a:rPr sz="1300">
                <a:solidFill>
                  <a:srgbClr val="B4C9FF"/>
                </a:solidFill>
                <a:latin typeface="Consolas"/>
              </a:rPr>
              <a:t>create_session</a:t>
            </a:r>
            <a:r>
              <a:rPr sz="1300">
                <a:solidFill>
                  <a:srgbClr val="D6DEEB"/>
                </a:solidFill>
                <a:latin typeface="Consolas"/>
              </a:rPr>
              <a:t>()          </a:t>
            </a:r>
            <a:r>
              <a:rPr sz="1300">
                <a:solidFill>
                  <a:srgbClr val="64748B"/>
                </a:solidFill>
                <a:latin typeface="Consolas"/>
              </a:rPr>
              <a:t># one conversation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"My name is Alice."</a:t>
            </a:r>
            <a:r>
              <a:rPr sz="1300">
                <a:solidFill>
                  <a:srgbClr val="D6DEEB"/>
                </a:solidFill>
                <a:latin typeface="Consolas"/>
              </a:rPr>
              <a:t>, session=session)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7AA2F7"/>
                </a:solidFill>
                <a:latin typeface="Consolas"/>
              </a:rPr>
              <a:t>await</a:t>
            </a:r>
            <a:r>
              <a:rPr sz="1300">
                <a:solidFill>
                  <a:srgbClr val="D6DEEB"/>
                </a:solidFill>
                <a:latin typeface="Consolas"/>
              </a:rPr>
              <a:t> agent.</a:t>
            </a:r>
            <a:r>
              <a:rPr sz="1300">
                <a:solidFill>
                  <a:srgbClr val="B4C9FF"/>
                </a:solidFill>
                <a:latin typeface="Consolas"/>
              </a:rPr>
              <a:t>run</a:t>
            </a:r>
            <a:r>
              <a:rPr sz="1300">
                <a:solidFill>
                  <a:srgbClr val="D6DEEB"/>
                </a:solidFill>
                <a:latin typeface="Consolas"/>
              </a:rPr>
              <a:t>(</a:t>
            </a:r>
            <a:r>
              <a:rPr sz="1300">
                <a:solidFill>
                  <a:srgbClr val="E5A57A"/>
                </a:solidFill>
                <a:latin typeface="Consolas"/>
              </a:rPr>
              <a:t>"What do you remember?"</a:t>
            </a:r>
            <a:r>
              <a:rPr sz="1300">
                <a:solidFill>
                  <a:srgbClr val="D6DEEB"/>
                </a:solidFill>
                <a:latin typeface="Consolas"/>
              </a:rPr>
              <a:t>, session=session)   </a:t>
            </a:r>
            <a:r>
              <a:rPr sz="1300">
                <a:solidFill>
                  <a:srgbClr val="64748B"/>
                </a:solidFill>
                <a:latin typeface="Consolas"/>
              </a:rPr>
              <a:t># knows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EXAMPLES/03_MULTI_TURN.PY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Sessions: multi-turn in three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766560" cy="331457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31457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400800" cy="30402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"ConversationAgent"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"Keep your answers brief."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session = agent.</a:t>
            </a:r>
            <a:r>
              <a:rPr sz="1250">
                <a:solidFill>
                  <a:srgbClr val="B4C9FF"/>
                </a:solidFill>
                <a:latin typeface="Consolas"/>
              </a:rPr>
              <a:t>create_session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"My name is Alice and I love hiking."</a:t>
            </a:r>
            <a:r>
              <a:rPr sz="1250">
                <a:solidFill>
                  <a:srgbClr val="D6DEEB"/>
                </a:solidFill>
                <a:latin typeface="Consolas"/>
              </a:rPr>
              <a:t>, session=session)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same session → the agent still has the earlier turns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result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"What do you remember about me?"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      session=session)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4555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01583" y="1783080"/>
            <a:ext cx="34015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Omit session → amnesia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3" y="2066543"/>
            <a:ext cx="34015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Each run starts clean. Sometimes that's what you want.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01583" y="2642615"/>
            <a:ext cx="34015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One session per conversation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1583" y="2926079"/>
            <a:ext cx="34015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Never share one across users or requests.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01583" y="3502151"/>
            <a:ext cx="34015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session.state is a dict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3" y="3785615"/>
            <a:ext cx="34015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Providers namespace their data by source_id.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4555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01583" y="4361688"/>
            <a:ext cx="34015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Swap the backing 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1583" y="4645151"/>
            <a:ext cx="340156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InMemory, Redis, Cosmos — same API.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MEMORY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Context providers: hooks around every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examples/04_memory.py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65960"/>
            <a:ext cx="6675120" cy="314401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965960"/>
            <a:ext cx="41148" cy="314401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2130552"/>
            <a:ext cx="6309359" cy="28696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UserMemoryProvider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ContextProvider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before_run</a:t>
            </a:r>
            <a:r>
              <a:rPr sz="1250">
                <a:solidFill>
                  <a:srgbClr val="D6DEEB"/>
                </a:solidFill>
                <a:latin typeface="Consolas"/>
              </a:rPr>
              <a:t>(self, *, agent, session, context, state):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name := state.</a:t>
            </a:r>
            <a:r>
              <a:rPr sz="1250">
                <a:solidFill>
                  <a:srgbClr val="B4C9FF"/>
                </a:solidFill>
                <a:latin typeface="Consolas"/>
              </a:rPr>
              <a:t>get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"user_name"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context.</a:t>
            </a:r>
            <a:r>
              <a:rPr sz="1250">
                <a:solidFill>
                  <a:srgbClr val="B4C9FF"/>
                </a:solidFill>
                <a:latin typeface="Consolas"/>
              </a:rPr>
              <a:t>extend_instructions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self.source_id, f</a:t>
            </a:r>
            <a:r>
              <a:rPr sz="1250">
                <a:solidFill>
                  <a:srgbClr val="E5A57A"/>
                </a:solidFill>
                <a:latin typeface="Consolas"/>
              </a:rPr>
              <a:t>"The user's name is {name}."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after_run</a:t>
            </a:r>
            <a:r>
              <a:rPr sz="1250">
                <a:solidFill>
                  <a:srgbClr val="D6DEEB"/>
                </a:solidFill>
                <a:latin typeface="Consolas"/>
              </a:rPr>
              <a:t>(self, *, agent, session, context, state):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msg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context.input_messages: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E5A57A"/>
                </a:solidFill>
                <a:latin typeface="Consolas"/>
              </a:rPr>
              <a:t>"my name is"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(msg.text </a:t>
            </a:r>
            <a:r>
              <a:rPr sz="1250">
                <a:solidFill>
                  <a:srgbClr val="7AA2F7"/>
                </a:solidFill>
                <a:latin typeface="Consolas"/>
              </a:rPr>
              <a:t>or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E5A57A"/>
                </a:solidFill>
                <a:latin typeface="Consolas"/>
              </a:rPr>
              <a:t>""</a:t>
            </a:r>
            <a:r>
              <a:rPr sz="1250">
                <a:solidFill>
                  <a:srgbClr val="D6DEEB"/>
                </a:solidFill>
                <a:latin typeface="Consolas"/>
              </a:rPr>
              <a:t>).</a:t>
            </a:r>
            <a:r>
              <a:rPr sz="1250">
                <a:solidFill>
                  <a:srgbClr val="B4C9FF"/>
                </a:solidFill>
                <a:latin typeface="Consolas"/>
              </a:rPr>
              <a:t>lower</a:t>
            </a:r>
            <a:r>
              <a:rPr sz="1250">
                <a:solidFill>
                  <a:srgbClr val="D6DEEB"/>
                </a:solidFill>
                <a:latin typeface="Consolas"/>
              </a:rPr>
              <a:t>():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state[</a:t>
            </a:r>
            <a:r>
              <a:rPr sz="1250">
                <a:solidFill>
                  <a:srgbClr val="E5A57A"/>
                </a:solidFill>
                <a:latin typeface="Consolas"/>
              </a:rPr>
              <a:t>"user_name"</a:t>
            </a:r>
            <a:r>
              <a:rPr sz="1250">
                <a:solidFill>
                  <a:srgbClr val="D6DEEB"/>
                </a:solidFill>
                <a:latin typeface="Consolas"/>
              </a:rPr>
              <a:t>] = </a:t>
            </a:r>
            <a:r>
              <a:rPr sz="1250">
                <a:solidFill>
                  <a:srgbClr val="B4C9FF"/>
                </a:solidFill>
                <a:latin typeface="Consolas"/>
              </a:rPr>
              <a:t>extract</a:t>
            </a:r>
            <a:r>
              <a:rPr sz="1250">
                <a:solidFill>
                  <a:srgbClr val="D6DEEB"/>
                </a:solidFill>
                <a:latin typeface="Consolas"/>
              </a:rPr>
              <a:t>(msg.text)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context_providers=[</a:t>
            </a:r>
            <a:r>
              <a:rPr sz="1250">
                <a:solidFill>
                  <a:srgbClr val="50E6FF"/>
                </a:solidFill>
                <a:latin typeface="Consolas"/>
              </a:rPr>
              <a:t>UserMemoryProvider</a:t>
            </a:r>
            <a:r>
              <a:rPr sz="1250">
                <a:solidFill>
                  <a:srgbClr val="D6DEEB"/>
                </a:solidFill>
                <a:latin typeface="Consolas"/>
              </a:rPr>
              <a:t>()])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54112" y="1783080"/>
            <a:ext cx="3749039" cy="841248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4ADE80"/>
                </a:solidFill>
                <a:latin typeface="Segoe UI"/>
              </a:rPr>
              <a:t>before_run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8B97AC"/>
                </a:solidFill>
                <a:latin typeface="Segoe UI"/>
              </a:rPr>
              <a:t>read state → inject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54112" y="2752344"/>
            <a:ext cx="3749039" cy="841248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FBBF24"/>
                </a:solidFill>
                <a:latin typeface="Segoe UI"/>
              </a:rPr>
              <a:t>after_run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8B97AC"/>
                </a:solidFill>
                <a:latin typeface="Segoe UI"/>
              </a:rPr>
              <a:t>observe the turn → write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3767328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state is namespaced per provider by source_id, so two providers never collide — and everything they write rides along in the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5175504"/>
            <a:ext cx="10765231" cy="93268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13232" y="5175504"/>
            <a:ext cx="50292" cy="93268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9264" y="5321808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THIS IS THE RAG SEAM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5596128"/>
            <a:ext cx="10308031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Retrieval is just a before_run that queries your store and calls extend_instructions. There is no separate 'RAG mode' — memory, retrieval and personalisation are all the same extension point.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EXAMPLES/05_MEMORY_PROVIDERS.PY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Providers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Same two hooks, different jobs. Order in the list is the order they 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21408"/>
            <a:ext cx="6583680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2121408"/>
            <a:ext cx="50292" cy="89611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26771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Consolas"/>
              </a:rPr>
              <a:t>InMemoryHistoryProvider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6672" y="227685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ADE80"/>
                </a:solidFill>
                <a:latin typeface="Segoe UI"/>
              </a:rPr>
              <a:t>the transcript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33472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load_messages=True — replays history into every run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127248"/>
            <a:ext cx="6583680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13232" y="3127248"/>
            <a:ext cx="50292" cy="89611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3273552"/>
            <a:ext cx="402336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350" b="1" dirty="0" err="1">
                <a:solidFill>
                  <a:srgbClr val="E8EDF5"/>
                </a:solidFill>
                <a:latin typeface="Consolas"/>
              </a:rPr>
              <a:t>Redis</a:t>
            </a:r>
            <a:r>
              <a:rPr sz="1350" b="1" i="0" dirty="0" err="1">
                <a:solidFill>
                  <a:srgbClr val="E8EDF5"/>
                </a:solidFill>
                <a:latin typeface="Consolas"/>
              </a:rPr>
              <a:t>ContextProvider</a:t>
            </a:r>
            <a:endParaRPr sz="1350" b="1" i="0" dirty="0">
              <a:solidFill>
                <a:srgbClr val="E8EDF5"/>
              </a:solidFill>
              <a:latin typeface="Consola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376672" y="328269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B7CF6"/>
                </a:solidFill>
                <a:latin typeface="Segoe UI"/>
              </a:rPr>
              <a:t>semantic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39312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durable facts retrieved across sessions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133087"/>
            <a:ext cx="6583680" cy="89611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13232" y="4133087"/>
            <a:ext cx="50292" cy="89611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427939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Consolas"/>
              </a:rPr>
              <a:t>InMemoryHistoryProvider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6672" y="428853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BBF24"/>
                </a:solidFill>
                <a:latin typeface="Segoe UI"/>
              </a:rPr>
              <a:t>the audit copy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645152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load_messages=False — records, never feeds the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71231" y="2121408"/>
            <a:ext cx="3931920" cy="146608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571231" y="2121408"/>
            <a:ext cx="41148" cy="146608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08975" y="2286000"/>
            <a:ext cx="3566160" cy="11917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context_providers=[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transcript,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agent_memory,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audit,   </a:t>
            </a:r>
            <a:r>
              <a:rPr sz="1200">
                <a:solidFill>
                  <a:srgbClr val="64748B"/>
                </a:solidFill>
                <a:latin typeface="Consolas"/>
              </a:rPr>
              <a:t># last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71231" y="3931920"/>
            <a:ext cx="3931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 dirty="0">
                <a:solidFill>
                  <a:srgbClr val="8B97AC"/>
                </a:solidFill>
                <a:latin typeface="Segoe UI"/>
              </a:rPr>
              <a:t>The audit store goes last so </a:t>
            </a:r>
            <a:r>
              <a:rPr sz="1250" b="0" i="0" dirty="0" err="1">
                <a:solidFill>
                  <a:srgbClr val="8B97AC"/>
                </a:solidFill>
                <a:latin typeface="Segoe UI"/>
              </a:rPr>
              <a:t>store_context_messages</a:t>
            </a:r>
            <a:r>
              <a:rPr sz="1250" b="0" i="0" dirty="0">
                <a:solidFill>
                  <a:srgbClr val="8B97AC"/>
                </a:solidFill>
                <a:latin typeface="Segoe UI"/>
              </a:rPr>
              <a:t>=True captures what the providers above it injected.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212080"/>
            <a:ext cx="10765231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13232" y="5212080"/>
            <a:ext cx="50292" cy="9144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9264" y="5358384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EACH PROVIDER OWNS A SLICE OF SESSION.STATE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5632704"/>
            <a:ext cx="103080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Namespaced by source_id, so two providers never collide. In the example the transcript holds 4 messages and the audit copy 6 — same run, different jobs.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EXAMPLES/06_PERSISTENT_HISTORY.PY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Persistence: outliving the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3736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37360"/>
            <a:ext cx="5120640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1956816"/>
            <a:ext cx="4480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The provider persists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40864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0E6FF"/>
                </a:solidFill>
                <a:latin typeface="Consolas"/>
              </a:rPr>
              <a:t>FileHistoryProvider(path)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724912"/>
            <a:ext cx="44805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Append-only file per session. Reuse the session_id and the previous run's history is already there.
Redis and Cosmos providers, same shape.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173736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82512" y="1737360"/>
            <a:ext cx="512064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93408" y="1956816"/>
            <a:ext cx="44805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You persist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340864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ADE80"/>
                </a:solidFill>
                <a:latin typeface="Consolas"/>
              </a:rPr>
              <a:t>session.to_dict()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2724912"/>
            <a:ext cx="44805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session is just a dict. Serialise it into whatever store you already run, then AgentSession.from_dict() to resume.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968496"/>
            <a:ext cx="10765231" cy="10603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13232" y="3968496"/>
            <a:ext cx="41148" cy="10603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" y="4133087"/>
            <a:ext cx="10399471" cy="78600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blob = json.</a:t>
            </a:r>
            <a:r>
              <a:rPr sz="1250">
                <a:solidFill>
                  <a:srgbClr val="B4C9FF"/>
                </a:solidFill>
                <a:latin typeface="Consolas"/>
              </a:rPr>
              <a:t>dumps</a:t>
            </a:r>
            <a:r>
              <a:rPr sz="1250">
                <a:solidFill>
                  <a:srgbClr val="D6DEEB"/>
                </a:solidFill>
                <a:latin typeface="Consolas"/>
              </a:rPr>
              <a:t>(session.</a:t>
            </a:r>
            <a:r>
              <a:rPr sz="1250">
                <a:solidFill>
                  <a:srgbClr val="B4C9FF"/>
                </a:solidFill>
                <a:latin typeface="Consolas"/>
              </a:rPr>
              <a:t>to_dict</a:t>
            </a:r>
            <a:r>
              <a:rPr sz="1250">
                <a:solidFill>
                  <a:srgbClr val="D6DEEB"/>
                </a:solidFill>
                <a:latin typeface="Consolas"/>
              </a:rPr>
              <a:t>())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~530 bytes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restored = </a:t>
            </a:r>
            <a:r>
              <a:rPr sz="1250">
                <a:solidFill>
                  <a:srgbClr val="50E6FF"/>
                </a:solidFill>
                <a:latin typeface="Consolas"/>
              </a:rPr>
              <a:t>AgentSession</a:t>
            </a:r>
            <a:r>
              <a:rPr sz="1250">
                <a:solidFill>
                  <a:srgbClr val="D6DEEB"/>
                </a:solidFill>
                <a:latin typeface="Consolas"/>
              </a:rPr>
              <a:t>.</a:t>
            </a:r>
            <a:r>
              <a:rPr sz="1250">
                <a:solidFill>
                  <a:srgbClr val="B4C9FF"/>
                </a:solidFill>
                <a:latin typeface="Consolas"/>
              </a:rPr>
              <a:t>from_dict</a:t>
            </a:r>
            <a:r>
              <a:rPr sz="1250">
                <a:solidFill>
                  <a:srgbClr val="D6DEEB"/>
                </a:solidFill>
                <a:latin typeface="Consolas"/>
              </a:rPr>
              <a:t>(json.</a:t>
            </a:r>
            <a:r>
              <a:rPr sz="1250">
                <a:solidFill>
                  <a:srgbClr val="B4C9FF"/>
                </a:solidFill>
                <a:latin typeface="Consolas"/>
              </a:rPr>
              <a:t>loads</a:t>
            </a:r>
            <a:r>
              <a:rPr sz="1250">
                <a:solidFill>
                  <a:srgbClr val="D6DEEB"/>
                </a:solidFill>
                <a:latin typeface="Consolas"/>
              </a:rPr>
              <a:t>(blob))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new_agent.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"What is my favourite colour?"</a:t>
            </a:r>
            <a:r>
              <a:rPr sz="1250">
                <a:solidFill>
                  <a:srgbClr val="D6DEEB"/>
                </a:solidFill>
                <a:latin typeface="Consolas"/>
              </a:rPr>
              <a:t>, session=restored)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193792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13232" y="5193792"/>
            <a:ext cx="50292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9264" y="5340096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THE PRODUCTION QUESTION THIS ANSWERS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5614416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"Where do sessions live when the process restarts?" — pick one of these two before you ship, not after.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MEMORY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Compaction: choosing what to forget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Long conversations do not fail gracefully. They fail at token limit N+1 — mid-sentence, in production.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21408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2121408"/>
            <a:ext cx="50292" cy="6583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22128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SlidingWindow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05456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keep the last N groups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121408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45352" y="2121408"/>
            <a:ext cx="50292" cy="6583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22128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Truncation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505456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over N messages? trim to 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2907791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13232" y="2907791"/>
            <a:ext cx="50292" cy="65836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" y="2999232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ToolResultCompaction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3291839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summarise old tool groups, keep the trace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2907791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45352" y="2907791"/>
            <a:ext cx="50292" cy="65836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19672" y="2999232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SelectiveToolCall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291839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drop old tool groups outright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694176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13232" y="3694176"/>
            <a:ext cx="50292" cy="65836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7552" y="3785615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ContextWindow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4078224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derive the budget from the model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694176"/>
            <a:ext cx="521208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45352" y="3694176"/>
            <a:ext cx="50292" cy="65836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19672" y="3785615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Consolas"/>
              </a:rPr>
              <a:t>Summarization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9672" y="4078224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fold old turns into prose (needs a model)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4553712"/>
            <a:ext cx="10765231" cy="402336"/>
          </a:xfrm>
          <a:prstGeom prst="roundRect">
            <a:avLst>
              <a:gd name="adj" fmla="val 10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13232" y="4626864"/>
            <a:ext cx="1076523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50E6FF"/>
                </a:solidFill>
                <a:latin typeface="Segoe UI"/>
              </a:rPr>
              <a:t>TokenBudgetComposedStrategy  —  run several, cheapest first, until the budget is met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175504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13232" y="5175504"/>
            <a:ext cx="50292" cy="9601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69264" y="5321808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THEY ARE NOT INTERCHANGEABLE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" y="5596128"/>
            <a:ext cx="1030803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Dropping a tool group reclaims more tokens than summarising it — and loses the trace. Summarising costs a model call. Example 08 runs all seven side by side so you can see the trade in numbers.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sessions, providers, persistence, compaction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61112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61112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3368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examples/03_multi_turn.py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examples/05_memory_providers.py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examples/06_persistent_history.py   </a:t>
            </a:r>
            <a:r>
              <a:rPr sz="1300">
                <a:solidFill>
                  <a:srgbClr val="64748B"/>
                </a:solidFill>
                <a:latin typeface="Consolas"/>
              </a:rPr>
              <a:t># run it twice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examples/08_compaction_strategies.py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03: drop session= on turn two — the agent forgets Alice.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05: transcript holds 4 messages, the audit copy 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06: run twice — the on-disk record count grows 2 → 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08: before/after token counts for every strategy.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08 needs no model for six of its seven strategies, and 11/12/13/14 need none at all — plenty to show if the model server stalls.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Stop writing one-off integrations for every tool and every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204825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the N×M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12463" y="4133087"/>
            <a:ext cx="149961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transports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58383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trust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EXAMPLES/09_MCP_DOCS_AGENT.PY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Connecting a tool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858000" cy="331457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31457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492240" cy="304025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, </a:t>
            </a:r>
            <a:r>
              <a:rPr sz="1250">
                <a:solidFill>
                  <a:srgbClr val="50E6FF"/>
                </a:solidFill>
                <a:latin typeface="Consolas"/>
              </a:rPr>
              <a:t>MCPStreamableHTTPTool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with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client=</a:t>
            </a:r>
            <a:r>
              <a:rPr sz="1250">
                <a:solidFill>
                  <a:srgbClr val="50E6FF"/>
                </a:solidFill>
                <a:latin typeface="Consolas"/>
              </a:rPr>
              <a:t>OpenAIChatCompletionClient</a:t>
            </a:r>
            <a:r>
              <a:rPr sz="1250">
                <a:solidFill>
                  <a:srgbClr val="D6DEEB"/>
                </a:solidFill>
                <a:latin typeface="Consolas"/>
              </a:rPr>
              <a:t>(),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"DocsAgent"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"You help with Microsoft documentation questions."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tools=</a:t>
            </a:r>
            <a:r>
              <a:rPr sz="1250">
                <a:solidFill>
                  <a:srgbClr val="50E6FF"/>
                </a:solidFill>
                <a:latin typeface="Consolas"/>
              </a:rPr>
              <a:t>MCPStreamableHTTPTool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name=</a:t>
            </a:r>
            <a:r>
              <a:rPr sz="1250">
                <a:solidFill>
                  <a:srgbClr val="E5A57A"/>
                </a:solidFill>
                <a:latin typeface="Consolas"/>
              </a:rPr>
              <a:t>"Microsoft Learn MCP"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url=</a:t>
            </a:r>
            <a:r>
              <a:rPr sz="1250">
                <a:solidFill>
                  <a:srgbClr val="E5A57A"/>
                </a:solidFill>
                <a:latin typeface="Consolas"/>
              </a:rPr>
              <a:t>"https://learn.microsoft.com/api/mcp"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),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) </a:t>
            </a:r>
            <a:r>
              <a:rPr sz="1250">
                <a:solidFill>
                  <a:srgbClr val="7AA2F7"/>
                </a:solidFill>
                <a:latin typeface="Consolas"/>
              </a:rPr>
              <a:t>as</a:t>
            </a:r>
            <a:r>
              <a:rPr sz="1250">
                <a:solidFill>
                  <a:srgbClr val="D6DEEB"/>
                </a:solidFill>
                <a:latin typeface="Consolas"/>
              </a:rPr>
              <a:t> agent: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chunk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agent.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(query, stream=</a:t>
            </a:r>
            <a:r>
              <a:rPr sz="1250">
                <a:solidFill>
                  <a:srgbClr val="7AA2F7"/>
                </a:solidFill>
                <a:latin typeface="Consolas"/>
              </a:rPr>
              <a:t>True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93023" y="1783080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async with is required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066543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tool owns a connection; the agent owns its lifetime.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7980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3" y="2697480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Tools are discovered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980944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server advertises its catalogue at connect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7124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93023" y="3611880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One line, many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895344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 server can expose dozens — you wire up none of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6992" y="4572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93023" y="475488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TRANSPORTS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5084064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Streamable HTTP for remote servers · stdio for local processes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an agent with a documentation tool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376680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376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102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examples/09_mcp_docs_agent.py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question it answers: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 "How do I create an Azure storage account with the az CLI?"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 tool schemas anywhere in the file — they came from the server.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The answer contains real commands, not model recall.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Ask a follow-up about a service the model predates.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Note the latency: remote tool + streaming generation.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Requires outbound internet to learn.microsoft.com. Have a screenshot ready, and fall back to walking the nine lines of code.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When one agent in a loop is the wrong shape for the problem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149961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functional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63824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graph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4133087"/>
            <a:ext cx="138988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executors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97296" y="4133087"/>
            <a:ext cx="9509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edges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94576" y="4133087"/>
            <a:ext cx="18288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orchestration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Autonomy versus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5120640" cy="2514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5120640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2011680"/>
            <a:ext cx="44805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EDF5"/>
                </a:solidFill>
                <a:latin typeface="Segoe UI"/>
              </a:rPr>
              <a:t>Agent decides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432304"/>
            <a:ext cx="44805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8B97AC"/>
                </a:solidFill>
                <a:latin typeface="Segoe UI"/>
              </a:rPr>
              <a:t>The model chooses the next step. Flexible, handles the unexpected, hard to predict or test.
Good for: open-ended research, support triage, anything where the path is not known in advance.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1783080"/>
            <a:ext cx="5120640" cy="25146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82512" y="1783080"/>
            <a:ext cx="5120640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93408" y="2011680"/>
            <a:ext cx="44805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8EDF5"/>
                </a:solidFill>
                <a:latin typeface="Segoe UI"/>
              </a:rPr>
              <a:t>You 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2432304"/>
            <a:ext cx="44805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The topology is code. Deterministic, testable, observable — and it will not improvise past what you wrote.
Good for: pipelines, approvals, anything with an SLA or an auditor.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572000"/>
            <a:ext cx="10765231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 Light"/>
              </a:rPr>
              <a:t>Most real systems are both: a deterministic workflow whose nodes happen to be agents.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5047488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13232" y="5047488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5212079"/>
            <a:ext cx="10399471" cy="5605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@workflow</a:t>
            </a:r>
            <a:r>
              <a:rPr sz="1250">
                <a:solidFill>
                  <a:srgbClr val="D6DEEB"/>
                </a:solidFill>
                <a:latin typeface="Consolas"/>
              </a:rPr>
              <a:t>           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functional — plain async Python, easy to read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WorkflowBuilder</a:t>
            </a:r>
            <a:r>
              <a:rPr sz="1250">
                <a:solidFill>
                  <a:srgbClr val="D6DEEB"/>
                </a:solidFill>
                <a:latin typeface="Consolas"/>
              </a:rPr>
              <a:t>(...)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graph — executors + edges, inspectable topology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EXAMPLES/10_FUNCTIONAL_WORKFLOW.PY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Functional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7654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7654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309359" cy="349110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, workflow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writer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(name=</a:t>
            </a:r>
            <a:r>
              <a:rPr sz="1250">
                <a:solidFill>
                  <a:srgbClr val="E5A57A"/>
                </a:solidFill>
                <a:latin typeface="Consolas"/>
              </a:rPr>
              <a:t>"WriterAgent"</a:t>
            </a:r>
            <a:r>
              <a:rPr sz="1250">
                <a:solidFill>
                  <a:srgbClr val="D6DEEB"/>
                </a:solidFill>
                <a:latin typeface="Consolas"/>
              </a:rPr>
              <a:t>, client=client,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"Write a short poem about the topic."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reviewer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(name=</a:t>
            </a:r>
            <a:r>
              <a:rPr sz="1250">
                <a:solidFill>
                  <a:srgbClr val="E5A57A"/>
                </a:solidFill>
                <a:latin typeface="Consolas"/>
              </a:rPr>
              <a:t>"ReviewerAgent"</a:t>
            </a:r>
            <a:r>
              <a:rPr sz="1250">
                <a:solidFill>
                  <a:srgbClr val="D6DEEB"/>
                </a:solidFill>
                <a:latin typeface="Consolas"/>
              </a:rPr>
              <a:t>, client=client,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"Review the poem in one sentence."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@workflow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poem_workflow</a:t>
            </a:r>
            <a:r>
              <a:rPr sz="1250">
                <a:solidFill>
                  <a:srgbClr val="D6DEEB"/>
                </a:solidFill>
                <a:latin typeface="Consolas"/>
              </a:rPr>
              <a:t>(topic: str) -&gt; str: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poem = (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writer.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(f</a:t>
            </a:r>
            <a:r>
              <a:rPr sz="1250">
                <a:solidFill>
                  <a:srgbClr val="E5A57A"/>
                </a:solidFill>
                <a:latin typeface="Consolas"/>
              </a:rPr>
              <a:t>"Write about: {topic}"</a:t>
            </a:r>
            <a:r>
              <a:rPr sz="1250">
                <a:solidFill>
                  <a:srgbClr val="D6DEEB"/>
                </a:solidFill>
                <a:latin typeface="Consolas"/>
              </a:rPr>
              <a:t>)).text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review = (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reviewer.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(f</a:t>
            </a:r>
            <a:r>
              <a:rPr sz="1250">
                <a:solidFill>
                  <a:srgbClr val="E5A57A"/>
                </a:solidFill>
                <a:latin typeface="Consolas"/>
              </a:rPr>
              <a:t>"Review: {poem}"</a:t>
            </a:r>
            <a:r>
              <a:rPr sz="1250">
                <a:solidFill>
                  <a:srgbClr val="D6DEEB"/>
                </a:solidFill>
                <a:latin typeface="Consolas"/>
              </a:rPr>
              <a:t>)).text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return</a:t>
            </a:r>
            <a:r>
              <a:rPr sz="1250">
                <a:solidFill>
                  <a:srgbClr val="D6DEEB"/>
                </a:solidFill>
                <a:latin typeface="Consolas"/>
              </a:rPr>
              <a:t> f</a:t>
            </a:r>
            <a:r>
              <a:rPr sz="1250">
                <a:solidFill>
                  <a:srgbClr val="E5A57A"/>
                </a:solidFill>
                <a:latin typeface="Consolas"/>
              </a:rPr>
              <a:t>"{poem}\n\nReview: {review}"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result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poem_workflow.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"a cat learning to code"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(result.</a:t>
            </a:r>
            <a:r>
              <a:rPr sz="1250">
                <a:solidFill>
                  <a:srgbClr val="B4C9FF"/>
                </a:solidFill>
                <a:latin typeface="Consolas"/>
              </a:rPr>
              <a:t>get_outputs</a:t>
            </a:r>
            <a:r>
              <a:rPr sz="1250">
                <a:solidFill>
                  <a:srgbClr val="D6DEEB"/>
                </a:solidFill>
                <a:latin typeface="Consolas"/>
              </a:rPr>
              <a:t>()[</a:t>
            </a:r>
            <a:r>
              <a:rPr sz="1250">
                <a:solidFill>
                  <a:srgbClr val="86E1A0"/>
                </a:solidFill>
                <a:latin typeface="Consolas"/>
              </a:rPr>
              <a:t>0</a:t>
            </a:r>
            <a:r>
              <a:rPr sz="1250">
                <a:solidFill>
                  <a:srgbClr val="D6DEEB"/>
                </a:solidFill>
                <a:latin typeface="Consolas"/>
              </a:rPr>
              <a:t>])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10144" y="1783080"/>
            <a:ext cx="3493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It reads like 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0144" y="2066543"/>
            <a:ext cx="349300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Because it is. Control flow is if/for/await.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5411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10144" y="2642615"/>
            <a:ext cx="3493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Agents are just callables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2926079"/>
            <a:ext cx="349300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Compose them however you compose functions.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5411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10144" y="3502151"/>
            <a:ext cx="3493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Outputs are a collection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0144" y="3785615"/>
            <a:ext cx="349300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get_outputs() — a run can yield more than 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5411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10144" y="4361688"/>
            <a:ext cx="3493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Best first 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4" y="4645151"/>
            <a:ext cx="349300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Reach for graphs when you need topology, not before.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EXAMPLES/11_GRAPH_WORKFLOW.PY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Graph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7654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7654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309359" cy="349110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UpperCase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Executor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FFCE5C"/>
                </a:solidFill>
                <a:latin typeface="Consolas"/>
              </a:rPr>
              <a:t>@handler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to_upper</a:t>
            </a:r>
            <a:r>
              <a:rPr sz="1250">
                <a:solidFill>
                  <a:srgbClr val="D6DEEB"/>
                </a:solidFill>
                <a:latin typeface="Consolas"/>
              </a:rPr>
              <a:t>(self, text: str, ctx: </a:t>
            </a:r>
            <a:r>
              <a:rPr sz="1250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50">
                <a:solidFill>
                  <a:srgbClr val="D6DEEB"/>
                </a:solidFill>
                <a:latin typeface="Consolas"/>
              </a:rPr>
              <a:t>[str]):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ctx.</a:t>
            </a:r>
            <a:r>
              <a:rPr sz="1250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50">
                <a:solidFill>
                  <a:srgbClr val="D6DEEB"/>
                </a:solidFill>
                <a:latin typeface="Consolas"/>
              </a:rPr>
              <a:t>(text.</a:t>
            </a:r>
            <a:r>
              <a:rPr sz="1250">
                <a:solidFill>
                  <a:srgbClr val="B4C9FF"/>
                </a:solidFill>
                <a:latin typeface="Consolas"/>
              </a:rPr>
              <a:t>upper</a:t>
            </a:r>
            <a:r>
              <a:rPr sz="125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FFCE5C"/>
                </a:solidFill>
                <a:latin typeface="Consolas"/>
              </a:rPr>
              <a:t>@executor</a:t>
            </a:r>
            <a:r>
              <a:rPr sz="1250">
                <a:solidFill>
                  <a:srgbClr val="D6DEEB"/>
                </a:solidFill>
                <a:latin typeface="Consolas"/>
              </a:rPr>
              <a:t>(id=</a:t>
            </a:r>
            <a:r>
              <a:rPr sz="1250">
                <a:solidFill>
                  <a:srgbClr val="E5A57A"/>
                </a:solidFill>
                <a:latin typeface="Consolas"/>
              </a:rPr>
              <a:t>"reverse_text"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reverse_text</a:t>
            </a:r>
            <a:r>
              <a:rPr sz="1250">
                <a:solidFill>
                  <a:srgbClr val="D6DEEB"/>
                </a:solidFill>
                <a:latin typeface="Consolas"/>
              </a:rPr>
              <a:t>(text: str, ctx: </a:t>
            </a:r>
            <a:r>
              <a:rPr sz="1250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50">
                <a:solidFill>
                  <a:srgbClr val="D6DEEB"/>
                </a:solidFill>
                <a:latin typeface="Consolas"/>
              </a:rPr>
              <a:t>[</a:t>
            </a:r>
            <a:r>
              <a:rPr sz="1250">
                <a:solidFill>
                  <a:srgbClr val="50E6FF"/>
                </a:solidFill>
                <a:latin typeface="Consolas"/>
              </a:rPr>
              <a:t>Never</a:t>
            </a:r>
            <a:r>
              <a:rPr sz="1250">
                <a:solidFill>
                  <a:srgbClr val="D6DEEB"/>
                </a:solidFill>
                <a:latin typeface="Consolas"/>
              </a:rPr>
              <a:t>, str]):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ctx.</a:t>
            </a:r>
            <a:r>
              <a:rPr sz="1250">
                <a:solidFill>
                  <a:srgbClr val="B4C9FF"/>
                </a:solidFill>
                <a:latin typeface="Consolas"/>
              </a:rPr>
              <a:t>yield_output</a:t>
            </a:r>
            <a:r>
              <a:rPr sz="1250">
                <a:solidFill>
                  <a:srgbClr val="D6DEEB"/>
                </a:solidFill>
                <a:latin typeface="Consolas"/>
              </a:rPr>
              <a:t>(text[::-</a:t>
            </a:r>
            <a:r>
              <a:rPr sz="1250">
                <a:solidFill>
                  <a:srgbClr val="86E1A0"/>
                </a:solidFill>
                <a:latin typeface="Consolas"/>
              </a:rPr>
              <a:t>1</a:t>
            </a:r>
            <a:r>
              <a:rPr sz="1250">
                <a:solidFill>
                  <a:srgbClr val="D6DEEB"/>
                </a:solidFill>
                <a:latin typeface="Consolas"/>
              </a:rPr>
              <a:t>])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upper = </a:t>
            </a:r>
            <a:r>
              <a:rPr sz="1250">
                <a:solidFill>
                  <a:srgbClr val="50E6FF"/>
                </a:solidFill>
                <a:latin typeface="Consolas"/>
              </a:rPr>
              <a:t>UpperCase</a:t>
            </a:r>
            <a:r>
              <a:rPr sz="1250">
                <a:solidFill>
                  <a:srgbClr val="D6DEEB"/>
                </a:solidFill>
                <a:latin typeface="Consolas"/>
              </a:rPr>
              <a:t>(id=</a:t>
            </a:r>
            <a:r>
              <a:rPr sz="1250">
                <a:solidFill>
                  <a:srgbClr val="E5A57A"/>
                </a:solidFill>
                <a:latin typeface="Consolas"/>
              </a:rPr>
              <a:t>"upper_case"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wf = (</a:t>
            </a:r>
            <a:r>
              <a:rPr sz="1250">
                <a:solidFill>
                  <a:srgbClr val="50E6FF"/>
                </a:solidFill>
                <a:latin typeface="Consolas"/>
              </a:rPr>
              <a:t>WorkflowBuilder</a:t>
            </a:r>
            <a:r>
              <a:rPr sz="1250">
                <a:solidFill>
                  <a:srgbClr val="D6DEEB"/>
                </a:solidFill>
                <a:latin typeface="Consolas"/>
              </a:rPr>
              <a:t>(start_executor=upper)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.</a:t>
            </a:r>
            <a:r>
              <a:rPr sz="1250">
                <a:solidFill>
                  <a:srgbClr val="B4C9FF"/>
                </a:solidFill>
                <a:latin typeface="Consolas"/>
              </a:rPr>
              <a:t>add_edge</a:t>
            </a:r>
            <a:r>
              <a:rPr sz="1250">
                <a:solidFill>
                  <a:srgbClr val="D6DEEB"/>
                </a:solidFill>
                <a:latin typeface="Consolas"/>
              </a:rPr>
              <a:t>(upper, reverse_text)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.</a:t>
            </a:r>
            <a:r>
              <a:rPr sz="1250">
                <a:solidFill>
                  <a:srgbClr val="B4C9FF"/>
                </a:solidFill>
                <a:latin typeface="Consolas"/>
              </a:rPr>
              <a:t>build</a:t>
            </a:r>
            <a:r>
              <a:rPr sz="125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events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wf.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"hello world"</a:t>
            </a:r>
            <a:r>
              <a:rPr sz="1250">
                <a:solidFill>
                  <a:srgbClr val="D6DEEB"/>
                </a:solidFill>
                <a:latin typeface="Consolas"/>
              </a:rPr>
              <a:t>)   </a:t>
            </a:r>
            <a:r>
              <a:rPr sz="1250">
                <a:solidFill>
                  <a:srgbClr val="64748B"/>
                </a:solidFill>
                <a:latin typeface="Consolas"/>
              </a:rPr>
              <a:t># ['DLROW OLLEH']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1783080"/>
            <a:ext cx="3749039" cy="71323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upper_case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Executor + @handler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2578608"/>
            <a:ext cx="274320" cy="365760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754112" y="3017520"/>
            <a:ext cx="3749039" cy="713232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reverse_text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@executor → yield_output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3931920"/>
            <a:ext cx="374903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Nodes are executors, edges route messages. send_message passes on; yield_output ends the run with a result.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54112" y="5029200"/>
            <a:ext cx="27432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runs with no model at all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EXAMPLES/12_EXECUTOR_TYPES.PY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E8EDF5"/>
                </a:solidFill>
                <a:latin typeface="Segoe UI Light"/>
              </a:rPr>
              <a:t>Executors: </a:t>
            </a:r>
            <a:r>
              <a:rPr lang="en-US" sz="3000" b="1" i="0" dirty="0">
                <a:solidFill>
                  <a:srgbClr val="E8EDF5"/>
                </a:solidFill>
                <a:latin typeface="Segoe UI Light"/>
              </a:rPr>
              <a:t>T</a:t>
            </a:r>
            <a:r>
              <a:rPr lang="en-US" sz="3000" b="1" dirty="0">
                <a:solidFill>
                  <a:srgbClr val="E8EDF5"/>
                </a:solidFill>
                <a:latin typeface="Segoe UI Light"/>
              </a:rPr>
              <a:t>wo</a:t>
            </a:r>
            <a:r>
              <a:rPr sz="3000" b="1" i="0" dirty="0">
                <a:solidFill>
                  <a:srgbClr val="E8EDF5"/>
                </a:solidFill>
                <a:latin typeface="Segoe UI Light"/>
              </a:rPr>
              <a:t> ways to declare a node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6537960" cy="3846576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64208"/>
            <a:ext cx="41148" cy="384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28800"/>
            <a:ext cx="5777223" cy="21651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7AA2F7"/>
                </a:solidFill>
                <a:latin typeface="Consolas"/>
              </a:rPr>
              <a:t>class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>
                <a:solidFill>
                  <a:srgbClr val="50E6FF"/>
                </a:solidFill>
                <a:latin typeface="Consolas"/>
              </a:rPr>
              <a:t>Ingest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</a:t>
            </a:r>
            <a:r>
              <a:rPr sz="1200" dirty="0">
                <a:solidFill>
                  <a:srgbClr val="50E6FF"/>
                </a:solidFill>
                <a:latin typeface="Consolas"/>
              </a:rPr>
              <a:t>Executor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):                  </a:t>
            </a:r>
            <a:r>
              <a:rPr sz="1200" dirty="0">
                <a:solidFill>
                  <a:srgbClr val="64748B"/>
                </a:solidFill>
                <a:latin typeface="Consolas"/>
              </a:rPr>
              <a:t># 1. class-based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   </a:t>
            </a:r>
            <a:r>
              <a:rPr sz="1200" dirty="0">
                <a:solidFill>
                  <a:srgbClr val="FFCE5C"/>
                </a:solidFill>
                <a:latin typeface="Consolas"/>
              </a:rPr>
              <a:t>@handler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   </a:t>
            </a:r>
            <a:r>
              <a:rPr sz="1200" dirty="0">
                <a:solidFill>
                  <a:srgbClr val="7AA2F7"/>
                </a:solidFill>
                <a:latin typeface="Consolas"/>
              </a:rPr>
              <a:t>async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>
                <a:solidFill>
                  <a:srgbClr val="7AA2F7"/>
                </a:solidFill>
                <a:latin typeface="Consolas"/>
              </a:rPr>
              <a:t>def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B4C9FF"/>
                </a:solidFill>
                <a:latin typeface="Consolas"/>
              </a:rPr>
              <a:t>from_text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(self, t: str, </a:t>
            </a:r>
            <a:r>
              <a:rPr sz="1200" dirty="0" err="1">
                <a:solidFill>
                  <a:srgbClr val="D6DEEB"/>
                </a:solidFill>
                <a:latin typeface="Consolas"/>
              </a:rPr>
              <a:t>ctx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: </a:t>
            </a:r>
            <a:r>
              <a:rPr sz="1200" dirty="0" err="1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[str]):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       </a:t>
            </a:r>
            <a:r>
              <a:rPr sz="1200" dirty="0">
                <a:solidFill>
                  <a:srgbClr val="7AA2F7"/>
                </a:solidFill>
                <a:latin typeface="Consolas"/>
              </a:rPr>
              <a:t>await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D6DEEB"/>
                </a:solidFill>
                <a:latin typeface="Consolas"/>
              </a:rPr>
              <a:t>ctx.</a:t>
            </a:r>
            <a:r>
              <a:rPr sz="1200" dirty="0" err="1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(t)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FFCE5C"/>
                </a:solidFill>
                <a:latin typeface="Consolas"/>
              </a:rPr>
              <a:t>@executor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(id=</a:t>
            </a:r>
            <a:r>
              <a:rPr sz="1200" dirty="0">
                <a:solidFill>
                  <a:srgbClr val="E5A57A"/>
                </a:solidFill>
                <a:latin typeface="Consolas"/>
              </a:rPr>
              <a:t>"</a:t>
            </a:r>
            <a:r>
              <a:rPr sz="1200" dirty="0" err="1">
                <a:solidFill>
                  <a:srgbClr val="E5A57A"/>
                </a:solidFill>
                <a:latin typeface="Consolas"/>
              </a:rPr>
              <a:t>normalise</a:t>
            </a:r>
            <a:r>
              <a:rPr sz="1200" dirty="0">
                <a:solidFill>
                  <a:srgbClr val="E5A57A"/>
                </a:solidFill>
                <a:latin typeface="Consolas"/>
              </a:rPr>
              <a:t>"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)                 </a:t>
            </a:r>
            <a:r>
              <a:rPr sz="1200" dirty="0">
                <a:solidFill>
                  <a:srgbClr val="64748B"/>
                </a:solidFill>
                <a:latin typeface="Consolas"/>
              </a:rPr>
              <a:t># </a:t>
            </a:r>
            <a:r>
              <a:rPr lang="en-US" sz="1200" dirty="0">
                <a:solidFill>
                  <a:srgbClr val="64748B"/>
                </a:solidFill>
                <a:latin typeface="Consolas"/>
              </a:rPr>
              <a:t>2</a:t>
            </a:r>
            <a:r>
              <a:rPr sz="1200" dirty="0">
                <a:solidFill>
                  <a:srgbClr val="64748B"/>
                </a:solidFill>
                <a:latin typeface="Consolas"/>
              </a:rPr>
              <a:t> function-based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7AA2F7"/>
                </a:solidFill>
                <a:latin typeface="Consolas"/>
              </a:rPr>
              <a:t>async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>
                <a:solidFill>
                  <a:srgbClr val="7AA2F7"/>
                </a:solidFill>
                <a:latin typeface="Consolas"/>
              </a:rPr>
              <a:t>def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B4C9FF"/>
                </a:solidFill>
                <a:latin typeface="Consolas"/>
              </a:rPr>
              <a:t>normalise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(t: str, </a:t>
            </a:r>
            <a:r>
              <a:rPr sz="1200" dirty="0" err="1">
                <a:solidFill>
                  <a:srgbClr val="D6DEEB"/>
                </a:solidFill>
                <a:latin typeface="Consolas"/>
              </a:rPr>
              <a:t>ctx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: </a:t>
            </a:r>
            <a:r>
              <a:rPr sz="1200" dirty="0" err="1">
                <a:solidFill>
                  <a:srgbClr val="50E6FF"/>
                </a:solidFill>
                <a:latin typeface="Consolas"/>
              </a:rPr>
              <a:t>WorkflowContext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[str]):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   </a:t>
            </a:r>
            <a:r>
              <a:rPr sz="1200" dirty="0">
                <a:solidFill>
                  <a:srgbClr val="7AA2F7"/>
                </a:solidFill>
                <a:latin typeface="Consolas"/>
              </a:rPr>
              <a:t>await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D6DEEB"/>
                </a:solidFill>
                <a:latin typeface="Consolas"/>
              </a:rPr>
              <a:t>ctx.</a:t>
            </a:r>
            <a:r>
              <a:rPr sz="1200" dirty="0" err="1">
                <a:solidFill>
                  <a:srgbClr val="B4C9FF"/>
                </a:solidFill>
                <a:latin typeface="Consolas"/>
              </a:rPr>
              <a:t>send_message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</a:t>
            </a:r>
            <a:r>
              <a:rPr sz="1200" dirty="0" err="1">
                <a:solidFill>
                  <a:srgbClr val="D6DEEB"/>
                </a:solidFill>
                <a:latin typeface="Consolas"/>
              </a:rPr>
              <a:t>t.</a:t>
            </a:r>
            <a:r>
              <a:rPr sz="1200" dirty="0" err="1">
                <a:solidFill>
                  <a:srgbClr val="B4C9FF"/>
                </a:solidFill>
                <a:latin typeface="Consolas"/>
              </a:rPr>
              <a:t>lower</a:t>
            </a:r>
            <a:r>
              <a:rPr sz="1200" dirty="0">
                <a:solidFill>
                  <a:srgbClr val="D6DEEB"/>
                </a:solidFill>
                <a:latin typeface="Consolas"/>
              </a:rPr>
              <a:t>())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 dirty="0">
                <a:solidFill>
                  <a:srgbClr val="D6DEEB"/>
                </a:solidFill>
                <a:latin typeface="Consolas"/>
              </a:rPr>
              <a:t> </a:t>
            </a:r>
            <a:endParaRPr lang="en-IN" sz="1200" dirty="0">
              <a:solidFill>
                <a:srgbClr val="D6DEEB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525512" y="1737360"/>
            <a:ext cx="39776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THE CONTEXT TYPES ARE THE CONTRACT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5512" y="2121408"/>
            <a:ext cx="45720" cy="566928"/>
          </a:xfrm>
          <a:prstGeom prst="rect">
            <a:avLst/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35823" y="2139696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5823" y="2414015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side effects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25512" y="2779776"/>
            <a:ext cx="45720" cy="56692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35823" y="2798064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WorkflowContext[T]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35823" y="3072384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sends T downstream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25512" y="3438144"/>
            <a:ext cx="45720" cy="5669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35823" y="3456432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WorkflowContext[Never, U]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5823" y="3730752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yields U, sends nothing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25512" y="4096511"/>
            <a:ext cx="45720" cy="566928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35823" y="4114799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8EDF5"/>
                </a:solidFill>
                <a:latin typeface="Consolas"/>
              </a:rPr>
              <a:t>WorkflowContext[T, U]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5823" y="4389120"/>
            <a:ext cx="37490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sends T and yields 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5512" y="4846320"/>
            <a:ext cx="397763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BBF24"/>
                </a:solidFill>
                <a:latin typeface="Segoe UI"/>
              </a:rPr>
              <a:t>Validated at build time — a mismatch fails the build, not the run.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EXAMPLES/13_EDGE_PATTERNS.PY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Edges: six ways to wire the 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19072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19072"/>
            <a:ext cx="50292" cy="60350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1801368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add_chain([a, b, c])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066543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linear pipeline — the 90%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432304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13232" y="2432304"/>
            <a:ext cx="50292" cy="60350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87552" y="2514600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add_edge(a, b, condition=...)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779776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take the edge only if a predicate 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145536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13232" y="3145536"/>
            <a:ext cx="50292" cy="603504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3227832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add_fan_out_edges(a, [b, c])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3493008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same message to several nodes, in parallel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858768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13232" y="3858768"/>
            <a:ext cx="50292" cy="603504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87552" y="3941064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add_fan_in_edges([b, c], 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206240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d receives a list of collected results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572000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13232" y="4572000"/>
            <a:ext cx="50292" cy="60350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" y="4654296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add_switch_case_edge_group(...)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919472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Case / Default — exactly one branch wins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285232"/>
            <a:ext cx="6537960" cy="6035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13232" y="5285232"/>
            <a:ext cx="50292" cy="60350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87552" y="5367528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8EDF5"/>
                </a:solidFill>
                <a:latin typeface="Consolas"/>
              </a:rPr>
              <a:t>add_multi_selection_edge_group(...)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5632704"/>
            <a:ext cx="6035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pick a subset of targets at runtime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25512" y="1719072"/>
            <a:ext cx="3977639" cy="2250566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525512" y="1719072"/>
            <a:ext cx="41148" cy="225056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63256" y="1883664"/>
            <a:ext cx="3611879" cy="197624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wf = (</a:t>
            </a:r>
            <a:r>
              <a:rPr sz="1150">
                <a:solidFill>
                  <a:srgbClr val="50E6FF"/>
                </a:solidFill>
                <a:latin typeface="Consolas"/>
              </a:rPr>
              <a:t>WorkflowBuilder</a:t>
            </a:r>
            <a:r>
              <a:rPr sz="11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 start_executor=triage)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.</a:t>
            </a:r>
            <a:r>
              <a:rPr sz="1150">
                <a:solidFill>
                  <a:srgbClr val="B4C9FF"/>
                </a:solidFill>
                <a:latin typeface="Consolas"/>
              </a:rPr>
              <a:t>add_switch_case_edge_group</a:t>
            </a:r>
            <a:r>
              <a:rPr sz="11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triage, [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</a:t>
            </a:r>
            <a:r>
              <a:rPr sz="1150">
                <a:solidFill>
                  <a:srgbClr val="50E6FF"/>
                </a:solidFill>
                <a:latin typeface="Consolas"/>
              </a:rPr>
              <a:t>Case</a:t>
            </a:r>
            <a:r>
              <a:rPr sz="1150">
                <a:solidFill>
                  <a:srgbClr val="D6DEEB"/>
                </a:solidFill>
                <a:latin typeface="Consolas"/>
              </a:rPr>
              <a:t>(condition=is_sev1,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     target=pager),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  </a:t>
            </a:r>
            <a:r>
              <a:rPr sz="1150">
                <a:solidFill>
                  <a:srgbClr val="50E6FF"/>
                </a:solidFill>
                <a:latin typeface="Consolas"/>
              </a:rPr>
              <a:t>Default</a:t>
            </a:r>
            <a:r>
              <a:rPr sz="1150">
                <a:solidFill>
                  <a:srgbClr val="D6DEEB"/>
                </a:solidFill>
                <a:latin typeface="Consolas"/>
              </a:rPr>
              <a:t>(target=backlog),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   ])</a:t>
            </a:r>
          </a:p>
          <a:p>
            <a:pPr>
              <a:lnSpc>
                <a:spcPts val="1632"/>
              </a:lnSpc>
              <a:spcAft>
                <a:spcPts val="0"/>
              </a:spcAft>
            </a:pPr>
            <a:r>
              <a:rPr sz="1150">
                <a:solidFill>
                  <a:srgbClr val="D6DEEB"/>
                </a:solidFill>
                <a:latin typeface="Consolas"/>
              </a:rPr>
              <a:t>  .</a:t>
            </a:r>
            <a:r>
              <a:rPr sz="1150">
                <a:solidFill>
                  <a:srgbClr val="B4C9FF"/>
                </a:solidFill>
                <a:latin typeface="Consolas"/>
              </a:rPr>
              <a:t>build</a:t>
            </a:r>
            <a:r>
              <a:rPr sz="1150">
                <a:solidFill>
                  <a:srgbClr val="D6DEEB"/>
                </a:solidFill>
                <a:latin typeface="Consolas"/>
              </a:rPr>
              <a:t>())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25512" y="4224528"/>
            <a:ext cx="3977639" cy="1517904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525512" y="4224528"/>
            <a:ext cx="50292" cy="1517904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81544" y="4370832"/>
            <a:ext cx="352043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TWO GOTCHAS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81544" y="4645152"/>
            <a:ext cx="3520439" cy="9692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Conditional edges are evaluated independently — overlapping predicates run both branches.
A switch group needs a Default.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Orchestration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3456432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2002536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Sequential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5000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SequentialBuilder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60904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 → B → C. Pipelines, review chains.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56432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2002536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Concurrent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35000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B7CF6"/>
                </a:solidFill>
                <a:latin typeface="Consolas"/>
              </a:rPr>
              <a:t>ConcurrentBuilder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2660904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Fan out, gather, aggregate.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1" y="178308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28431" y="1783080"/>
            <a:ext cx="3456432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02752" y="2002536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Handoff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35000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BBF24"/>
                </a:solidFill>
                <a:latin typeface="Consolas"/>
              </a:rPr>
              <a:t>HandoffBuilder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660904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Route to the specialist, transfer control.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264408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3264408"/>
            <a:ext cx="3456432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552" y="3483864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Group 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38313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GroupChatBuilder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142232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Shared transcript, managed turn-taking.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70832" y="3264408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370832" y="3264408"/>
            <a:ext cx="3456432" cy="5029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45152" y="3483864"/>
            <a:ext cx="2926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Magentic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5152" y="38313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B7185"/>
                </a:solidFill>
                <a:latin typeface="Consolas"/>
              </a:rPr>
              <a:t>MagenticBuilder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5152" y="4142232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A manager plans and delegates dynamically.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28431" y="3264408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02752" y="34747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PICK THE DULLEST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803904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Cost and unpredictability climb as you go down this list.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5029200"/>
            <a:ext cx="10765231" cy="9144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13232" y="5029200"/>
            <a:ext cx="50292" cy="9144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69264" y="5175504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Segoe UI"/>
              </a:rPr>
              <a:t>SEQUENCING ADVICE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" y="5449824"/>
            <a:ext cx="103080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Start sequential. Move to concurrent when latency hurts. Reach for magentic only when you genuinely cannot enumerate the steps — it is the most capable and the least predictable option here.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EXAMPLES/15_CONCURRENT_ORCHESTRATION.PY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Fan-out, fan-in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675120" cy="35399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5399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309359" cy="326567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from</a:t>
            </a:r>
            <a:r>
              <a:rPr sz="1250">
                <a:solidFill>
                  <a:srgbClr val="D6DEEB"/>
                </a:solidFill>
                <a:latin typeface="Consolas"/>
              </a:rPr>
              <a:t> agent_framework.orchestrations </a:t>
            </a:r>
            <a:r>
              <a:rPr sz="1250">
                <a:solidFill>
                  <a:srgbClr val="7AA2F7"/>
                </a:solidFill>
                <a:latin typeface="Consolas"/>
              </a:rPr>
              <a:t>import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ConcurrentBuilder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researcher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(client=client, name=</a:t>
            </a:r>
            <a:r>
              <a:rPr sz="1250">
                <a:solidFill>
                  <a:srgbClr val="E5A57A"/>
                </a:solidFill>
                <a:latin typeface="Consolas"/>
              </a:rPr>
              <a:t>"researcher"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instructions=</a:t>
            </a:r>
            <a:r>
              <a:rPr sz="1250">
                <a:solidFill>
                  <a:srgbClr val="E5A57A"/>
                </a:solidFill>
                <a:latin typeface="Consolas"/>
              </a:rPr>
              <a:t>"Concise, factual market insights."</a:t>
            </a:r>
            <a:r>
              <a:rPr sz="125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   default_options={</a:t>
            </a:r>
            <a:r>
              <a:rPr sz="1250">
                <a:solidFill>
                  <a:srgbClr val="E5A57A"/>
                </a:solidFill>
                <a:latin typeface="Consolas"/>
              </a:rPr>
              <a:t>"max_tokens"</a:t>
            </a:r>
            <a:r>
              <a:rPr sz="1250">
                <a:solidFill>
                  <a:srgbClr val="D6DEEB"/>
                </a:solidFill>
                <a:latin typeface="Consolas"/>
              </a:rPr>
              <a:t>: </a:t>
            </a:r>
            <a:r>
              <a:rPr sz="1250">
                <a:solidFill>
                  <a:srgbClr val="86E1A0"/>
                </a:solidFill>
                <a:latin typeface="Consolas"/>
              </a:rPr>
              <a:t>500</a:t>
            </a:r>
            <a:r>
              <a:rPr sz="1250">
                <a:solidFill>
                  <a:srgbClr val="D6DEEB"/>
                </a:solidFill>
                <a:latin typeface="Consolas"/>
              </a:rPr>
              <a:t>})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marketer  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name=</a:t>
            </a:r>
            <a:r>
              <a:rPr sz="1250">
                <a:solidFill>
                  <a:srgbClr val="E5A57A"/>
                </a:solidFill>
                <a:latin typeface="Consolas"/>
              </a:rPr>
              <a:t>"marketer"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legal     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name=</a:t>
            </a:r>
            <a:r>
              <a:rPr sz="1250">
                <a:solidFill>
                  <a:srgbClr val="E5A57A"/>
                </a:solidFill>
                <a:latin typeface="Consolas"/>
              </a:rPr>
              <a:t>"legal"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workflow = </a:t>
            </a:r>
            <a:r>
              <a:rPr sz="1250">
                <a:solidFill>
                  <a:srgbClr val="50E6FF"/>
                </a:solidFill>
                <a:latin typeface="Consolas"/>
              </a:rPr>
              <a:t>ConcurrentBuilder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participants=[researcher, marketer, legal]).</a:t>
            </a:r>
            <a:r>
              <a:rPr sz="1250">
                <a:solidFill>
                  <a:srgbClr val="B4C9FF"/>
                </a:solidFill>
                <a:latin typeface="Consolas"/>
              </a:rPr>
              <a:t>build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events =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workflow.</a:t>
            </a:r>
            <a:r>
              <a:rPr sz="1250">
                <a:solidFill>
                  <a:srgbClr val="B4C9FF"/>
                </a:solidFill>
                <a:latin typeface="Consolas"/>
              </a:rPr>
              <a:t>run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"We are launching a budget e-bike."</a:t>
            </a:r>
            <a:r>
              <a:rPr sz="1250">
                <a:solidFill>
                  <a:srgbClr val="D6DEEB"/>
                </a:solidFill>
                <a:latin typeface="Consolas"/>
              </a:rPr>
              <a:t>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for</a:t>
            </a:r>
            <a:r>
              <a:rPr sz="1250">
                <a:solidFill>
                  <a:srgbClr val="D6DEEB"/>
                </a:solidFill>
                <a:latin typeface="Consolas"/>
              </a:rPr>
              <a:t> msg </a:t>
            </a:r>
            <a:r>
              <a:rPr sz="1250">
                <a:solidFill>
                  <a:srgbClr val="7AA2F7"/>
                </a:solidFill>
                <a:latin typeface="Consolas"/>
              </a:rPr>
              <a:t>in</a:t>
            </a:r>
            <a:r>
              <a:rPr sz="1250">
                <a:solidFill>
                  <a:srgbClr val="D6DEEB"/>
                </a:solidFill>
                <a:latin typeface="Consolas"/>
              </a:rPr>
              <a:t> events.</a:t>
            </a:r>
            <a:r>
              <a:rPr sz="1250">
                <a:solidFill>
                  <a:srgbClr val="B4C9FF"/>
                </a:solidFill>
                <a:latin typeface="Consolas"/>
              </a:rPr>
              <a:t>get_outputs</a:t>
            </a:r>
            <a:r>
              <a:rPr sz="1250">
                <a:solidFill>
                  <a:srgbClr val="D6DEEB"/>
                </a:solidFill>
                <a:latin typeface="Consolas"/>
              </a:rPr>
              <a:t>()[</a:t>
            </a:r>
            <a:r>
              <a:rPr sz="1250">
                <a:solidFill>
                  <a:srgbClr val="86E1A0"/>
                </a:solidFill>
                <a:latin typeface="Consolas"/>
              </a:rPr>
              <a:t>0</a:t>
            </a:r>
            <a:r>
              <a:rPr sz="1250">
                <a:solidFill>
                  <a:srgbClr val="D6DEEB"/>
                </a:solidFill>
                <a:latin typeface="Consolas"/>
              </a:rPr>
              <a:t>].messages: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B4C9FF"/>
                </a:solidFill>
                <a:latin typeface="Consolas"/>
              </a:rPr>
              <a:t>print</a:t>
            </a:r>
            <a:r>
              <a:rPr sz="1250">
                <a:solidFill>
                  <a:srgbClr val="D6DEEB"/>
                </a:solidFill>
                <a:latin typeface="Consolas"/>
              </a:rPr>
              <a:t>(msg.author_name, msg.text)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05672" y="1828800"/>
            <a:ext cx="1645920" cy="5486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Segoe UI"/>
              </a:rPr>
              <a:t>prompt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238744" y="248716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754112" y="294436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36576" rIns="27432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8EDF5"/>
                </a:solidFill>
                <a:latin typeface="Segoe UI"/>
              </a:rPr>
              <a:t>researcher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238744" y="376732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Down Arrow 14"/>
          <p:cNvSpPr/>
          <p:nvPr/>
        </p:nvSpPr>
        <p:spPr>
          <a:xfrm>
            <a:off x="9528048" y="248716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043416" y="294436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36576" rIns="27432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8EDF5"/>
                </a:solidFill>
                <a:latin typeface="Segoe UI"/>
              </a:rPr>
              <a:t>marketer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9528048" y="376732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Down Arrow 17"/>
          <p:cNvSpPr/>
          <p:nvPr/>
        </p:nvSpPr>
        <p:spPr>
          <a:xfrm>
            <a:off x="10817352" y="248716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332720" y="294436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36576" rIns="27432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8EDF5"/>
                </a:solidFill>
                <a:latin typeface="Segoe UI"/>
              </a:rPr>
              <a:t>legal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0817352" y="3767328"/>
            <a:ext cx="201168" cy="347472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805672" y="4224528"/>
            <a:ext cx="1645920" cy="5486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Segoe UI"/>
              </a:rPr>
              <a:t>aggregated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4956048"/>
            <a:ext cx="374903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Wall clock = the slowest participant.
author_name tells you who said what.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workflows,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231444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23144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20401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these four need no model at all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examples/11_graph_workflow.py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examples/12_executor_types.py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examples/13_edge_patterns.py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examples/14_workflow_execution.py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examples/10_functional_workflow.py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examples/15_concurrent_orchestration.py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12: one node, two input types — dispatch is on type.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13: six routing patterns, each printing its decision.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14: the superstep timeline, live.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10/15: agents as nodes; 15 prints author_name.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Four of these are pure Python. If the model server is struggling, run 11, 12, 13 and 14, then read 10 and 15 as code with the diagrams on screen.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EDF5"/>
                </a:solidFill>
                <a:latin typeface="Segoe UI Light"/>
              </a:rPr>
              <a:t>Middleware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50E6FF"/>
                </a:solidFill>
                <a:latin typeface="Segoe UI"/>
              </a:rPr>
              <a:t>Cross-cutting concerns that do not belong in your agent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226771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agent vs 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4133087"/>
            <a:ext cx="193852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three flavours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16752" y="4133087"/>
            <a:ext cx="18288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short-circuit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MIDDLEWARE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Two pipelines, two scopes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10058400" cy="2606040"/>
          </a:xfrm>
          <a:prstGeom prst="roundRect">
            <a:avLst>
              <a:gd name="adj" fmla="val 4000"/>
            </a:avLst>
          </a:prstGeom>
          <a:noFill/>
          <a:ln w="2032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9264" y="19385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Segoe UI"/>
              </a:rPr>
              <a:t>AGENT MIDDLEWARE  ·  once per run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16152" y="2377440"/>
            <a:ext cx="9052560" cy="1783080"/>
          </a:xfrm>
          <a:prstGeom prst="roundRect">
            <a:avLst>
              <a:gd name="adj" fmla="val 5000"/>
            </a:avLst>
          </a:prstGeom>
          <a:noFill/>
          <a:ln w="2032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90472" y="254203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Segoe UI"/>
              </a:rPr>
              <a:t>FUNCTION MIDDLEWARE  ·  once per tool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10512" y="2852928"/>
            <a:ext cx="2834640" cy="105156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E8EDF5"/>
                </a:solidFill>
                <a:latin typeface="Segoe UI"/>
              </a:rPr>
              <a:t>model call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8B97AC"/>
                </a:solidFill>
                <a:latin typeface="Segoe UI"/>
              </a:rPr>
              <a:t>+ tool dispatch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0912" y="3035808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One agent middleware wraps the entire exchange — including every tool round trip inside it.
One function middleware fires per individual tool invocation.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13232" y="4773168"/>
            <a:ext cx="2615184" cy="4572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" y="4974336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285232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block unsafe input before it reaches the model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38144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38144" y="4773168"/>
            <a:ext cx="2615184" cy="45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0" y="4974336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Auth &amp; tenancy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285232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attach identity, enforce scope per tool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63056" y="4773168"/>
            <a:ext cx="2615184" cy="457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82512" y="4974336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Telemetry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285232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spans, timings, token accounting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87968" y="4773168"/>
            <a:ext cx="2615184" cy="10515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887968" y="4773168"/>
            <a:ext cx="2615184" cy="4572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07424" y="4974336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Caching &amp; retries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7424" y="5285232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7AC"/>
                </a:solidFill>
                <a:latin typeface="Segoe UI"/>
              </a:rPr>
              <a:t>short-circuit repeats, wrap flaky tools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MIDDLEWARE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Three ways to write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3456432" cy="3108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3456432" cy="5029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Class-based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432304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AgentMiddleware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883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0E6FF"/>
                </a:solidFill>
                <a:latin typeface="Consolas"/>
              </a:rPr>
              <a:t>FunctionMiddleware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10896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Stateful, testable, injectable. Reach for it when the middleware has dependencies or configuration.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7552" y="4407408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A6780"/>
                </a:solidFill>
                <a:latin typeface="Segoe UI"/>
              </a:rPr>
              <a:t>examples/12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783080"/>
            <a:ext cx="3456432" cy="3108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70832" y="1783080"/>
            <a:ext cx="3456432" cy="50292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451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Function-based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432304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B7CF6"/>
                </a:solidFill>
                <a:latin typeface="Consolas"/>
              </a:rPr>
              <a:t>async def mw(context, call_next)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852928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Detected from the context type hint. Lightest option for stateless concerns.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45152" y="4407408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A6780"/>
                </a:solidFill>
                <a:latin typeface="Segoe UI"/>
              </a:rPr>
              <a:t>examples/13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1783080"/>
            <a:ext cx="3456432" cy="31089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28431" y="1783080"/>
            <a:ext cx="3456432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02752" y="2011680"/>
            <a:ext cx="2926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8EDF5"/>
                </a:solidFill>
                <a:latin typeface="Segoe UI"/>
              </a:rPr>
              <a:t>Decorator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432304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@agent_middleware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26883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ADE80"/>
                </a:solidFill>
                <a:latin typeface="Consolas"/>
              </a:rPr>
              <a:t>@function_middleware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10896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8B97AC"/>
                </a:solidFill>
                <a:latin typeface="Segoe UI"/>
              </a:rPr>
              <a:t>Explicit intent, no type annotations needed. Mismatches are caught at registration.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02752" y="4407408"/>
            <a:ext cx="14630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A6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1">
                <a:solidFill>
                  <a:srgbClr val="5A6780"/>
                </a:solidFill>
                <a:latin typeface="Segoe UI"/>
              </a:rPr>
              <a:t>examples/14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138928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13232" y="5138928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50976" y="5303520"/>
            <a:ext cx="10399471" cy="5605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agent = </a:t>
            </a:r>
            <a:r>
              <a:rPr sz="1250">
                <a:solidFill>
                  <a:srgbClr val="50E6FF"/>
                </a:solidFill>
                <a:latin typeface="Consolas"/>
              </a:rPr>
              <a:t>Agent</a:t>
            </a:r>
            <a:r>
              <a:rPr sz="1250">
                <a:solidFill>
                  <a:srgbClr val="D6DEEB"/>
                </a:solidFill>
                <a:latin typeface="Consolas"/>
              </a:rPr>
              <a:t>(..., middleware=[</a:t>
            </a:r>
            <a:r>
              <a:rPr sz="1250">
                <a:solidFill>
                  <a:srgbClr val="50E6FF"/>
                </a:solidFill>
                <a:latin typeface="Consolas"/>
              </a:rPr>
              <a:t>SecurityAgentMiddleware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(), </a:t>
            </a:r>
            <a:r>
              <a:rPr sz="1250">
                <a:solidFill>
                  <a:srgbClr val="50E6FF"/>
                </a:solidFill>
                <a:latin typeface="Consolas"/>
              </a:rPr>
              <a:t>LoggingFunctionMiddleware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()])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both pipelines registered in one list — the framework sorts them by type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EXAMPLES/16_CLASS_BASED_MIDDLEWARE.PY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Short-circuiting: a guardrail in twelve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949440" cy="35399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5399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583679" cy="326567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SecurityAgentMiddleware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AgentMiddleware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process</a:t>
            </a:r>
            <a:r>
              <a:rPr sz="1250">
                <a:solidFill>
                  <a:srgbClr val="D6DEEB"/>
                </a:solidFill>
                <a:latin typeface="Consolas"/>
              </a:rPr>
              <a:t>(self, context, call_next):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last = context.messages[-</a:t>
            </a:r>
            <a:r>
              <a:rPr sz="1250">
                <a:solidFill>
                  <a:srgbClr val="86E1A0"/>
                </a:solidFill>
                <a:latin typeface="Consolas"/>
              </a:rPr>
              <a:t>1</a:t>
            </a:r>
            <a:r>
              <a:rPr sz="1250">
                <a:solidFill>
                  <a:srgbClr val="D6DEEB"/>
                </a:solidFill>
                <a:latin typeface="Consolas"/>
              </a:rPr>
              <a:t>]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context.messages </a:t>
            </a:r>
            <a:r>
              <a:rPr sz="1250">
                <a:solidFill>
                  <a:srgbClr val="7AA2F7"/>
                </a:solidFill>
                <a:latin typeface="Consolas"/>
              </a:rPr>
              <a:t>else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None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if</a:t>
            </a:r>
            <a:r>
              <a:rPr sz="1250">
                <a:solidFill>
                  <a:srgbClr val="D6DEEB"/>
                </a:solidFill>
                <a:latin typeface="Consolas"/>
              </a:rPr>
              <a:t> last </a:t>
            </a:r>
            <a:r>
              <a:rPr sz="1250">
                <a:solidFill>
                  <a:srgbClr val="7AA2F7"/>
                </a:solidFill>
                <a:latin typeface="Consolas"/>
              </a:rPr>
              <a:t>and</a:t>
            </a:r>
            <a:r>
              <a:rPr sz="1250">
                <a:solidFill>
                  <a:srgbClr val="D6DEEB"/>
                </a:solidFill>
                <a:latin typeface="Consolas"/>
              </a:rPr>
              <a:t> last.text </a:t>
            </a:r>
            <a:r>
              <a:rPr sz="1250">
                <a:solidFill>
                  <a:srgbClr val="7AA2F7"/>
                </a:solidFill>
                <a:latin typeface="Consolas"/>
              </a:rPr>
              <a:t>and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risky</a:t>
            </a:r>
            <a:r>
              <a:rPr sz="1250">
                <a:solidFill>
                  <a:srgbClr val="D6DEEB"/>
                </a:solidFill>
                <a:latin typeface="Consolas"/>
              </a:rPr>
              <a:t>(last.text):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context.result = </a:t>
            </a:r>
            <a:r>
              <a:rPr sz="1250">
                <a:solidFill>
                  <a:srgbClr val="50E6FF"/>
                </a:solidFill>
                <a:latin typeface="Consolas"/>
              </a:rPr>
              <a:t>AgentResponse</a:t>
            </a:r>
            <a:r>
              <a:rPr sz="1250">
                <a:solidFill>
                  <a:srgbClr val="D6DEEB"/>
                </a:solidFill>
                <a:latin typeface="Consolas"/>
              </a:rPr>
              <a:t>(messages=[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    </a:t>
            </a:r>
            <a:r>
              <a:rPr sz="1250">
                <a:solidFill>
                  <a:srgbClr val="50E6FF"/>
                </a:solidFill>
                <a:latin typeface="Consolas"/>
              </a:rPr>
              <a:t>Message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E5A57A"/>
                </a:solidFill>
                <a:latin typeface="Consolas"/>
              </a:rPr>
              <a:t>"assistant"</a:t>
            </a:r>
            <a:r>
              <a:rPr sz="1250">
                <a:solidFill>
                  <a:srgbClr val="D6DEEB"/>
                </a:solidFill>
                <a:latin typeface="Consolas"/>
              </a:rPr>
              <a:t>, [</a:t>
            </a:r>
            <a:r>
              <a:rPr sz="1250">
                <a:solidFill>
                  <a:srgbClr val="E5A57A"/>
                </a:solidFill>
                <a:latin typeface="Consolas"/>
              </a:rPr>
              <a:t>"Request blocked."</a:t>
            </a:r>
            <a:r>
              <a:rPr sz="1250">
                <a:solidFill>
                  <a:srgbClr val="D6DEEB"/>
                </a:solidFill>
                <a:latin typeface="Consolas"/>
              </a:rPr>
              <a:t>])])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    </a:t>
            </a:r>
            <a:r>
              <a:rPr sz="1250">
                <a:solidFill>
                  <a:srgbClr val="7AA2F7"/>
                </a:solidFill>
                <a:latin typeface="Consolas"/>
              </a:rPr>
              <a:t>return</a:t>
            </a:r>
            <a:r>
              <a:rPr sz="1250">
                <a:solidFill>
                  <a:srgbClr val="D6DEEB"/>
                </a:solidFill>
                <a:latin typeface="Consolas"/>
              </a:rPr>
              <a:t>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never call call_next → model never runs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call_next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7AA2F7"/>
                </a:solidFill>
                <a:latin typeface="Consolas"/>
              </a:rPr>
              <a:t>class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50E6FF"/>
                </a:solidFill>
                <a:latin typeface="Consolas"/>
              </a:rPr>
              <a:t>LoggingFunctionMiddleware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(</a:t>
            </a:r>
            <a:r>
              <a:rPr sz="1250">
                <a:solidFill>
                  <a:srgbClr val="50E6FF"/>
                </a:solidFill>
                <a:latin typeface="Consolas"/>
              </a:rPr>
              <a:t>FunctionMiddleware</a:t>
            </a:r>
            <a:r>
              <a:rPr sz="1250">
                <a:solidFill>
                  <a:srgbClr val="D6DEEB"/>
                </a:solidFill>
                <a:latin typeface="Consolas"/>
              </a:rPr>
              <a:t>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</a:t>
            </a:r>
            <a:r>
              <a:rPr sz="1250">
                <a:solidFill>
                  <a:srgbClr val="7AA2F7"/>
                </a:solidFill>
                <a:latin typeface="Consolas"/>
              </a:rPr>
              <a:t>async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7AA2F7"/>
                </a:solidFill>
                <a:latin typeface="Consolas"/>
              </a:rPr>
              <a:t>def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process</a:t>
            </a:r>
            <a:r>
              <a:rPr sz="1250">
                <a:solidFill>
                  <a:srgbClr val="D6DEEB"/>
                </a:solidFill>
                <a:latin typeface="Consolas"/>
              </a:rPr>
              <a:t>(self, context, call_next):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start = time.</a:t>
            </a:r>
            <a:r>
              <a:rPr sz="1250">
                <a:solidFill>
                  <a:srgbClr val="B4C9FF"/>
                </a:solidFill>
                <a:latin typeface="Consolas"/>
              </a:rPr>
              <a:t>time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7AA2F7"/>
                </a:solidFill>
                <a:latin typeface="Consolas"/>
              </a:rPr>
              <a:t>await</a:t>
            </a: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  <a:r>
              <a:rPr sz="1250">
                <a:solidFill>
                  <a:srgbClr val="B4C9FF"/>
                </a:solidFill>
                <a:latin typeface="Consolas"/>
              </a:rPr>
              <a:t>call_next</a:t>
            </a:r>
            <a:r>
              <a:rPr sz="125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      </a:t>
            </a:r>
            <a:r>
              <a:rPr sz="1250">
                <a:solidFill>
                  <a:srgbClr val="B4C9FF"/>
                </a:solidFill>
                <a:latin typeface="Consolas"/>
              </a:rPr>
              <a:t>log</a:t>
            </a:r>
            <a:r>
              <a:rPr sz="1250">
                <a:solidFill>
                  <a:srgbClr val="D6DEEB"/>
                </a:solidFill>
                <a:latin typeface="Consolas"/>
              </a:rPr>
              <a:t>(context.function.name, time.</a:t>
            </a:r>
            <a:r>
              <a:rPr sz="1250">
                <a:solidFill>
                  <a:srgbClr val="B4C9FF"/>
                </a:solidFill>
                <a:latin typeface="Consolas"/>
              </a:rPr>
              <a:t>time</a:t>
            </a:r>
            <a:r>
              <a:rPr sz="1250">
                <a:solidFill>
                  <a:srgbClr val="D6DEEB"/>
                </a:solidFill>
                <a:latin typeface="Consolas"/>
              </a:rPr>
              <a:t>() - start)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93023" y="1783080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Return without call_next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066543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The model is never invoked. No tokens spent.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2743199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3" y="2642615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Set context.result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926079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Otherwise the caller gets an empty response.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36992" y="3602735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93023" y="3502151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Time around call_next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785615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Before/after is where telemetry lives.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36992" y="4462272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93023" y="4361688"/>
            <a:ext cx="3310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8EDF5"/>
                </a:solidFill>
                <a:latin typeface="Segoe UI"/>
              </a:rPr>
              <a:t>Order is the list order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645151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First registered is outermost.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Demo — guardrails and timing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0F19"/>
                </a:solidFill>
                <a:latin typeface="Segoe UI"/>
              </a:rPr>
              <a:t>▶ 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75104"/>
            <a:ext cx="6537960" cy="310896"/>
          </a:xfrm>
          <a:prstGeom prst="roundRect">
            <a:avLst>
              <a:gd name="adj" fmla="val 12000"/>
            </a:avLst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36576" rIns="146304" bIns="36576" rtlCol="0" anchor="ctr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8B97AC"/>
                </a:solidFill>
                <a:latin typeface="Segoe UI"/>
              </a:rPr>
              <a:t>terminal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49424"/>
            <a:ext cx="6537960" cy="1376680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13232" y="2249424"/>
            <a:ext cx="41148" cy="1376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2414016"/>
            <a:ext cx="6172200" cy="1102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examples/16_class_based_middleware.py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64748B"/>
                </a:solidFill>
                <a:latin typeface="Consolas"/>
              </a:rPr>
              <a:t># same behaviour, different ergonomics:</a:t>
            </a:r>
          </a:p>
          <a:p>
            <a:pPr>
              <a:lnSpc>
                <a:spcPts val="1846"/>
              </a:lnSpc>
              <a:spcAft>
                <a:spcPts val="0"/>
              </a:spcAft>
            </a:pPr>
            <a:r>
              <a:rPr sz="1300">
                <a:solidFill>
                  <a:srgbClr val="D6DEEB"/>
                </a:solidFill>
                <a:latin typeface="Consolas"/>
              </a:rPr>
              <a:t>uv run python examples/18_decorator_middleware.py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25512" y="1481328"/>
            <a:ext cx="3952951" cy="356616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99831" y="1719072"/>
            <a:ext cx="34043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0E6FF"/>
                </a:solidFill>
                <a:latin typeface="Segoe UI"/>
              </a:rPr>
              <a:t>WHAT TO POINT 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1" y="2121408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2103120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Normal query: security passes, tool runs, timing logged.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68833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670048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"What's the password…": blocked before the model is called.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9831" y="3255264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3236976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Note the log ordering — outer in, inner in, inner out, outer out.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9831" y="3822191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078D4"/>
                </a:solidFill>
                <a:latin typeface="Segoe UI"/>
              </a:rPr>
              <a:t>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03904"/>
            <a:ext cx="308427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8EDF5"/>
                </a:solidFill>
                <a:latin typeface="Segoe UI"/>
              </a:rPr>
              <a:t>18 shows the decorator form with untyped parameters.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230368"/>
            <a:ext cx="10765231" cy="86868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230368"/>
            <a:ext cx="50292" cy="86868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537667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B7185"/>
                </a:solidFill>
                <a:latin typeface="Segoe UI"/>
              </a:rPr>
              <a:t>IF THE DEMO GODS SAY 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650992"/>
            <a:ext cx="103080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Example 17 uses FoundryChatClient and needs `az login` — use 16 and 18, which run against the local model.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1371600"/>
            <a:ext cx="315468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0" b="1" i="0">
                <a:solidFill>
                  <a:srgbClr val="1D253A"/>
                </a:solidFill>
                <a:latin typeface="Segoe UI Light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2487168"/>
            <a:ext cx="667512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 dirty="0">
                <a:solidFill>
                  <a:srgbClr val="E8EDF5"/>
                </a:solidFill>
                <a:latin typeface="Segoe UI Light"/>
              </a:rPr>
              <a:t>A2A </a:t>
            </a:r>
            <a:r>
              <a:rPr lang="en-US" sz="4400" b="1" dirty="0">
                <a:solidFill>
                  <a:srgbClr val="E8EDF5"/>
                </a:solidFill>
                <a:latin typeface="Segoe UI Light"/>
              </a:rPr>
              <a:t>P</a:t>
            </a:r>
            <a:r>
              <a:rPr lang="en-US" sz="4400" b="1" i="0" dirty="0">
                <a:solidFill>
                  <a:srgbClr val="E8EDF5"/>
                </a:solidFill>
                <a:latin typeface="Segoe UI Light"/>
              </a:rPr>
              <a:t>rotocol</a:t>
            </a:r>
            <a:endParaRPr sz="4400" b="1" i="0" dirty="0">
              <a:solidFill>
                <a:srgbClr val="E8EDF5"/>
              </a:solidFill>
              <a:latin typeface="Segoe UI Ligh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17904" y="3419856"/>
            <a:ext cx="6675120" cy="2512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500" b="0" i="0" dirty="0">
                <a:solidFill>
                  <a:srgbClr val="50E6FF"/>
                </a:solidFill>
                <a:latin typeface="Segoe UI"/>
              </a:rPr>
              <a:t>Agent to Agent Protocol</a:t>
            </a:r>
            <a:endParaRPr sz="1500" b="0" i="0" dirty="0">
              <a:solidFill>
                <a:srgbClr val="50E6FF"/>
              </a:solidFill>
              <a:latin typeface="Segoe U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517904" y="4133087"/>
            <a:ext cx="226771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sz="1050" b="1" dirty="0">
                <a:solidFill>
                  <a:srgbClr val="8B97AC"/>
                </a:solidFill>
                <a:latin typeface="Segoe UI"/>
              </a:rPr>
              <a:t>Remote Agent</a:t>
            </a:r>
            <a:endParaRPr sz="1050" b="1" dirty="0">
              <a:solidFill>
                <a:srgbClr val="8B97AC"/>
              </a:solidFill>
              <a:latin typeface="Segoe U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931920" y="4133087"/>
            <a:ext cx="117043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97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sz="1050" b="1" dirty="0">
                <a:solidFill>
                  <a:srgbClr val="8B97AC"/>
                </a:solidFill>
                <a:latin typeface="Segoe UI"/>
              </a:rPr>
              <a:t>A2A</a:t>
            </a:r>
            <a:endParaRPr sz="1050" b="1" dirty="0">
              <a:solidFill>
                <a:srgbClr val="8B97AC"/>
              </a:solidFill>
              <a:latin typeface="Segoe U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49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dirty="0">
                <a:solidFill>
                  <a:srgbClr val="50E6FF"/>
                </a:solidFill>
                <a:latin typeface="Segoe UI"/>
              </a:rPr>
              <a:t>A2A Protocol</a:t>
            </a:r>
            <a:endParaRPr sz="1100" b="1" i="0" dirty="0">
              <a:solidFill>
                <a:srgbClr val="50E6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A2A: agents as network citizens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400800" cy="3197352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319735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035040" cy="2923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# server — publish a card describing what this agent can do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card = </a:t>
            </a:r>
            <a:r>
              <a:rPr sz="1200">
                <a:solidFill>
                  <a:srgbClr val="50E6FF"/>
                </a:solidFill>
                <a:latin typeface="Consolas"/>
              </a:rPr>
              <a:t>AgentCard</a:t>
            </a:r>
            <a:r>
              <a:rPr sz="1200">
                <a:solidFill>
                  <a:srgbClr val="D6DEEB"/>
                </a:solidFill>
                <a:latin typeface="Consolas"/>
              </a:rPr>
              <a:t>(name=</a:t>
            </a:r>
            <a:r>
              <a:rPr sz="1200">
                <a:solidFill>
                  <a:srgbClr val="E5A57A"/>
                </a:solidFill>
                <a:latin typeface="Consolas"/>
              </a:rPr>
              <a:t>"Europe Travel Agent"</a:t>
            </a:r>
            <a:r>
              <a:rPr sz="1200">
                <a:solidFill>
                  <a:srgbClr val="D6DEEB"/>
                </a:solidFill>
                <a:latin typeface="Consolas"/>
              </a:rPr>
              <a:t>, version=</a:t>
            </a:r>
            <a:r>
              <a:rPr sz="1200">
                <a:solidFill>
                  <a:srgbClr val="E5A57A"/>
                </a:solidFill>
                <a:latin typeface="Consolas"/>
              </a:rPr>
              <a:t>"1.0.0"</a:t>
            </a:r>
            <a:r>
              <a:rPr sz="1200">
                <a:solidFill>
                  <a:srgbClr val="D6DEEB"/>
                </a:solidFill>
                <a:latin typeface="Consolas"/>
              </a:rPr>
              <a:t>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         skills=[flight_skill],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         capabilities=</a:t>
            </a:r>
            <a:r>
              <a:rPr sz="1200">
                <a:solidFill>
                  <a:srgbClr val="50E6FF"/>
                </a:solidFill>
                <a:latin typeface="Consolas"/>
              </a:rPr>
              <a:t>AgentCapabilities</a:t>
            </a:r>
            <a:r>
              <a:rPr sz="1200">
                <a:solidFill>
                  <a:srgbClr val="D6DEEB"/>
                </a:solidFill>
                <a:latin typeface="Consolas"/>
              </a:rPr>
              <a:t>(streaming=</a:t>
            </a:r>
            <a:r>
              <a:rPr sz="1200">
                <a:solidFill>
                  <a:srgbClr val="7AA2F7"/>
                </a:solidFill>
                <a:latin typeface="Consolas"/>
              </a:rPr>
              <a:t>True</a:t>
            </a:r>
            <a:r>
              <a:rPr sz="1200">
                <a:solidFill>
                  <a:srgbClr val="D6DEEB"/>
                </a:solidFill>
                <a:latin typeface="Consolas"/>
              </a:rPr>
              <a:t>))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handler = </a:t>
            </a:r>
            <a:r>
              <a:rPr sz="1200">
                <a:solidFill>
                  <a:srgbClr val="50E6FF"/>
                </a:solidFill>
                <a:latin typeface="Consolas"/>
              </a:rPr>
              <a:t>DefaultRequestHandler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agent_executor=</a:t>
            </a:r>
            <a:r>
              <a:rPr sz="1200">
                <a:solidFill>
                  <a:srgbClr val="50E6FF"/>
                </a:solidFill>
                <a:latin typeface="Consolas"/>
              </a:rPr>
              <a:t>A2AExecutor</a:t>
            </a:r>
            <a:r>
              <a:rPr sz="1200">
                <a:solidFill>
                  <a:srgbClr val="D6DEEB"/>
                </a:solidFill>
                <a:latin typeface="Consolas"/>
              </a:rPr>
              <a:t>(agent, stream=</a:t>
            </a:r>
            <a:r>
              <a:rPr sz="1200">
                <a:solidFill>
                  <a:srgbClr val="7AA2F7"/>
                </a:solidFill>
                <a:latin typeface="Consolas"/>
              </a:rPr>
              <a:t>True</a:t>
            </a:r>
            <a:r>
              <a:rPr sz="1200">
                <a:solidFill>
                  <a:srgbClr val="D6DEEB"/>
                </a:solidFill>
                <a:latin typeface="Consolas"/>
              </a:rPr>
              <a:t>),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task_store=</a:t>
            </a:r>
            <a:r>
              <a:rPr sz="1200">
                <a:solidFill>
                  <a:srgbClr val="50E6FF"/>
                </a:solidFill>
                <a:latin typeface="Consolas"/>
              </a:rPr>
              <a:t>InMemoryTaskStore</a:t>
            </a:r>
            <a:r>
              <a:rPr sz="1200">
                <a:solidFill>
                  <a:srgbClr val="D6DEEB"/>
                </a:solidFill>
                <a:latin typeface="Consolas"/>
              </a:rPr>
              <a:t>(), agent_card=card)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# client — discover, then call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card =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50E6FF"/>
                </a:solidFill>
                <a:latin typeface="Consolas"/>
              </a:rPr>
              <a:t>A2ACardResolver</a:t>
            </a:r>
            <a:r>
              <a:rPr sz="1200">
                <a:solidFill>
                  <a:srgbClr val="D6DEEB"/>
                </a:solidFill>
                <a:latin typeface="Consolas"/>
              </a:rPr>
              <a:t>(...).</a:t>
            </a:r>
            <a:r>
              <a:rPr sz="1200">
                <a:solidFill>
                  <a:srgbClr val="B4C9FF"/>
                </a:solidFill>
                <a:latin typeface="Consolas"/>
              </a:rPr>
              <a:t>get_agent_card</a:t>
            </a:r>
            <a:r>
              <a:rPr sz="1200">
                <a:solidFill>
                  <a:srgbClr val="D6DEEB"/>
                </a:solidFill>
                <a:latin typeface="Consolas"/>
              </a:rPr>
              <a:t>()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7AA2F7"/>
                </a:solidFill>
                <a:latin typeface="Consolas"/>
              </a:rPr>
              <a:t>async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7AA2F7"/>
                </a:solidFill>
                <a:latin typeface="Consolas"/>
              </a:rPr>
              <a:t>with</a:t>
            </a:r>
            <a:r>
              <a:rPr sz="1200">
                <a:solidFill>
                  <a:srgbClr val="D6DEEB"/>
                </a:solidFill>
                <a:latin typeface="Consolas"/>
              </a:rPr>
              <a:t> </a:t>
            </a:r>
            <a:r>
              <a:rPr sz="1200">
                <a:solidFill>
                  <a:srgbClr val="50E6FF"/>
                </a:solidFill>
                <a:latin typeface="Consolas"/>
              </a:rPr>
              <a:t>A2AAgent</a:t>
            </a:r>
            <a:r>
              <a:rPr sz="1200">
                <a:solidFill>
                  <a:srgbClr val="D6DEEB"/>
                </a:solidFill>
                <a:latin typeface="Consolas"/>
              </a:rPr>
              <a:t>(name=card.name, agent_card=card,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                url=host) </a:t>
            </a:r>
            <a:r>
              <a:rPr sz="1200">
                <a:solidFill>
                  <a:srgbClr val="7AA2F7"/>
                </a:solidFill>
                <a:latin typeface="Consolas"/>
              </a:rPr>
              <a:t>as</a:t>
            </a:r>
            <a:r>
              <a:rPr sz="1200">
                <a:solidFill>
                  <a:srgbClr val="D6DEEB"/>
                </a:solidFill>
                <a:latin typeface="Consolas"/>
              </a:rPr>
              <a:t> remote:</a:t>
            </a:r>
          </a:p>
          <a:p>
            <a:pPr>
              <a:lnSpc>
                <a:spcPts val="1704"/>
              </a:lnSpc>
              <a:spcAft>
                <a:spcPts val="0"/>
              </a:spcAft>
            </a:pPr>
            <a:r>
              <a:rPr sz="1200">
                <a:solidFill>
                  <a:srgbClr val="D6DEEB"/>
                </a:solidFill>
                <a:latin typeface="Consolas"/>
              </a:rPr>
              <a:t>    response = </a:t>
            </a:r>
            <a:r>
              <a:rPr sz="1200">
                <a:solidFill>
                  <a:srgbClr val="7AA2F7"/>
                </a:solidFill>
                <a:latin typeface="Consolas"/>
              </a:rPr>
              <a:t>await</a:t>
            </a:r>
            <a:r>
              <a:rPr sz="1200">
                <a:solidFill>
                  <a:srgbClr val="D6DEEB"/>
                </a:solidFill>
                <a:latin typeface="Consolas"/>
              </a:rPr>
              <a:t> remote.</a:t>
            </a:r>
            <a:r>
              <a:rPr sz="1200">
                <a:solidFill>
                  <a:srgbClr val="B4C9FF"/>
                </a:solidFill>
                <a:latin typeface="Consolas"/>
              </a:rPr>
              <a:t>run</a:t>
            </a:r>
            <a:r>
              <a:rPr sz="1200">
                <a:solidFill>
                  <a:srgbClr val="D6DEEB"/>
                </a:solidFill>
                <a:latin typeface="Consolas"/>
              </a:rPr>
              <a:t>(</a:t>
            </a:r>
            <a:r>
              <a:rPr sz="1200">
                <a:solidFill>
                  <a:srgbClr val="E5A57A"/>
                </a:solidFill>
                <a:latin typeface="Consolas"/>
              </a:rPr>
              <a:t>"search flights for Europe"</a:t>
            </a:r>
            <a:r>
              <a:rPr sz="1200">
                <a:solidFill>
                  <a:srgbClr val="D6DEEB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88352" y="1783080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your agent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A2AAgent client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308592" y="2651760"/>
            <a:ext cx="256032" cy="310896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88352" y="3035808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BBF24"/>
                </a:solidFill>
                <a:latin typeface="Segoe UI"/>
              </a:rPr>
              <a:t>agent card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name · skills · capabilities · url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308592" y="3904487"/>
            <a:ext cx="256032" cy="310896"/>
          </a:xfrm>
          <a:prstGeom prst="downArrow">
            <a:avLst>
              <a:gd name="adj1" fmla="val 42000"/>
              <a:gd name="adj2" fmla="val 55000"/>
            </a:avLst>
          </a:prstGeom>
          <a:solidFill>
            <a:srgbClr val="5A6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388352" y="4288536"/>
            <a:ext cx="4114800" cy="7772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E8EDF5"/>
                </a:solidFill>
                <a:latin typeface="Segoe UI"/>
              </a:rPr>
              <a:t>remote agent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owned by another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8352" y="5230368"/>
            <a:ext cx="4114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Discovery, not hard-coded endpoints — the card is the contract.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THE WORKSHOP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Running against a local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6583680" cy="2863723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691640"/>
            <a:ext cx="41148" cy="2863723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1856232"/>
            <a:ext cx="6217920" cy="258940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vllm-run.sh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vllm serve </a:t>
            </a:r>
            <a:r>
              <a:rPr sz="1250">
                <a:solidFill>
                  <a:srgbClr val="50E6FF"/>
                </a:solidFill>
                <a:latin typeface="Consolas"/>
              </a:rPr>
              <a:t>Qwen</a:t>
            </a:r>
            <a:r>
              <a:rPr sz="1250">
                <a:solidFill>
                  <a:srgbClr val="D6DEEB"/>
                </a:solidFill>
                <a:latin typeface="Consolas"/>
              </a:rPr>
              <a:t>/</a:t>
            </a:r>
            <a:r>
              <a:rPr sz="1250">
                <a:solidFill>
                  <a:srgbClr val="50E6FF"/>
                </a:solidFill>
                <a:latin typeface="Consolas"/>
              </a:rPr>
              <a:t>Qwen3</a:t>
            </a:r>
            <a:r>
              <a:rPr sz="1250">
                <a:solidFill>
                  <a:srgbClr val="D6DEEB"/>
                </a:solidFill>
                <a:latin typeface="Consolas"/>
              </a:rPr>
              <a:t>.</a:t>
            </a:r>
            <a:r>
              <a:rPr sz="1250">
                <a:solidFill>
                  <a:srgbClr val="86E1A0"/>
                </a:solidFill>
                <a:latin typeface="Consolas"/>
              </a:rPr>
              <a:t>5</a:t>
            </a:r>
            <a:r>
              <a:rPr sz="1250">
                <a:solidFill>
                  <a:srgbClr val="D6DEEB"/>
                </a:solidFill>
                <a:latin typeface="Consolas"/>
              </a:rPr>
              <a:t>-4B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--max-model-len=</a:t>
            </a:r>
            <a:r>
              <a:rPr sz="1250">
                <a:solidFill>
                  <a:srgbClr val="86E1A0"/>
                </a:solidFill>
                <a:latin typeface="Consolas"/>
              </a:rPr>
              <a:t>8192</a:t>
            </a:r>
            <a:r>
              <a:rPr sz="1250">
                <a:solidFill>
                  <a:srgbClr val="D6DEEB"/>
                </a:solidFill>
                <a:latin typeface="Consolas"/>
              </a:rPr>
              <a:t>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--enable-prefix-caching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--enable-auto-tool-choice \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 --tool-call-parser qwen3_coder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 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64748B"/>
                </a:solidFill>
                <a:latin typeface="Consolas"/>
              </a:rPr>
              <a:t># .env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OPENAI_API_KEY</a:t>
            </a:r>
            <a:r>
              <a:rPr sz="1250">
                <a:solidFill>
                  <a:srgbClr val="D6DEEB"/>
                </a:solidFill>
                <a:latin typeface="Consolas"/>
              </a:rPr>
              <a:t>=test-key                    </a:t>
            </a:r>
            <a:r>
              <a:rPr sz="1250">
                <a:solidFill>
                  <a:srgbClr val="64748B"/>
                </a:solidFill>
                <a:latin typeface="Consolas"/>
              </a:rPr>
              <a:t># placeholder, unused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OPENAI_MODEL</a:t>
            </a:r>
            <a:r>
              <a:rPr sz="1250">
                <a:solidFill>
                  <a:srgbClr val="D6DEEB"/>
                </a:solidFill>
                <a:latin typeface="Consolas"/>
              </a:rPr>
              <a:t>=</a:t>
            </a:r>
            <a:r>
              <a:rPr sz="1250">
                <a:solidFill>
                  <a:srgbClr val="50E6FF"/>
                </a:solidFill>
                <a:latin typeface="Consolas"/>
              </a:rPr>
              <a:t>Qwen</a:t>
            </a:r>
            <a:r>
              <a:rPr sz="1250">
                <a:solidFill>
                  <a:srgbClr val="D6DEEB"/>
                </a:solidFill>
                <a:latin typeface="Consolas"/>
              </a:rPr>
              <a:t>/</a:t>
            </a:r>
            <a:r>
              <a:rPr sz="1250">
                <a:solidFill>
                  <a:srgbClr val="50E6FF"/>
                </a:solidFill>
                <a:latin typeface="Consolas"/>
              </a:rPr>
              <a:t>Qwen3</a:t>
            </a:r>
            <a:r>
              <a:rPr sz="1250">
                <a:solidFill>
                  <a:srgbClr val="D6DEEB"/>
                </a:solidFill>
                <a:latin typeface="Consolas"/>
              </a:rPr>
              <a:t>.</a:t>
            </a:r>
            <a:r>
              <a:rPr sz="1250">
                <a:solidFill>
                  <a:srgbClr val="86E1A0"/>
                </a:solidFill>
                <a:latin typeface="Consolas"/>
              </a:rPr>
              <a:t>5</a:t>
            </a:r>
            <a:r>
              <a:rPr sz="1250">
                <a:solidFill>
                  <a:srgbClr val="D6DEEB"/>
                </a:solidFill>
                <a:latin typeface="Consolas"/>
              </a:rPr>
              <a:t>-4B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50E6FF"/>
                </a:solidFill>
                <a:latin typeface="Consolas"/>
              </a:rPr>
              <a:t>OPENAI_BASE_URL</a:t>
            </a:r>
            <a:r>
              <a:rPr sz="1250">
                <a:solidFill>
                  <a:srgbClr val="D6DEEB"/>
                </a:solidFill>
                <a:latin typeface="Consolas"/>
              </a:rPr>
              <a:t>=http://localhost:</a:t>
            </a:r>
            <a:r>
              <a:rPr sz="1250">
                <a:solidFill>
                  <a:srgbClr val="86E1A0"/>
                </a:solidFill>
                <a:latin typeface="Consolas"/>
              </a:rPr>
              <a:t>8000</a:t>
            </a:r>
            <a:r>
              <a:rPr sz="1250">
                <a:solidFill>
                  <a:srgbClr val="D6DEEB"/>
                </a:solidFill>
                <a:latin typeface="Consolas"/>
              </a:rPr>
              <a:t>/v1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62671" y="188366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18703" y="1783080"/>
            <a:ext cx="3584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Tool calling needs flags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3" y="2066543"/>
            <a:ext cx="3584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--enable-auto-tool-choice and a matching parser.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62671" y="270662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18703" y="2606040"/>
            <a:ext cx="3584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8k window is the constraint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8703" y="2889504"/>
            <a:ext cx="3584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Hence max_tokens everywhere in the examples.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1" y="352958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18703" y="3429000"/>
            <a:ext cx="3584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Chat Completions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3" y="3712463"/>
            <a:ext cx="3584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OpenAIChatCompletionClient, not OpenAIChatClient.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62671" y="4352544"/>
            <a:ext cx="82296" cy="822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18703" y="4251960"/>
            <a:ext cx="35844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EDF5"/>
                </a:solidFill>
                <a:latin typeface="Segoe UI"/>
              </a:rPr>
              <a:t>Same code, any backend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8703" y="4535424"/>
            <a:ext cx="35844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8B97AC"/>
                </a:solidFill>
                <a:latin typeface="Segoe UI"/>
              </a:rPr>
              <a:t>Point OPENAI_BASE_URL elsewhere and nothing changes.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138928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138928"/>
            <a:ext cx="50292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" y="528523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WHY BOTHER WITH A LOCAL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559552"/>
            <a:ext cx="1030803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Free iteration, no rate limits, no data leaving the machine — and a small model is an honest test. Prompts and tool descriptions that only work on a frontier model are prompts that will surprise you later.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50E6FF"/>
                </a:solidFill>
                <a:latin typeface="Segoe UI"/>
              </a:rPr>
              <a:t>Summary</a:t>
            </a:r>
            <a:endParaRPr sz="1100" b="1" i="0" dirty="0">
              <a:solidFill>
                <a:srgbClr val="50E6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Putting it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9164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9659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E8EDF5"/>
                </a:solidFill>
                <a:latin typeface="Segoe UI"/>
              </a:rPr>
              <a:t>client / front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3113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AG-UI · HTTP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63824" y="2048256"/>
            <a:ext cx="329184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685032" y="1691640"/>
            <a:ext cx="5029200" cy="3383280"/>
          </a:xfrm>
          <a:prstGeom prst="roundRect">
            <a:avLst>
              <a:gd name="adj" fmla="val 3000"/>
            </a:avLst>
          </a:prstGeom>
          <a:noFill/>
          <a:ln w="1524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913632" y="1828800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A6780"/>
                </a:solidFill>
                <a:latin typeface="Segoe UI"/>
              </a:rPr>
              <a:t>YOUR SERVICE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13632" y="2157984"/>
            <a:ext cx="4572000" cy="5669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middleware · authn, guardrails, budgets, telemetry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13632" y="2816352"/>
            <a:ext cx="4572000" cy="786384"/>
          </a:xfrm>
          <a:prstGeom prst="roundRect">
            <a:avLst>
              <a:gd name="adj" fmla="val 6000"/>
            </a:avLst>
          </a:prstGeom>
          <a:solidFill>
            <a:srgbClr val="1D253A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50E6FF"/>
                </a:solidFill>
                <a:latin typeface="Segoe UI"/>
              </a:rPr>
              <a:t>workflow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8B97AC"/>
                </a:solidFill>
                <a:latin typeface="Segoe UI"/>
              </a:rPr>
              <a:t>agents as nodes · deterministic topology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13632" y="3694176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8EDF5"/>
                </a:solidFill>
                <a:latin typeface="Segoe UI"/>
              </a:rPr>
              <a:t>context providers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3694176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8EDF5"/>
                </a:solidFill>
                <a:latin typeface="Segoe UI"/>
              </a:rPr>
              <a:t>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2" y="44074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780"/>
                </a:solidFill>
                <a:latin typeface="Segoe UI"/>
              </a:rPr>
              <a:t>compaction · approvals · structured output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00032" y="1691640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model provider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51392" y="1911095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400032" y="2487168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memory store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851392" y="2706624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400032" y="3282696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MCP servers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1392" y="3502152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400032" y="4078224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9B7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other agents (A2A)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51392" y="4297680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400032" y="4873752"/>
            <a:ext cx="2103120" cy="658368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E8EDF5"/>
                </a:solidFill>
                <a:latin typeface="Segoe UI"/>
              </a:rPr>
              <a:t>OTel collector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851392" y="5093208"/>
            <a:ext cx="384048" cy="219456"/>
          </a:xfrm>
          <a:prstGeom prst="rightArrow">
            <a:avLst>
              <a:gd name="adj1" fmla="val 42000"/>
              <a:gd name="adj2" fmla="val 5500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3232" y="553212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 Light"/>
              </a:rPr>
              <a:t>Deterministic skeleton, agentic joints, governed edges.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50E6FF"/>
                </a:solidFill>
                <a:latin typeface="Segoe UI"/>
              </a:rPr>
              <a:t>Lab</a:t>
            </a:r>
            <a:endParaRPr sz="1100" b="1" i="0" dirty="0">
              <a:solidFill>
                <a:srgbClr val="50E6FF"/>
              </a:solidFill>
              <a:latin typeface="Segoe U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The lab,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59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71907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71907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hello_agent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172821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agent, streaming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08026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215341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215341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add_tools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3672" y="216255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typed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5146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258775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258775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multi_turn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3672" y="259689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sessions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294893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" y="3022091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3022091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33672" y="303123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ContextProvider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38328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" y="345643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312" y="345643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memory_providers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33672" y="346557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layered providers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8176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6112" y="389077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" y="389077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persistent_history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33672" y="389991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file + to_dict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425195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96112" y="432511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53312" y="432511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context_compaction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33672" y="433425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CompactionProvider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863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96112" y="475945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75945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compaction_strategies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33672" y="476859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all 7 strategies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3232" y="512064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96112" y="519379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53312" y="519379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mcp_docs_agent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33672" y="520293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MCP over HTTP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3232" y="555497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96112" y="5628131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53312" y="5628131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functional_workflow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3672" y="563727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@workflow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91072" y="16459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73952" y="171907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171907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graph_workflow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11512" y="172821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executors + edges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91072" y="208026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73952" y="215341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215341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executor_types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11512" y="216255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4 executor forms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91072" y="25146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473952" y="258775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31152" y="258775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edge_patterns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11512" y="259689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6 wiring patterns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91072" y="294893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473952" y="3022091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31152" y="3022091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workflow_execution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11512" y="303123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supersteps, events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91072" y="338328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473952" y="345643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31152" y="345643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concurrent_orchestration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11512" y="346557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fan-out / fan-in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91072" y="381762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473952" y="389077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31152" y="389077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class_based_middleware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11512" y="389991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guardrail + timing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291072" y="425195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473952" y="432511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31152" y="432511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function_based_middleware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11512" y="433425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async fn (Foundry)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291072" y="468630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473952" y="475945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31152" y="475945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decorator_middleware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11512" y="476859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@agent_middleware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91072" y="5120640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473952" y="5193792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Consolas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31152" y="519379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response_format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11512" y="5202936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structured output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291072" y="5554979"/>
            <a:ext cx="5212080" cy="374904"/>
          </a:xfrm>
          <a:prstGeom prst="roundRect">
            <a:avLst>
              <a:gd name="adj" fmla="val 12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473952" y="5628131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Consolas"/>
              </a:rP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31152" y="5628131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EDF5"/>
                </a:solidFill>
                <a:latin typeface="Consolas"/>
              </a:rPr>
              <a:t>harness_agent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11512" y="5637275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B97AC"/>
                </a:solidFill>
                <a:latin typeface="Segoe UI"/>
              </a:rPr>
              <a:t>planning loop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232" y="6089904"/>
            <a:ext cx="1076523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780"/>
                </a:solidFill>
                <a:latin typeface="Segoe UI"/>
              </a:rPr>
              <a:t>plus  dev_ui/  ·  agent_ui/  ·  others/   for DevUI, AG-UI, A2A and Azure Functions hosting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EXERCISES/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Now you build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Eight self-checking tasks. Each one fails with a hint until you finish it — five need no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48256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2048256"/>
            <a:ext cx="50292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9264" y="209397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9888" y="2103120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tool_design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340864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docstrings and Field descriptions as the model's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706624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13232" y="2706624"/>
            <a:ext cx="50292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9264" y="2752344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2761488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context_provider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2999232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before_run / after_run and provider 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364992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13232" y="3364992"/>
            <a:ext cx="50292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9264" y="3410712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3419856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compaction_budget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3657600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composing strategies under a token budget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023360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13232" y="4023360"/>
            <a:ext cx="50292" cy="54864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9264" y="40690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9888" y="4078224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executor_contract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4315968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WorkflowContext type parameters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2048256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45352" y="2048256"/>
            <a:ext cx="50292" cy="54864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01384" y="209397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8" y="2103120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routing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22008" y="2340864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Case / Default switch-case routing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2706624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45352" y="2706624"/>
            <a:ext cx="50292" cy="54864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01384" y="2752344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B7CF6"/>
                </a:solidFill>
                <a:latin typeface="Consolas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22008" y="2761488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fan_in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2008" y="2999232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what a fan-in target actually receives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45352" y="3364992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245352" y="3364992"/>
            <a:ext cx="50292" cy="5486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01384" y="3410712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BF24"/>
                </a:solidFill>
                <a:latin typeface="Consolas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2008" y="3419856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guardrail_middleware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22008" y="3657600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short-circuiting before the model runs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45352" y="4023360"/>
            <a:ext cx="5212080" cy="54864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245352" y="4023360"/>
            <a:ext cx="50292" cy="54864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01384" y="40690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ADE80"/>
                </a:solidFill>
                <a:latin typeface="Consolas"/>
              </a:rPr>
              <a:t>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22008" y="4078224"/>
            <a:ext cx="22860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8EDF5"/>
                </a:solidFill>
                <a:latin typeface="Consolas"/>
              </a:rPr>
              <a:t>structured_output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22008" y="4315968"/>
            <a:ext cx="4389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B97AC"/>
                </a:solidFill>
                <a:latin typeface="Segoe UI"/>
              </a:rPr>
              <a:t>response_format and the failure branch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13232" y="4791456"/>
            <a:ext cx="10765231" cy="834898"/>
          </a:xfrm>
          <a:prstGeom prst="roundRect">
            <a:avLst>
              <a:gd name="adj" fmla="val 3000"/>
            </a:avLst>
          </a:prstGeom>
          <a:solidFill>
            <a:srgbClr val="080C14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713232" y="4791456"/>
            <a:ext cx="41148" cy="83489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50976" y="4956048"/>
            <a:ext cx="10399471" cy="560577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uv run python exercises/01_tool_design.py      </a:t>
            </a:r>
            <a:r>
              <a:rPr sz="1250">
                <a:solidFill>
                  <a:srgbClr val="64748B"/>
                </a:solidFill>
                <a:latin typeface="Consolas"/>
              </a:rPr>
              <a:t># read the FAILs, edit, repeat</a:t>
            </a:r>
          </a:p>
          <a:p>
            <a:pPr>
              <a:lnSpc>
                <a:spcPts val="1775"/>
              </a:lnSpc>
              <a:spcAft>
                <a:spcPts val="0"/>
              </a:spcAft>
            </a:pPr>
            <a:r>
              <a:rPr sz="1250">
                <a:solidFill>
                  <a:srgbClr val="D6DEEB"/>
                </a:solidFill>
                <a:latin typeface="Consolas"/>
              </a:rPr>
              <a:t>uv run python exercises/run_all.py --offline   </a:t>
            </a:r>
            <a:r>
              <a:rPr sz="1250">
                <a:solidFill>
                  <a:srgbClr val="64748B"/>
                </a:solidFill>
                <a:latin typeface="Consolas"/>
              </a:rPr>
              <a:t># the five that need no model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3232" y="5797296"/>
            <a:ext cx="45720" cy="310896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32688" y="5815584"/>
            <a:ext cx="1049091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B97AC"/>
                </a:solidFill>
                <a:latin typeface="Segoe UI"/>
              </a:rPr>
              <a:t>Worked answers in exercises/solutions/ — read them once you have something failing for the right reason.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384048"/>
            <a:ext cx="10765231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E6FF"/>
                </a:solidFill>
                <a:latin typeface="Segoe UI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1076523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8EDF5"/>
                </a:solidFill>
                <a:latin typeface="Segoe UI Light"/>
              </a:rPr>
              <a:t>Where to go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316736"/>
            <a:ext cx="1051560" cy="502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695" cy="32004"/>
          </a:xfrm>
          <a:prstGeom prst="rect">
            <a:avLst/>
          </a:prstGeom>
          <a:solidFill>
            <a:srgbClr val="1D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638251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Microsoft Agent Framework  ·  Production-Ready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780"/>
                </a:solidFill>
                <a:latin typeface="Segoe UI"/>
              </a:rPr>
              <a:t>61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830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783080"/>
            <a:ext cx="50292" cy="13716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198424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Documentation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500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0E6FF"/>
                </a:solidFill>
                <a:latin typeface="Consolas"/>
              </a:rPr>
              <a:t>learn.microsoft.com/agent-framework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697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Concepts, API reference, migration guidance from AutoGen and 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7830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91072" y="1783080"/>
            <a:ext cx="50292" cy="1371600"/>
          </a:xfrm>
          <a:prstGeom prst="rect">
            <a:avLst/>
          </a:prstGeom>
          <a:solidFill>
            <a:srgbClr val="9B7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198424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Source &amp; samples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3500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7CF6"/>
                </a:solidFill>
                <a:latin typeface="Consolas"/>
              </a:rPr>
              <a:t>github.com/microsoft/agent-framework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697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python/samples is far broader than this lab — read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38328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13232" y="3383280"/>
            <a:ext cx="50292" cy="13716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58444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Model Context Protocol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502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BBF24"/>
                </a:solidFill>
                <a:latin typeface="Consolas"/>
              </a:rPr>
              <a:t>modelcontextprotocol.io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2976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The spec, plus a directory of existing servers.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1" y="3383280"/>
            <a:ext cx="5270535" cy="137160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91072" y="3383280"/>
            <a:ext cx="50292" cy="13716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3584448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EDF5"/>
                </a:solidFill>
                <a:latin typeface="Segoe UI"/>
              </a:rPr>
              <a:t>This workshop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950208"/>
            <a:ext cx="45720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IN" sz="1200" dirty="0">
                <a:solidFill>
                  <a:srgbClr val="4ADE80"/>
                </a:solidFill>
                <a:latin typeface="Consolas"/>
              </a:rPr>
              <a:t>https://</a:t>
            </a:r>
            <a:r>
              <a:rPr lang="en-IN" sz="1200" dirty="0" err="1">
                <a:solidFill>
                  <a:srgbClr val="4ADE80"/>
                </a:solidFill>
                <a:latin typeface="Consolas"/>
              </a:rPr>
              <a:t>github.com</a:t>
            </a:r>
            <a:r>
              <a:rPr lang="en-IN" sz="1200" dirty="0">
                <a:solidFill>
                  <a:srgbClr val="4ADE80"/>
                </a:solidFill>
                <a:latin typeface="Consolas"/>
              </a:rPr>
              <a:t>/</a:t>
            </a:r>
            <a:r>
              <a:rPr lang="en-IN" sz="1200" dirty="0" err="1">
                <a:solidFill>
                  <a:srgbClr val="4ADE80"/>
                </a:solidFill>
                <a:latin typeface="Consolas"/>
              </a:rPr>
              <a:t>satendrakumar</a:t>
            </a:r>
            <a:r>
              <a:rPr lang="en-IN" sz="1200" dirty="0">
                <a:solidFill>
                  <a:srgbClr val="4ADE80"/>
                </a:solidFill>
                <a:latin typeface="Consolas"/>
              </a:rPr>
              <a:t>/learning-</a:t>
            </a:r>
            <a:r>
              <a:rPr lang="en-IN" sz="1200" dirty="0" err="1">
                <a:solidFill>
                  <a:srgbClr val="4ADE80"/>
                </a:solidFill>
                <a:latin typeface="Consolas"/>
              </a:rPr>
              <a:t>ms</a:t>
            </a:r>
            <a:r>
              <a:rPr lang="en-IN" sz="1200" dirty="0">
                <a:solidFill>
                  <a:srgbClr val="4ADE80"/>
                </a:solidFill>
                <a:latin typeface="Consolas"/>
              </a:rPr>
              <a:t>-agent-framework</a:t>
            </a:r>
            <a:endParaRPr sz="1200" b="0" i="0" dirty="0">
              <a:solidFill>
                <a:srgbClr val="4ADE80"/>
              </a:solidFill>
              <a:latin typeface="Consola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583680" y="42976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8B97AC"/>
                </a:solidFill>
                <a:latin typeface="Segoe UI"/>
              </a:rPr>
              <a:t>Setup, the ordered lab, and stretch goals.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138928"/>
            <a:ext cx="10765231" cy="960120"/>
          </a:xfrm>
          <a:prstGeom prst="roundRect">
            <a:avLst>
              <a:gd name="adj" fmla="val 6000"/>
            </a:avLst>
          </a:prstGeom>
          <a:solidFill>
            <a:srgbClr val="151B2B"/>
          </a:solidFill>
          <a:ln w="12700">
            <a:solidFill>
              <a:srgbClr val="2A3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13232" y="5138928"/>
            <a:ext cx="50292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9264" y="5285232"/>
            <a:ext cx="103080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0E6FF"/>
                </a:solidFill>
                <a:latin typeface="Segoe UI"/>
              </a:rPr>
              <a:t>BEFORE YOU LEAVE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5559552"/>
            <a:ext cx="1030803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8EDF5"/>
                </a:solidFill>
                <a:latin typeface="Segoe UI"/>
              </a:rPr>
              <a:t>Work through exercises/ — eight self-checking tasks, five of which need no model. Then: rebuild example 10 with SequentialBuilder, or set approval_mode="always_require" on a tool and watch the flow.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82296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1828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8EDF5"/>
                </a:solidFill>
                <a:latin typeface="Segoe UI Light"/>
              </a:rPr>
              <a:t>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852928"/>
            <a:ext cx="14630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3200400"/>
            <a:ext cx="8778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0078D4"/>
                </a:solidFill>
                <a:latin typeface="Segoe UI Light"/>
              </a:rPr>
              <a:t>Deterministic skeleton. Agentic joints. Governed edges.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160520"/>
            <a:ext cx="8778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8B97AC"/>
                </a:solidFill>
                <a:latin typeface="Segoe UI"/>
              </a:rPr>
              <a:t>The framework is not the interesting part — what you can now safely put in production 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5029200"/>
            <a:ext cx="1175918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uv 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3742" y="5029200"/>
            <a:ext cx="1713585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50E6FF"/>
                </a:solidFill>
                <a:latin typeface="Segoe UI"/>
              </a:rPr>
              <a:t>./vllm-run.sh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5029200"/>
            <a:ext cx="4133087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4ADE80"/>
                </a:solidFill>
                <a:latin typeface="Segoe UI"/>
              </a:rPr>
              <a:t>uv run python examples/01_hello_agent.py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5705856"/>
            <a:ext cx="45720" cy="548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50976" y="5687568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EDF5"/>
                </a:solidFill>
                <a:latin typeface="Segoe UI"/>
              </a:rPr>
              <a:t>Satendra Kumar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5980176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A6780"/>
                </a:solidFill>
                <a:latin typeface="Segoe UI"/>
              </a:rPr>
              <a:t>Everything in this deck is in the repo — examples/README.md is the lab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B93026-B8A4-4FE9-8E48-8009734911E7}" vid="{E43B60F7-EC4F-4A08-AFF5-BDC94162E53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3341</TotalTime>
  <Words>15311</Words>
  <Application>Microsoft Macintosh PowerPoint</Application>
  <PresentationFormat>Widescreen</PresentationFormat>
  <Paragraphs>1996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8" baseType="lpstr">
      <vt:lpstr>Arial</vt:lpstr>
      <vt:lpstr>Consolas</vt:lpstr>
      <vt:lpstr>Neue Haas Grotesk Text Pro</vt:lpstr>
      <vt:lpstr>Segoe UI</vt:lpstr>
      <vt:lpstr>Segoe UI Light</vt:lpstr>
      <vt:lpstr>Helena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Satendra Kumar</cp:lastModifiedBy>
  <cp:revision>14</cp:revision>
  <dcterms:created xsi:type="dcterms:W3CDTF">2013-01-27T09:14:16Z</dcterms:created>
  <dcterms:modified xsi:type="dcterms:W3CDTF">2026-08-23T13:51:44Z</dcterms:modified>
  <cp:category/>
</cp:coreProperties>
</file>