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43"/>
  </p:normalViewPr>
  <p:slideViewPr>
    <p:cSldViewPr snapToGrid="0" snapToObjects="1">
      <p:cViewPr varScale="1">
        <p:scale>
          <a:sx n="134" d="100"/>
          <a:sy n="134" d="100"/>
        </p:scale>
        <p:origin x="7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4158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[OPEN]</a:t>
            </a:r>
          </a:p>
          <a:p>
            <a:r>
              <a:t>Welcome. Ninety minutes, eight modules, and by the end you will have written and run a</a:t>
            </a:r>
          </a:p>
          <a:p>
            <a:r>
              <a:t>tool-calling agent, a memory-backed agent, a multi-agent workflow, and a middleware</a:t>
            </a:r>
          </a:p>
          <a:p>
            <a:r>
              <a:t>guardrail — all on your own laptop, against a local model.</a:t>
            </a:r>
          </a:p>
          <a:p>
            <a:endParaRPr/>
          </a:p>
          <a:p>
            <a:r>
              <a:t>[FRAME THE PROMISE]</a:t>
            </a:r>
          </a:p>
          <a:p>
            <a:r>
              <a:t>This is not a "here is the API surface" talk. The framing question all the way through is:</a:t>
            </a:r>
          </a:p>
          <a:p>
            <a:r>
              <a:t>what does it take to move an agent from a notebook demo to something you would put behind</a:t>
            </a:r>
          </a:p>
          <a:p>
            <a:r>
              <a:t>a production endpoint? Every module answers one piece of that.</a:t>
            </a:r>
          </a:p>
          <a:p>
            <a:endParaRPr/>
          </a:p>
          <a:p>
            <a:r>
              <a:t>[PRESENTER TIP]</a:t>
            </a:r>
          </a:p>
          <a:p>
            <a:r>
              <a:t>Before you say a word, have three terminals open and pre-warmed: (1) the vLLM server</a:t>
            </a:r>
          </a:p>
          <a:p>
            <a:r>
              <a:t>already serving, (2) the repo root, (3) a spare. The single most common workshop failure</a:t>
            </a:r>
          </a:p>
          <a:p>
            <a:r>
              <a:t>is a cold model server — first token can take 60+ seconds while weights load.</a:t>
            </a:r>
          </a:p>
          <a:p>
            <a:endParaRPr/>
          </a:p>
          <a:p>
            <a:r>
              <a:t>[LOGISTICS]</a:t>
            </a:r>
          </a:p>
          <a:p>
            <a:r>
              <a:t>Tell people now: clone the repo, run `uv sync`, and start `./vllm-run.sh` in the</a:t>
            </a:r>
          </a:p>
          <a:p>
            <a:r>
              <a:t>background. It downloads weights on first run — get that started during the intro.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Read these as verbs, not topics. Everyone in this room can already call an LLM API. The</a:t>
            </a:r>
          </a:p>
          <a:p>
            <a:r>
              <a:t>delta we are closing today is everything between "I got a response" and "I would let this</a:t>
            </a:r>
          </a:p>
          <a:p>
            <a:r>
              <a:t>run unattended against a real system."</a:t>
            </a:r>
          </a:p>
          <a:p>
            <a:endParaRPr/>
          </a:p>
          <a:p>
            <a:r>
              <a:t>[KEY POINT]</a:t>
            </a:r>
          </a:p>
          <a:p>
            <a:r>
              <a:t>Call out the last one deliberately. Half the value of a framework is that it names the</a:t>
            </a:r>
          </a:p>
          <a:p>
            <a:r>
              <a:t>patterns — once you can see "this is a context provider" or "this is a middleware</a:t>
            </a:r>
          </a:p>
          <a:p>
            <a:r>
              <a:t>concern", you stop hand-rolling it badly.</a:t>
            </a:r>
          </a:p>
          <a:p>
            <a:endParaRPr/>
          </a:p>
          <a:p>
            <a:r>
              <a:t>[PRESENTER TIP]</a:t>
            </a:r>
          </a:p>
          <a:p>
            <a:r>
              <a:t>Ask for a show of hands: who has shipped an LLM feature to production? Who has shipped an</a:t>
            </a:r>
          </a:p>
          <a:p>
            <a:r>
              <a:t>agent — something that loops and calls tools? The gap between those two numbers is your</a:t>
            </a:r>
          </a:p>
          <a:p>
            <a:r>
              <a:t>whole talk, and it lets you calibrate depth for the rest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Four pairs. Modules 1-2 are the mental model. 3-4 are what makes an agent useful — tools</a:t>
            </a:r>
          </a:p>
          <a:p>
            <a:r>
              <a:t>and memory. 5-6 are how you scale beyond one agent. 7-8 are what makes it survivable in</a:t>
            </a:r>
          </a:p>
          <a:p>
            <a:r>
              <a:t>production.</a:t>
            </a:r>
          </a:p>
          <a:p>
            <a:endParaRPr/>
          </a:p>
          <a:p>
            <a:r>
              <a:t>[PACING]</a:t>
            </a:r>
          </a:p>
          <a:p>
            <a:r>
              <a:t>Roughly ten minutes each, but 03 (tools) and 06 (workflows) always run long because those</a:t>
            </a:r>
          </a:p>
          <a:p>
            <a:r>
              <a:t>are where hands go up. Budget for that by keeping 01 tight — the "why" section is the one</a:t>
            </a:r>
          </a:p>
          <a:p>
            <a:r>
              <a:t>you can compress if you are behind.</a:t>
            </a:r>
          </a:p>
          <a:p>
            <a:endParaRPr/>
          </a:p>
          <a:p>
            <a:r>
              <a:t>[PRESENTER TIP]</a:t>
            </a:r>
          </a:p>
          <a:p>
            <a:r>
              <a:t>Say explicitly that modules 5 and 8 are the ones people ask about afterwards, so if</a:t>
            </a:r>
          </a:p>
          <a:p>
            <a:r>
              <a:t>something has to be cut for time you will cut demo repetitions, not those sections. It</a:t>
            </a:r>
          </a:p>
          <a:p>
            <a:r>
              <a:t>buys you permission to move fast without seeming rushed.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Start sceptical on purpose. This audience has seen a lot of agent frameworks, and most of</a:t>
            </a:r>
          </a:p>
          <a:p>
            <a:r>
              <a:t>them are a thin wrapper over a while-loop. If you open with features, you lose them. Open</a:t>
            </a:r>
          </a:p>
          <a:p>
            <a:r>
              <a:t>with the failure modes they have personally hit.</a:t>
            </a:r>
          </a:p>
          <a:p>
            <a:endParaRPr/>
          </a:p>
          <a:p>
            <a:r>
              <a:t>[PRESENTER TIP]</a:t>
            </a:r>
          </a:p>
          <a:p>
            <a:r>
              <a:t>Genuinely ask: "who here has written their own agent loop?" Most hands go up. Then: "who</a:t>
            </a:r>
          </a:p>
          <a:p>
            <a:r>
              <a:t>still maintains it?" Far fewer. That laugh is the argument for this whole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Draw the distinction hard: a completion is a pure function; an agent is a process with</a:t>
            </a:r>
          </a:p>
          <a:p>
            <a:r>
              <a:t>state. Once you have a process, you inherit every operational concern that processes have</a:t>
            </a:r>
          </a:p>
          <a:p>
            <a:r>
              <a:t>— lifecycle, observability, failure handling, resource limits.</a:t>
            </a:r>
          </a:p>
          <a:p>
            <a:endParaRPr/>
          </a:p>
          <a:p>
            <a:r>
              <a:t>[KEY POINT]</a:t>
            </a:r>
          </a:p>
          <a:p>
            <a:r>
              <a:t>The chips along the bottom are the real curriculum. Nobody needs a framework to write a</a:t>
            </a:r>
          </a:p>
          <a:p>
            <a:r>
              <a:t>while-loop around a tool call. People need a framework because item eight on that list</a:t>
            </a:r>
          </a:p>
          <a:p>
            <a:r>
              <a:t>arrives three weeks after the demo, and by then the loop has grown to 800 lines.</a:t>
            </a:r>
          </a:p>
          <a:p>
            <a:endParaRPr/>
          </a:p>
          <a:p>
            <a:r>
              <a:t>[PRESENTER TIP]</a:t>
            </a:r>
          </a:p>
          <a:p>
            <a:r>
              <a:t>Pick one chip and tell a war story — "context limits" works well. Describe an agent that</a:t>
            </a:r>
          </a:p>
          <a:p>
            <a:r>
              <a:t>worked beautifully for six turns and then started silently dropping the system prompt.</a:t>
            </a:r>
          </a:p>
          <a:p>
            <a:r>
              <a:t>Concrete beats abstract here.</a:t>
            </a:r>
          </a:p>
          <a:p>
            <a:endParaRPr/>
          </a:p>
          <a:p>
            <a:r>
              <a:t>[TRANSITION]</a:t>
            </a:r>
          </a:p>
          <a:p>
            <a:r>
              <a:t>"So: what would you build if you had to solve all eight of those once, properly?"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Walk this list fast — it should feel like a slightly painful inventory rather than a</a:t>
            </a:r>
          </a:p>
          <a:p>
            <a:r>
              <a:t>lecture. The audience is checking off the ones they have personally written.</a:t>
            </a:r>
          </a:p>
          <a:p>
            <a:endParaRPr/>
          </a:p>
          <a:p>
            <a:r>
              <a:t>[KEY POINT]</a:t>
            </a:r>
          </a:p>
          <a:p>
            <a:r>
              <a:t>Land the callout: the case for a framework here is not capability, it is consistency.</a:t>
            </a:r>
          </a:p>
          <a:p>
            <a:r>
              <a:t>Eight teams hand-rolling eight tool loops is eight different retry semantics and eight</a:t>
            </a:r>
          </a:p>
          <a:p>
            <a:r>
              <a:t>different bugs in production.</a:t>
            </a:r>
          </a:p>
          <a:p>
            <a:endParaRPr/>
          </a:p>
          <a:p>
            <a:r>
              <a:t>[HONEST CAVEAT]</a:t>
            </a:r>
          </a:p>
          <a:p>
            <a:r>
              <a:t>Say out loud that if all you need is one prompt and one function call, you do not need</a:t>
            </a:r>
          </a:p>
          <a:p>
            <a:r>
              <a:t>this. Frameworks earn their keep at the second agent, the second provider, or the first</a:t>
            </a:r>
          </a:p>
          <a:p>
            <a:r>
              <a:t>compliance review. Being honest here buys credibility for the rest of the deck.</a:t>
            </a:r>
          </a:p>
          <a:p>
            <a:endParaRPr/>
          </a:p>
          <a:p>
            <a:r>
              <a:t>[PRESENTER TIP]</a:t>
            </a:r>
          </a:p>
          <a:p>
            <a:r>
              <a:t>"Provider swaps" is the one architects react to. If the room skews architect, dwell there</a:t>
            </a:r>
          </a:p>
          <a:p>
            <a:r>
              <a:t>and mention that the same Agent code in this repo runs against OpenAI, Azure, Foundry,</a:t>
            </a:r>
          </a:p>
          <a:p>
            <a:r>
              <a:t>Bedrock, Gemini, Ollama and a local vLLM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The lineage matters because it explains the design. AutoGen brought the research-side</a:t>
            </a:r>
          </a:p>
          <a:p>
            <a:r>
              <a:t>ergonomics — spinning up multi-agent conversations in a few lines. Semantic Kernel brought</a:t>
            </a:r>
          </a:p>
          <a:p>
            <a:r>
              <a:t>the parts enterprises actually asked for — state management, telemetry, connectors, a</a:t>
            </a:r>
          </a:p>
          <a:p>
            <a:r>
              <a:t>plugin model. Agent Framework is the convergence, plus a real workflow engine.</a:t>
            </a:r>
          </a:p>
          <a:p>
            <a:endParaRPr/>
          </a:p>
          <a:p>
            <a:r>
              <a:t>[KEY POINT]</a:t>
            </a:r>
          </a:p>
          <a:p>
            <a:r>
              <a:t>If someone asks "is AutoGen dead / should I migrate off SK" — the honest framing is that</a:t>
            </a:r>
          </a:p>
          <a:p>
            <a:r>
              <a:t>this is the forward-looking line, both prior projects informed it, and migration guidance</a:t>
            </a:r>
          </a:p>
          <a:p>
            <a:r>
              <a:t>exists in the docs. Do not oversell a hard deprecation you cannot substantiate.</a:t>
            </a:r>
          </a:p>
          <a:p>
            <a:endParaRPr/>
          </a:p>
          <a:p>
            <a:r>
              <a:t>[PRESENTER TIP]</a:t>
            </a:r>
          </a:p>
          <a:p>
            <a:r>
              <a:t>The right-hand column is what is genuinely new rather than merged. Emphasise open</a:t>
            </a:r>
          </a:p>
          <a:p>
            <a:r>
              <a:t>standards: MCP for tools, A2A for agent-to-agent, AG-UI for front ends, OpenTelemetry for</a:t>
            </a:r>
          </a:p>
          <a:p>
            <a:r>
              <a:t>traces. That is an unusually standards-forward posture and it is a real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Core is small and provider-agnostic on purpose. Everything vendor-specific lives in a</a:t>
            </a:r>
          </a:p>
          <a:p>
            <a:r>
              <a:t>sibling distribution. That is why `Agent` never mentions OpenAI — it takes a client.</a:t>
            </a:r>
          </a:p>
          <a:p>
            <a:endParaRPr/>
          </a:p>
          <a:p>
            <a:r>
              <a:t>[GOTCHA WORTH SAYING OUT LOUD]</a:t>
            </a:r>
          </a:p>
          <a:p>
            <a:r>
              <a:t>The same class is reachable two ways: `from agent_framework_openai import ...` and</a:t>
            </a:r>
          </a:p>
          <a:p>
            <a:r>
              <a:t>`from agent_framework.openai import ...`. Both work — namespace package plus per-provider</a:t>
            </a:r>
          </a:p>
          <a:p>
            <a:r>
              <a:t>distribution. The examples in this repo mix both, and that is not a bug. If you see it in</a:t>
            </a:r>
          </a:p>
          <a:p>
            <a:r>
              <a:t>review, do not "fix" it blindly.</a:t>
            </a:r>
          </a:p>
          <a:p>
            <a:endParaRPr/>
          </a:p>
          <a:p>
            <a:r>
              <a:t>[PRESENTER TIP]</a:t>
            </a:r>
          </a:p>
          <a:p>
            <a:r>
              <a:t>If anyone asks about install size — yes, the meta-package is heavy. In production you pin</a:t>
            </a:r>
          </a:p>
          <a:p>
            <a:r>
              <a:t>the specific provider distributions you need. For a workshop, the meta-package means</a:t>
            </a:r>
          </a:p>
          <a:p>
            <a:r>
              <a:t>nobody gets blocked on a missing import halfway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This is the module that pays for the rest of the day. If people leave with the run</a:t>
            </a:r>
          </a:p>
          <a:p>
            <a:r>
              <a:t>lifecycle diagram in their heads, everything afterwards — tools, memory, middleware — is</a:t>
            </a:r>
          </a:p>
          <a:p>
            <a:r>
              <a:t>just "which hook does this hang off".</a:t>
            </a:r>
          </a:p>
          <a:p>
            <a:endParaRPr/>
          </a:p>
          <a:p>
            <a:r>
              <a:t>[PRESENTER TIP]</a:t>
            </a:r>
          </a:p>
          <a:p>
            <a:r>
              <a:t>Slow down here. It is tempting to rush to the tool demo because that is the fun part, but</a:t>
            </a:r>
          </a:p>
          <a:p>
            <a:r>
              <a:t>a shaky mental model at module 2 means confused questions at module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Five nouns. Everything in the framework is one of these or a composition of them.</a:t>
            </a:r>
          </a:p>
          <a:p>
            <a:endParaRPr/>
          </a:p>
          <a:p>
            <a:r>
              <a:t>[KEY POINT]</a:t>
            </a:r>
          </a:p>
          <a:p>
            <a:r>
              <a:t>The callout is the design principle worth repeating. There is no `class MyAgent(Agent)` in</a:t>
            </a:r>
          </a:p>
          <a:p>
            <a:r>
              <a:t>idiomatic code. When someone asks "how do I customise X", the answer is almost always</a:t>
            </a:r>
          </a:p>
          <a:p>
            <a:r>
              <a:t>"pass something in", not "override something".</a:t>
            </a:r>
          </a:p>
          <a:p>
            <a:endParaRPr/>
          </a:p>
          <a:p>
            <a:r>
              <a:t>[ORDER MATTERS]</a:t>
            </a:r>
          </a:p>
          <a:p>
            <a:r>
              <a:t>Introduce them in dependency order: a client is useless alone, an agent needs a client, a</a:t>
            </a:r>
          </a:p>
          <a:p>
            <a:r>
              <a:t>session needs an agent, a context provider hangs off the agent and reads/writes session</a:t>
            </a:r>
          </a:p>
          <a:p>
            <a:r>
              <a:t>state. Tools are the only one that stands alone as plain Python.</a:t>
            </a:r>
          </a:p>
          <a:p>
            <a:endParaRPr/>
          </a:p>
          <a:p>
            <a:r>
              <a:t>[PRESENTER TIP]</a:t>
            </a:r>
          </a:p>
          <a:p>
            <a:r>
              <a:t>Ask the room to predict which of the five is the one people misuse most. Answer: sessions</a:t>
            </a:r>
          </a:p>
          <a:p>
            <a:r>
              <a:t>— specifically, sharing one session across concurrent users. Flag it now, revisit in</a:t>
            </a:r>
          </a:p>
          <a:p>
            <a:r>
              <a:t>module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The point of this slide is one line of code. `client=` is the only place the provider</a:t>
            </a:r>
          </a:p>
          <a:p>
            <a:r>
              <a:t>appears. Everything downstream — tools, sessions, workflows, middleware — is written</a:t>
            </a:r>
          </a:p>
          <a:p>
            <a:r>
              <a:t>against the abstraction.</a:t>
            </a:r>
          </a:p>
          <a:p>
            <a:endParaRPr/>
          </a:p>
          <a:p>
            <a:r>
              <a:t>[THE GOTCHA — say this twice]</a:t>
            </a:r>
          </a:p>
          <a:p>
            <a:r>
              <a:t>`OpenAIChatCompletionClient` and `OpenAIChatClient` are different clients for different</a:t>
            </a:r>
          </a:p>
          <a:p>
            <a:r>
              <a:t>OpenAI APIs. The workshop runs against a local vLLM server, which serves Chat Completions</a:t>
            </a:r>
          </a:p>
          <a:p>
            <a:r>
              <a:t>only. Every example here uses the ChatCompletion variant deliberately.</a:t>
            </a:r>
          </a:p>
          <a:p>
            <a:endParaRPr/>
          </a:p>
          <a:p>
            <a:r>
              <a:t>[PRESENTER TIP]</a:t>
            </a:r>
          </a:p>
          <a:p>
            <a:r>
              <a:t>This is the single highest-value troubleshooting fact in the deck. When someone's laptop</a:t>
            </a:r>
          </a:p>
          <a:p>
            <a:r>
              <a:t>throws a 404 in twenty minutes, it is this. Consider writing it on a whiteboard and</a:t>
            </a:r>
          </a:p>
          <a:p>
            <a:r>
              <a:t>leaving it up.</a:t>
            </a:r>
          </a:p>
          <a:p>
            <a:endParaRPr/>
          </a:p>
          <a:p>
            <a:r>
              <a:t>[ARCHITECT ANGLE]</a:t>
            </a:r>
          </a:p>
          <a:p>
            <a:r>
              <a:t>Provider-neutrality is not just portability theatre — it is how you run cheap local models</a:t>
            </a:r>
          </a:p>
          <a:p>
            <a:r>
              <a:t>in CI and a frontier model in production without branching your agent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Seventeen lines, and four of them are imports. Point out that there is no client</a:t>
            </a:r>
          </a:p>
          <a:p>
            <a:r>
              <a:t>configuration in sight — base URL, key and model all come from the environment via</a:t>
            </a:r>
          </a:p>
          <a:p>
            <a:r>
              <a:t>`load_dotenv()`.</a:t>
            </a:r>
          </a:p>
          <a:p>
            <a:endParaRPr/>
          </a:p>
          <a:p>
            <a:r>
              <a:t>[WALK THE CODE]</a:t>
            </a:r>
          </a:p>
          <a:p>
            <a:r>
              <a:t>Agent takes a client, a name, and instructions. `name` matters more than it looks: it</a:t>
            </a:r>
          </a:p>
          <a:p>
            <a:r>
              <a:t>shows up in traces, in multi-agent transcripts as `author_name`, and in DevUI. Give agents</a:t>
            </a:r>
          </a:p>
          <a:p>
            <a:r>
              <a:t>real names, not "agent1".</a:t>
            </a:r>
          </a:p>
          <a:p>
            <a:endParaRPr/>
          </a:p>
          <a:p>
            <a:r>
              <a:t>[KEY POINT]</a:t>
            </a:r>
          </a:p>
          <a:p>
            <a:r>
              <a:t>`instructions` is not the user prompt. It is applied to every run in the session. A common</a:t>
            </a:r>
          </a:p>
          <a:p>
            <a:r>
              <a:t>beginner bug is stuffing per-request context into instructions instead of into the message</a:t>
            </a:r>
          </a:p>
          <a:p>
            <a:r>
              <a:t>or a context provider.</a:t>
            </a:r>
          </a:p>
          <a:p>
            <a:endParaRPr/>
          </a:p>
          <a:p>
            <a:r>
              <a:t>[DEMO CUE]</a:t>
            </a:r>
          </a:p>
          <a:p>
            <a:r>
              <a:t>uv run python examples/01_hello_agent.py</a:t>
            </a:r>
          </a:p>
          <a:p>
            <a:endParaRPr/>
          </a:p>
          <a:p>
            <a:r>
              <a:t>[PRESENTER TIP]</a:t>
            </a:r>
          </a:p>
          <a:p>
            <a:r>
              <a:t>Run it twice — once as written, once after changing instructions to something absurd like</a:t>
            </a:r>
          </a:p>
          <a:p>
            <a:r>
              <a:t>"answer only in haiku". Nothing lands the instructions/prompt distinction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This is the slide to draw on a whiteboard rather than read. Four rings around one model</a:t>
            </a:r>
          </a:p>
          <a:p>
            <a:r>
              <a:t>call.</a:t>
            </a:r>
          </a:p>
          <a:p>
            <a:endParaRPr/>
          </a:p>
          <a:p>
            <a:r>
              <a:t>[WALK IT]</a:t>
            </a:r>
          </a:p>
          <a:p>
            <a:r>
              <a:t>1. You call agent.run(). 2. Every registered context provider gets before_run — this is</a:t>
            </a:r>
          </a:p>
          <a:p>
            <a:r>
              <a:t>where memory injects "the user's name is Alice" into the instructions. 3. Agent middleware</a:t>
            </a:r>
          </a:p>
          <a:p>
            <a:r>
              <a:t>wraps the whole invocation and can short-circuit it entirely. 4. The model responds — and</a:t>
            </a:r>
          </a:p>
          <a:p>
            <a:r>
              <a:t>if it asks for a tool, function middleware wraps that call, the tool runs, the result goes</a:t>
            </a:r>
          </a:p>
          <a:p>
            <a:r>
              <a:t>back, and the model gets another turn. That inner loop repeats. 5. after_run fires so</a:t>
            </a:r>
          </a:p>
          <a:p>
            <a:r>
              <a:t>providers can persist anything they learned.</a:t>
            </a:r>
          </a:p>
          <a:p>
            <a:endParaRPr/>
          </a:p>
          <a:p>
            <a:r>
              <a:t>[KEY POINT]</a:t>
            </a:r>
          </a:p>
          <a:p>
            <a:r>
              <a:t>The tool loop is inside the middleware, not outside it. That is why one agent middleware</a:t>
            </a:r>
          </a:p>
          <a:p>
            <a:r>
              <a:t>sees the whole multi-turn tool exchange as a single unit, while function middleware fires</a:t>
            </a:r>
          </a:p>
          <a:p>
            <a:r>
              <a:t>per tool call. People get this backwards constantly.</a:t>
            </a:r>
          </a:p>
          <a:p>
            <a:endParaRPr/>
          </a:p>
          <a:p>
            <a:r>
              <a:t>[PRESENTER TIP]</a:t>
            </a:r>
          </a:p>
          <a:p>
            <a:r>
              <a:t>Ask: "where would you put a token budget check?" Good answers differ — agent middleware</a:t>
            </a:r>
          </a:p>
          <a:p>
            <a:r>
              <a:t>for a per-request cap, function middleware for a per-tool cap. Let the room argue for</a:t>
            </a:r>
          </a:p>
          <a:p>
            <a:r>
              <a:t>thirty seconds; it proves they have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Same `run` method either way — `stream=True` flips it from awaitable to async iterator.</a:t>
            </a:r>
          </a:p>
          <a:p>
            <a:r>
              <a:t>That symmetry is deliberate and it means you can develop non-streaming and ship streaming</a:t>
            </a:r>
          </a:p>
          <a:p>
            <a:r>
              <a:t>without restructuring.</a:t>
            </a:r>
          </a:p>
          <a:p>
            <a:endParaRPr/>
          </a:p>
          <a:p>
            <a:r>
              <a:t>[WATCH FOR]</a:t>
            </a:r>
          </a:p>
          <a:p>
            <a:r>
              <a:t>`if chunk.text:` is not defensive noise. Streaming updates carry more than text — tool call</a:t>
            </a:r>
          </a:p>
          <a:p>
            <a:r>
              <a:t>deltas, usage, annotations. Iterating naively and printing `chunk` prints objects.</a:t>
            </a:r>
          </a:p>
          <a:p>
            <a:endParaRPr/>
          </a:p>
          <a:p>
            <a:r>
              <a:t>[REPO SPECIFIC]</a:t>
            </a:r>
          </a:p>
          <a:p>
            <a:r>
              <a:t>Examples here pass `max_tokens` explicitly because the local vLLM server runs with</a:t>
            </a:r>
          </a:p>
          <a:p>
            <a:r>
              <a:t>`--max-model-len=8192`. On a hosted frontier model you would usually leave it off. Mention</a:t>
            </a:r>
          </a:p>
          <a:p>
            <a:r>
              <a:t>that `default_options={"max_tokens": 500}` on the Agent sets a baseline for every call —</a:t>
            </a:r>
          </a:p>
          <a:p>
            <a:r>
              <a:t>see examples/08.</a:t>
            </a:r>
          </a:p>
          <a:p>
            <a:endParaRPr/>
          </a:p>
          <a:p>
            <a:r>
              <a:t>[PRESENTER TIP]</a:t>
            </a:r>
          </a:p>
          <a:p>
            <a:r>
              <a:t>If the room is UI-oriented, note that streaming plus AG-UI (module 8) is how you get a</a:t>
            </a:r>
          </a:p>
          <a:p>
            <a:r>
              <a:t>token-by-token chat front end with no bespoke transport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[SETUP]</a:t>
            </a:r>
          </a:p>
          <a:p>
            <a:r>
              <a:t>vLLM must already be serving on localhost:8000 before this slide. First run downloads</a:t>
            </a:r>
          </a:p>
          <a:p>
            <a:r>
              <a:t>Qwen3.5-4B weights — do not do that live.</a:t>
            </a:r>
          </a:p>
          <a:p>
            <a:endParaRPr/>
          </a:p>
          <a:p>
            <a:r>
              <a:t>[DEMO SCRIPT]</a:t>
            </a:r>
          </a:p>
          <a:p>
            <a:r>
              <a:t>1. Show the file (17 lines). 2. Run it. 3. Point at the three outputs and map each to the</a:t>
            </a:r>
          </a:p>
          <a:p>
            <a:r>
              <a:t>code. 4. Change instructions to "answer only in haiku", re-run, get a laugh, move on.</a:t>
            </a:r>
          </a:p>
          <a:p>
            <a:endParaRPr/>
          </a:p>
          <a:p>
            <a:r>
              <a:t>[PRESENTER TIP]</a:t>
            </a:r>
          </a:p>
          <a:p>
            <a:r>
              <a:t>Keep your terminal font large — 18pt minimum. And pre-clear scrollback; a wall of vLLM</a:t>
            </a:r>
          </a:p>
          <a:p>
            <a:r>
              <a:t>debug logging above your output kills the moment.</a:t>
            </a:r>
          </a:p>
          <a:p>
            <a:endParaRPr/>
          </a:p>
          <a:p>
            <a:r>
              <a:t>[COMMON FAILURE]</a:t>
            </a:r>
          </a:p>
          <a:p>
            <a:r>
              <a:t>404 from the client almost always means OPENAI_BASE_URL is unset or you are on</a:t>
            </a:r>
          </a:p>
          <a:p>
            <a:r>
              <a:t>OpenAIChatClient instead of OpenAIChatCompletionClient. Have .env open in a tab.</a:t>
            </a:r>
          </a:p>
          <a:p>
            <a:endParaRPr/>
          </a:p>
          <a:p>
            <a:r>
              <a:t>[TIMING]</a:t>
            </a:r>
          </a:p>
          <a:p>
            <a:r>
              <a:t>Three minutes. Do not let this one sprawl — the interesting demos are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Tools are where an agent stops being a chatbot. Everything before this was text in, text</a:t>
            </a:r>
          </a:p>
          <a:p>
            <a:r>
              <a:t>out. From here the model can cause effects — which is exactly why the approval slide at</a:t>
            </a:r>
          </a:p>
          <a:p>
            <a:r>
              <a:t>the end of this module matters more than the syntax at the start.</a:t>
            </a:r>
          </a:p>
          <a:p>
            <a:endParaRPr/>
          </a:p>
          <a:p>
            <a:r>
              <a:t>[PRESENTER TIP]</a:t>
            </a:r>
          </a:p>
          <a:p>
            <a:r>
              <a:t>This module always overruns because it is the most immediately useful. Watch the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The decorator does one job: it turns a Python signature into a JSON Schema the model can</a:t>
            </a:r>
          </a:p>
          <a:p>
            <a:r>
              <a:t>be trained on. Name, docstring, type hints and Field descriptions are all inputs to that</a:t>
            </a:r>
          </a:p>
          <a:p>
            <a:r>
              <a:t>schema.</a:t>
            </a:r>
          </a:p>
          <a:p>
            <a:endParaRPr/>
          </a:p>
          <a:p>
            <a:r>
              <a:t>[KEY POINT — the docstring]</a:t>
            </a:r>
          </a:p>
          <a:p>
            <a:r>
              <a:t>Say this plainly: your docstring is prompt engineering. It is the highest-leverage text in</a:t>
            </a:r>
          </a:p>
          <a:p>
            <a:r>
              <a:t>the whole agent, and it is the one most teams write last and worst.</a:t>
            </a:r>
          </a:p>
          <a:p>
            <a:endParaRPr/>
          </a:p>
          <a:p>
            <a:r>
              <a:t>[PRACTICAL ADVICE]</a:t>
            </a:r>
          </a:p>
          <a:p>
            <a:r>
              <a:t>Return errors as strings, not exceptions, when you want the model to recover — "no city</a:t>
            </a:r>
          </a:p>
          <a:p>
            <a:r>
              <a:t>found named Xyz, try a fuller name" gives the model something to do. Raise when you want</a:t>
            </a:r>
          </a:p>
          <a:p>
            <a:r>
              <a:t>the run to fail loudly.</a:t>
            </a:r>
          </a:p>
          <a:p>
            <a:endParaRPr/>
          </a:p>
          <a:p>
            <a:r>
              <a:t>[UNITS]</a:t>
            </a:r>
          </a:p>
          <a:p>
            <a:r>
              <a:t>Tell the war story about units. A tool that returns "24" versus "24C" versus "the high is</a:t>
            </a:r>
          </a:p>
          <a:p>
            <a:r>
              <a:t>24 degrees Celsius" produces measurably different downstream behaviour.</a:t>
            </a:r>
          </a:p>
          <a:p>
            <a:endParaRPr/>
          </a:p>
          <a:p>
            <a:r>
              <a:t>[PRESENTER TIP]</a:t>
            </a:r>
          </a:p>
          <a:p>
            <a:r>
              <a:t>Ask the room to critique a deliberately bad docstring — "gets data" — before you show the</a:t>
            </a:r>
          </a:p>
          <a:p>
            <a:r>
              <a:t>good one. Participation here wakes people up mid-session.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Emphasise that step 1 is structured output, not text parsing. The model emits a tool call</a:t>
            </a:r>
          </a:p>
          <a:p>
            <a:r>
              <a:t>with JSON arguments; the framework validates against the schema before your function ever</a:t>
            </a:r>
          </a:p>
          <a:p>
            <a:r>
              <a:t>sees it. That validation boundary is one of the quiet wins over hand-rolled loops.</a:t>
            </a:r>
          </a:p>
          <a:p>
            <a:endParaRPr/>
          </a:p>
          <a:p>
            <a:r>
              <a:t>[KEY POINT]</a:t>
            </a:r>
          </a:p>
          <a:p>
            <a:r>
              <a:t>Step 4 is the recursion. The loop terminates when the model stops asking for tools — which</a:t>
            </a:r>
          </a:p>
          <a:p>
            <a:r>
              <a:t>means termination is a model decision unless you impose limits. Hence the red panel.</a:t>
            </a:r>
          </a:p>
          <a:p>
            <a:endParaRPr/>
          </a:p>
          <a:p>
            <a:r>
              <a:t>[WAR STORY]</a:t>
            </a:r>
          </a:p>
          <a:p>
            <a:r>
              <a:t>Describe a retrieval tool that returned "no results found", the model rephrased and called</a:t>
            </a:r>
          </a:p>
          <a:p>
            <a:r>
              <a:t>again, and again — forty times, until the context window filled. Fix was a call budget</a:t>
            </a:r>
          </a:p>
          <a:p>
            <a:r>
              <a:t>plus a tool that said "no results; do not retry with a synonym".</a:t>
            </a:r>
          </a:p>
          <a:p>
            <a:endParaRPr/>
          </a:p>
          <a:p>
            <a:r>
              <a:t>[PRESENTER TIP]</a:t>
            </a:r>
          </a:p>
          <a:p>
            <a:r>
              <a:t>If you have time, ask what happens when two tool calls come back in one response. Answer:</a:t>
            </a:r>
          </a:p>
          <a:p>
            <a:r>
              <a:t>they can be dispatched in parallel — which is why your tools should be safe to run</a:t>
            </a:r>
          </a:p>
          <a:p>
            <a:r>
              <a:t>concurrently and ideally idempotent.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This is example 02 essentially verbatim. Note that `tools=` accepts a list or a bare tool —</a:t>
            </a:r>
          </a:p>
          <a:p>
            <a:r>
              <a:t>example 12 passes `tools=get_weather` with no list, and that is fine.</a:t>
            </a:r>
          </a:p>
          <a:p>
            <a:endParaRPr/>
          </a:p>
          <a:p>
            <a:r>
              <a:t>[SUBTLE POINT]</a:t>
            </a:r>
          </a:p>
          <a:p>
            <a:r>
              <a:t>You do not strictly need the `@tool` decorator — a plain typed function with a docstring</a:t>
            </a:r>
          </a:p>
          <a:p>
            <a:r>
              <a:t>works (see dev_ui/agent.py). You reach for the decorator when you want to control approval</a:t>
            </a:r>
          </a:p>
          <a:p>
            <a:r>
              <a:t>behaviour or other tool-level settings.</a:t>
            </a:r>
          </a:p>
          <a:p>
            <a:endParaRPr/>
          </a:p>
          <a:p>
            <a:r>
              <a:t>[MODEL BEHAVIOUR]</a:t>
            </a:r>
          </a:p>
          <a:p>
            <a:r>
              <a:t>With a small local model, tool selection is less reliable than with a frontier model. That</a:t>
            </a:r>
          </a:p>
          <a:p>
            <a:r>
              <a:t>is why the instructions here explicitly say "Use get_weather to answer". Mention that this</a:t>
            </a:r>
          </a:p>
          <a:p>
            <a:r>
              <a:t>is a real production technique for cheap models, not a workshop hack.</a:t>
            </a:r>
          </a:p>
          <a:p>
            <a:endParaRPr/>
          </a:p>
          <a:p>
            <a:r>
              <a:t>[DEMO CUE]</a:t>
            </a:r>
          </a:p>
          <a:p>
            <a:r>
              <a:t>uv run python examples/02_add_tools.py</a:t>
            </a:r>
          </a:p>
          <a:p>
            <a:endParaRPr/>
          </a:p>
          <a:p>
            <a:r>
              <a:t>[PRESENTER TIP]</a:t>
            </a:r>
          </a:p>
          <a:p>
            <a:r>
              <a:t>Ask it about a city, then ask something unrelated — "what is 2+2" — and show that the model</a:t>
            </a:r>
          </a:p>
          <a:p>
            <a:r>
              <a:t>does not call the tool. Demonstrating restraint is more convincing than demonstrating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This is the slide that makes architects relax. Human-in-the-loop is not bolted on; pausing</a:t>
            </a:r>
          </a:p>
          <a:p>
            <a:r>
              <a:t>and resuming mid-loop is a first-class capability, which is genuinely hard to build</a:t>
            </a:r>
          </a:p>
          <a:p>
            <a:r>
              <a:t>yourself because you have to serialise the pending tool call and the conversation state.</a:t>
            </a:r>
          </a:p>
          <a:p>
            <a:endParaRPr/>
          </a:p>
          <a:p>
            <a:r>
              <a:t>[BE HONEST ABOUT THE REPO]</a:t>
            </a:r>
          </a:p>
          <a:p>
            <a:r>
              <a:t>Every sample here sets never_require, and the framework's own samples carry the same</a:t>
            </a:r>
          </a:p>
          <a:p>
            <a:r>
              <a:t>comment. That is a teaching shortcut. Say clearly: do not copy that line into a service</a:t>
            </a:r>
          </a:p>
          <a:p>
            <a:r>
              <a:t>that spends money.</a:t>
            </a:r>
          </a:p>
          <a:p>
            <a:endParaRPr/>
          </a:p>
          <a:p>
            <a:r>
              <a:t>[THE 3AM TEST]</a:t>
            </a:r>
          </a:p>
          <a:p>
            <a:r>
              <a:t>Give the room the heuristic in the callout and then apply it live to three tools they</a:t>
            </a:r>
          </a:p>
          <a:p>
            <a:r>
              <a:t>suggest. It works better as an interaction than as a bullet.</a:t>
            </a:r>
          </a:p>
          <a:p>
            <a:endParaRPr/>
          </a:p>
          <a:p>
            <a:r>
              <a:t>[FOLLOW-UP]</a:t>
            </a:r>
          </a:p>
          <a:p>
            <a:r>
              <a:t>Approval pairs with sessions — the approval round-trip needs somewhere to park state.</a:t>
            </a:r>
          </a:p>
          <a:p>
            <a:r>
              <a:t>Point forward to module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[DEMO SCRIPT]</a:t>
            </a:r>
          </a:p>
          <a:p>
            <a:r>
              <a:t>The docstring vandalism is the memorable one. Change the docstring to "gets data", re-run,</a:t>
            </a:r>
          </a:p>
          <a:p>
            <a:r>
              <a:t>and the small local model will often stop calling the tool or call it with a nonsense</a:t>
            </a:r>
          </a:p>
          <a:p>
            <a:r>
              <a:t>argument. Restore it and it works again. That is the whole "docstring is an API" lesson in</a:t>
            </a:r>
          </a:p>
          <a:p>
            <a:r>
              <a:t>forty seconds.</a:t>
            </a:r>
          </a:p>
          <a:p>
            <a:endParaRPr/>
          </a:p>
          <a:p>
            <a:r>
              <a:t>[PRESENTER TIP]</a:t>
            </a:r>
          </a:p>
          <a:p>
            <a:r>
              <a:t>Have the edit ready in a second editor tab so you are not typing under pressure. Use git</a:t>
            </a:r>
          </a:p>
          <a:p>
            <a:r>
              <a:t>to restore: `git checkout examples/02_add_tools.py`.</a:t>
            </a:r>
          </a:p>
          <a:p>
            <a:endParaRPr/>
          </a:p>
          <a:p>
            <a:r>
              <a:t>[IF ASKED ABOUT PARALLEL CALLS]</a:t>
            </a:r>
          </a:p>
          <a:p>
            <a:r>
              <a:t>Two-city prompts sometimes yield two tool calls in one response, sometimes sequential ones</a:t>
            </a:r>
          </a:p>
          <a:p>
            <a:r>
              <a:t>— depends on the model. Do not promise a specific behaviour live.</a:t>
            </a:r>
          </a:p>
          <a:p>
            <a:endParaRPr/>
          </a:p>
          <a:p>
            <a:r>
              <a:t>[TIMING]</a:t>
            </a:r>
          </a:p>
          <a:p>
            <a:r>
              <a:t>Four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Memory is where most agent projects quietly go wrong. Not because it is conceptually hard,</a:t>
            </a:r>
          </a:p>
          <a:p>
            <a:r>
              <a:t>but because "just append to the message list" works perfectly until turn thirty, and then</a:t>
            </a:r>
          </a:p>
          <a:p>
            <a:r>
              <a:t>it fails as a cost problem and a quality problem simultaneously.</a:t>
            </a:r>
          </a:p>
          <a:p>
            <a:endParaRPr/>
          </a:p>
          <a:p>
            <a:r>
              <a:t>[PRESENTER TIP]</a:t>
            </a:r>
          </a:p>
          <a:p>
            <a:r>
              <a:t>Ask how many people have hit a context-length error in production. Then ask how many</a:t>
            </a:r>
          </a:p>
          <a:p>
            <a:r>
              <a:t>solved it by truncating the oldest messages. Then ask how that went.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Three horizons, three different mechanisms, and the mistake is using one for another's job.</a:t>
            </a:r>
          </a:p>
          <a:p>
            <a:endParaRPr/>
          </a:p>
          <a:p>
            <a:r>
              <a:t>[THE TURN]</a:t>
            </a:r>
          </a:p>
          <a:p>
            <a:r>
              <a:t>The message list. Cheap, explicit, gone afterwards. Anything you can recompute belongs</a:t>
            </a:r>
          </a:p>
          <a:p>
            <a:r>
              <a:t>here, not in memory.</a:t>
            </a:r>
          </a:p>
          <a:p>
            <a:endParaRPr/>
          </a:p>
          <a:p>
            <a:r>
              <a:t>[THE SESSION]</a:t>
            </a:r>
          </a:p>
          <a:p>
            <a:r>
              <a:t>`agent.create_session()` returns a handle you pass to every run. It carries history plus a</a:t>
            </a:r>
          </a:p>
          <a:p>
            <a:r>
              <a:t>state dict that context providers read and write. In-memory by default — which is fine for</a:t>
            </a:r>
          </a:p>
          <a:p>
            <a:r>
              <a:t>a CLI and wrong for a web service.</a:t>
            </a:r>
          </a:p>
          <a:p>
            <a:endParaRPr/>
          </a:p>
          <a:p>
            <a:r>
              <a:t>[BEYOND]</a:t>
            </a:r>
          </a:p>
          <a:p>
            <a:r>
              <a:t>This is where retrieval lives. A context provider that queries Redis, mem0, Cosmos or</a:t>
            </a:r>
          </a:p>
          <a:p>
            <a:r>
              <a:t>Azure AI Search and injects the top few facts into the instructions for this run.</a:t>
            </a:r>
          </a:p>
          <a:p>
            <a:endParaRPr/>
          </a:p>
          <a:p>
            <a:r>
              <a:t>[KEY POINT]</a:t>
            </a:r>
          </a:p>
          <a:p>
            <a:r>
              <a:t>Sessions are not a database. If your process restarts, an in-memory session is gone. For</a:t>
            </a:r>
          </a:p>
          <a:p>
            <a:r>
              <a:t>anything user-facing, back it with a real history provider — module 8 revisits this.</a:t>
            </a:r>
          </a:p>
          <a:p>
            <a:endParaRPr/>
          </a:p>
          <a:p>
            <a:r>
              <a:t>[PRESENTER TIP]</a:t>
            </a:r>
          </a:p>
          <a:p>
            <a:r>
              <a:t>The three-bar visual maps to cost. Longer horizon, more retrieval, more tokens. Every</a:t>
            </a:r>
          </a:p>
          <a:p>
            <a:r>
              <a:t>memory decision is a cost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Deliberately unremarkable code — that is the point. The session is a parameter, not a</a:t>
            </a:r>
          </a:p>
          <a:p>
            <a:r>
              <a:t>global, not an ambient context.</a:t>
            </a:r>
          </a:p>
          <a:p>
            <a:endParaRPr/>
          </a:p>
          <a:p>
            <a:r>
              <a:t>[KEY POINT — the production bug]</a:t>
            </a:r>
          </a:p>
          <a:p>
            <a:r>
              <a:t>"One session per conversation." The failure mode is a service that creates the agent at</a:t>
            </a:r>
          </a:p>
          <a:p>
            <a:r>
              <a:t>module scope, creates one session next to it, and serves every user from it. Everyone sees</a:t>
            </a:r>
          </a:p>
          <a:p>
            <a:r>
              <a:t>everyone's history. It passes local testing perfectly because you are one user.</a:t>
            </a:r>
          </a:p>
          <a:p>
            <a:endParaRPr/>
          </a:p>
          <a:p>
            <a:r>
              <a:t>[STATELESSNESS]</a:t>
            </a:r>
          </a:p>
          <a:p>
            <a:r>
              <a:t>Omitting `session=` is a legitimate design choice, not an oversight. Classification,</a:t>
            </a:r>
          </a:p>
          <a:p>
            <a:r>
              <a:t>extraction and summarisation endpoints should usually be stateless — cheaper, more</a:t>
            </a:r>
          </a:p>
          <a:p>
            <a:r>
              <a:t>predictable, trivially parallel.</a:t>
            </a:r>
          </a:p>
          <a:p>
            <a:endParaRPr/>
          </a:p>
          <a:p>
            <a:r>
              <a:t>[DEMO CUE]</a:t>
            </a:r>
          </a:p>
          <a:p>
            <a:r>
              <a:t>uv run python examples/03_multi_turn.py</a:t>
            </a:r>
          </a:p>
          <a:p>
            <a:endParaRPr/>
          </a:p>
          <a:p>
            <a:r>
              <a:t>[PRESENTER TIP]</a:t>
            </a:r>
          </a:p>
          <a:p>
            <a:r>
              <a:t>Run it, then comment out `session=session` on the second call and run again. The agent no</a:t>
            </a:r>
          </a:p>
          <a:p>
            <a:r>
              <a:t>longer knows Alice. Ten seconds, perfectly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Two hooks. before_run injects, after_run captures. That is the entire contract.</a:t>
            </a:r>
          </a:p>
          <a:p>
            <a:endParaRPr/>
          </a:p>
          <a:p>
            <a:r>
              <a:t>[KEY POINT — the callout]</a:t>
            </a:r>
          </a:p>
          <a:p>
            <a:r>
              <a:t>People come in expecting a RAG API and are briefly disappointed there isn't one. Reframe</a:t>
            </a:r>
          </a:p>
          <a:p>
            <a:r>
              <a:t>it: retrieval is a before_run hook. Personalisation is a before_run hook. Compliance</a:t>
            </a:r>
          </a:p>
          <a:p>
            <a:r>
              <a:t>banners are a before_run hook. One seam, many uses — that is good design, not a gap.</a:t>
            </a:r>
          </a:p>
          <a:p>
            <a:endParaRPr/>
          </a:p>
          <a:p>
            <a:r>
              <a:t>[extend_instructions]</a:t>
            </a:r>
          </a:p>
          <a:p>
            <a:r>
              <a:t>Note it takes source_id as the first argument. Injected context is attributed, so you can</a:t>
            </a:r>
          </a:p>
          <a:p>
            <a:r>
              <a:t>trace which provider added what — matters when three providers are competing for a small</a:t>
            </a:r>
          </a:p>
          <a:p>
            <a:r>
              <a:t>context window.</a:t>
            </a:r>
          </a:p>
          <a:p>
            <a:endParaRPr/>
          </a:p>
          <a:p>
            <a:r>
              <a:t>[BE HONEST]</a:t>
            </a:r>
          </a:p>
          <a:p>
            <a:r>
              <a:t>The example's name extraction is a substring hack for teaching. Real implementations use a</a:t>
            </a:r>
          </a:p>
          <a:p>
            <a:r>
              <a:t>model call, an entity extractor, or explicit user profile writes. Say so before someone in</a:t>
            </a:r>
          </a:p>
          <a:p>
            <a:r>
              <a:t>the room says it for you.</a:t>
            </a:r>
          </a:p>
          <a:p>
            <a:endParaRPr/>
          </a:p>
          <a:p>
            <a:r>
              <a:t>[DEMO CUE]</a:t>
            </a:r>
          </a:p>
          <a:p>
            <a:r>
              <a:t>uv run python examples/04_memory.py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Compaction is the unglamorous feature that decides whether your agent survives a long</a:t>
            </a:r>
          </a:p>
          <a:p>
            <a:r>
              <a:t>session. Three strategies, composed under a token budget, applied before the model call.</a:t>
            </a:r>
          </a:p>
          <a:p>
            <a:endParaRPr/>
          </a:p>
          <a:p>
            <a:r>
              <a:t>[ORDER MATTERS]</a:t>
            </a:r>
          </a:p>
          <a:p>
            <a:r>
              <a:t>The order in that list is the order they run, and it is deliberate: throw away cheap</a:t>
            </a:r>
          </a:p>
          <a:p>
            <a:r>
              <a:t>garbage first (stale tool results — often the single biggest consumer), then summarise</a:t>
            </a:r>
          </a:p>
          <a:p>
            <a:r>
              <a:t>what is left, then hard-window as a backstop. Reversing it means you pay a summariser to</a:t>
            </a:r>
          </a:p>
          <a:p>
            <a:r>
              <a:t>compress tool output you were going to drop.</a:t>
            </a:r>
          </a:p>
          <a:p>
            <a:endParaRPr/>
          </a:p>
          <a:p>
            <a:r>
              <a:t>[THE SEPARATE CLIENT]</a:t>
            </a:r>
          </a:p>
          <a:p>
            <a:r>
              <a:t>Example 11 wires a second, cheaper client purely for summarisation — in the repo it points</a:t>
            </a:r>
          </a:p>
          <a:p>
            <a:r>
              <a:t>at a local Ollama endpoint on port 11434. Flag that as a prerequisite if you plan to run</a:t>
            </a:r>
          </a:p>
          <a:p>
            <a:r>
              <a:t>this example live.</a:t>
            </a:r>
          </a:p>
          <a:p>
            <a:endParaRPr/>
          </a:p>
          <a:p>
            <a:r>
              <a:t>[COST ANGLE]</a:t>
            </a:r>
          </a:p>
          <a:p>
            <a:r>
              <a:t>For architects: compaction is a cost control, not just a correctness control. Every turn</a:t>
            </a:r>
          </a:p>
          <a:p>
            <a:r>
              <a:t>you do not resend is money.</a:t>
            </a:r>
          </a:p>
          <a:p>
            <a:endParaRPr/>
          </a:p>
          <a:p>
            <a:r>
              <a:t>[WATCH OUT]</a:t>
            </a:r>
          </a:p>
          <a:p>
            <a:r>
              <a:t>Summarisation loses detail by definition. If your agent needs exact prior values — order</a:t>
            </a:r>
          </a:p>
          <a:p>
            <a:r>
              <a:t>IDs, amounts — put them in structured session state, not in the transcript you are about</a:t>
            </a:r>
          </a:p>
          <a:p>
            <a:r>
              <a:t>to summarise.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[SETUP]</a:t>
            </a:r>
          </a:p>
          <a:p>
            <a:r>
              <a:t>Example 11 needs a second model server (Ollama on 11434). Decide before the session</a:t>
            </a:r>
          </a:p>
          <a:p>
            <a:r>
              <a:t>whether you are running it; if not, present it as a code read.</a:t>
            </a:r>
          </a:p>
          <a:p>
            <a:endParaRPr/>
          </a:p>
          <a:p>
            <a:r>
              <a:t>[DEMO SCRIPT]</a:t>
            </a:r>
          </a:p>
          <a:p>
            <a:r>
              <a:t>Do 03 and 04 back to back — they are fast and they build. 04 is the satisfying one: the</a:t>
            </a:r>
          </a:p>
          <a:p>
            <a:r>
              <a:t>agent asks for the name, you give it, and two turns later it uses the name without being</a:t>
            </a:r>
          </a:p>
          <a:p>
            <a:r>
              <a:t>prompted. Then show the printed session state so people see where it lived.</a:t>
            </a:r>
          </a:p>
          <a:p>
            <a:endParaRPr/>
          </a:p>
          <a:p>
            <a:r>
              <a:t>[PRESENTER TIP]</a:t>
            </a:r>
          </a:p>
          <a:p>
            <a:r>
              <a:t>When showing 04, point out that the agent addresses Alice by name on a completely</a:t>
            </a:r>
          </a:p>
          <a:p>
            <a:r>
              <a:t>unrelated maths question. That is before_run injecting into instructions, visibly.</a:t>
            </a:r>
          </a:p>
          <a:p>
            <a:endParaRPr/>
          </a:p>
          <a:p>
            <a:r>
              <a:t>[TIMING]</a:t>
            </a:r>
          </a:p>
          <a:p>
            <a:r>
              <a:t>Five minutes for all three, less if you skip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Short module, high strategic value. Architects care about this one more than the syntax</a:t>
            </a:r>
          </a:p>
          <a:p>
            <a:r>
              <a:t>modules.</a:t>
            </a:r>
          </a:p>
          <a:p>
            <a:endParaRPr/>
          </a:p>
          <a:p>
            <a:r>
              <a:t>[PRESENTER TIP]</a:t>
            </a:r>
          </a:p>
          <a:p>
            <a:r>
              <a:t>If you are behind schedule, this is the module to compress to two slides — but do not skip</a:t>
            </a:r>
          </a:p>
          <a:p>
            <a:r>
              <a:t>it. It is the most-asked-about topic in the follow-up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The N×M framing is the fastest way to explain MCP to engineers — it is the same argument as</a:t>
            </a:r>
          </a:p>
          <a:p>
            <a:r>
              <a:t>ODBC, LSP, or any other protocol that collapsed a matrix into a bus.</a:t>
            </a:r>
          </a:p>
          <a:p>
            <a:endParaRPr/>
          </a:p>
          <a:p>
            <a:r>
              <a:t>[GO BEYOND THE DIAGRAM]</a:t>
            </a:r>
          </a:p>
          <a:p>
            <a:r>
              <a:t>The connection-count argument is real but shallow. The deeper argument is organisational:</a:t>
            </a:r>
          </a:p>
          <a:p>
            <a:r>
              <a:t>tool servers become owned, versioned, separately-deployed artifacts. The CRM team ships</a:t>
            </a:r>
          </a:p>
          <a:p>
            <a:r>
              <a:t>CRM tools. You consume them. Neither side redeploys when the other changes.</a:t>
            </a:r>
          </a:p>
          <a:p>
            <a:endParaRPr/>
          </a:p>
          <a:p>
            <a:r>
              <a:t>[SECURITY]</a:t>
            </a:r>
          </a:p>
          <a:p>
            <a:r>
              <a:t>Say the quiet part: an MCP server is remote code you are handing tool access to. Treat a</a:t>
            </a:r>
          </a:p>
          <a:p>
            <a:r>
              <a:t>third-party MCP endpoint like a third-party dependency — review it, pin it, scope its</a:t>
            </a:r>
          </a:p>
          <a:p>
            <a:r>
              <a:t>credentials, and prefer servers you or your organisation operate.</a:t>
            </a:r>
          </a:p>
          <a:p>
            <a:endParaRPr/>
          </a:p>
          <a:p>
            <a:r>
              <a:t>[PRESENTER TIP]</a:t>
            </a:r>
          </a:p>
          <a:p>
            <a:r>
              <a:t>Architects will ask about auth and multi-tenancy. Honest answer: transport-level auth plus</a:t>
            </a:r>
          </a:p>
          <a:p>
            <a:r>
              <a:t>whatever the server implements; design for the server holding the credentials, not the</a:t>
            </a:r>
          </a:p>
          <a:p>
            <a:r>
              <a:t>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Nine lines to give an agent the entire Microsoft Learn documentation corpus as tools. No</a:t>
            </a:r>
          </a:p>
          <a:p>
            <a:r>
              <a:t>schemas written, no endpoints wrapped.</a:t>
            </a:r>
          </a:p>
          <a:p>
            <a:endParaRPr/>
          </a:p>
          <a:p>
            <a:r>
              <a:t>[WHY async with]</a:t>
            </a:r>
          </a:p>
          <a:p>
            <a:r>
              <a:t>The MCP tool holds a live connection. The context manager ties that connection's lifetime</a:t>
            </a:r>
          </a:p>
          <a:p>
            <a:r>
              <a:t>to the agent's. Forgetting it is the number one MCP bug — you get "tool not available" or a</a:t>
            </a:r>
          </a:p>
          <a:p>
            <a:r>
              <a:t>dangling session.</a:t>
            </a:r>
          </a:p>
          <a:p>
            <a:endParaRPr/>
          </a:p>
          <a:p>
            <a:r>
              <a:t>[DISCOVERY]</a:t>
            </a:r>
          </a:p>
          <a:p>
            <a:r>
              <a:t>Emphasise that the tool list comes from the server at connect time. That is the payoff: the</a:t>
            </a:r>
          </a:p>
          <a:p>
            <a:r>
              <a:t>server can add a tool tomorrow and your agent picks it up with no redeploy. It is also the</a:t>
            </a:r>
          </a:p>
          <a:p>
            <a:r>
              <a:t>risk — the server can change behaviour under you.</a:t>
            </a:r>
          </a:p>
          <a:p>
            <a:endParaRPr/>
          </a:p>
          <a:p>
            <a:r>
              <a:t>[DEMO CUE]</a:t>
            </a:r>
          </a:p>
          <a:p>
            <a:r>
              <a:t>uv run python examples/05_mcp_docs_agent.py</a:t>
            </a:r>
          </a:p>
          <a:p>
            <a:endParaRPr/>
          </a:p>
          <a:p>
            <a:r>
              <a:t>[NETWORK WARNING]</a:t>
            </a:r>
          </a:p>
          <a:p>
            <a:r>
              <a:t>This one hits the public internet. If conference wifi is unreliable, screenshot the output</a:t>
            </a:r>
          </a:p>
          <a:p>
            <a:r>
              <a:t>beforehand. Also note it is the slowest demo in the deck — the model reads real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[DEMO SCRIPT]</a:t>
            </a:r>
          </a:p>
          <a:p>
            <a:r>
              <a:t>Lead with the file, not the output. The persuasive thing is how little code there is.</a:t>
            </a:r>
          </a:p>
          <a:p>
            <a:endParaRPr/>
          </a:p>
          <a:p>
            <a:r>
              <a:t>[THE MONEY MOMENT]</a:t>
            </a:r>
          </a:p>
          <a:p>
            <a:r>
              <a:t>Ask about something genuinely recent — newer than the model's training data. Correct answer</a:t>
            </a:r>
          </a:p>
          <a:p>
            <a:r>
              <a:t>proves the tool did real work, which no amount of explanation achieves.</a:t>
            </a:r>
          </a:p>
          <a:p>
            <a:endParaRPr/>
          </a:p>
          <a:p>
            <a:r>
              <a:t>[PRESENTER TIP]</a:t>
            </a:r>
          </a:p>
          <a:p>
            <a:r>
              <a:t>This demo is slow. Fill the gap by narrating what is happening: connect, discover tools,</a:t>
            </a:r>
          </a:p>
          <a:p>
            <a:r>
              <a:t>model picks one, server search, results back, generation. Silence during a slow demo reads</a:t>
            </a:r>
          </a:p>
          <a:p>
            <a:r>
              <a:t>as breakage.</a:t>
            </a:r>
          </a:p>
          <a:p>
            <a:endParaRPr/>
          </a:p>
          <a:p>
            <a:r>
              <a:t>[TIMING]</a:t>
            </a:r>
          </a:p>
          <a:p>
            <a:r>
              <a:t>Three minutes, and be ready to cut it to zero if the network is bad.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The pivot in this module: an agent decides what to do next; a workflow is you deciding.</a:t>
            </a:r>
          </a:p>
          <a:p>
            <a:r>
              <a:t>Both are legitimate. Knowing which you want is a design skill, and it is the thing that</a:t>
            </a:r>
          </a:p>
          <a:p>
            <a:r>
              <a:t>separates people who ship agents from people who demo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One axis: who chooses the next step. That is the entire distinction, and it maps directly</a:t>
            </a:r>
          </a:p>
          <a:p>
            <a:r>
              <a:t>onto testability. A workflow you can unit test. An agent you can only evaluate.</a:t>
            </a:r>
          </a:p>
          <a:p>
            <a:endParaRPr/>
          </a:p>
          <a:p>
            <a:r>
              <a:t>[THE PRACTICAL ANSWER]</a:t>
            </a:r>
          </a:p>
          <a:p>
            <a:r>
              <a:t>Nearly every production system that works is a deterministic skeleton with agentic joints.</a:t>
            </a:r>
          </a:p>
          <a:p>
            <a:r>
              <a:t>The workflow guarantees the stages happen in order and the audit trail exists; the agents</a:t>
            </a:r>
          </a:p>
          <a:p>
            <a:r>
              <a:t>inside each stage handle the messy language work.</a:t>
            </a:r>
          </a:p>
          <a:p>
            <a:endParaRPr/>
          </a:p>
          <a:p>
            <a:r>
              <a:t>[ANTI-PATTERN TO NAME]</a:t>
            </a:r>
          </a:p>
          <a:p>
            <a:r>
              <a:t>"One big agent with twenty tools and a 2,000-word prompt telling it what order to do things</a:t>
            </a:r>
          </a:p>
          <a:p>
            <a:r>
              <a:t>in." That is a workflow written in English instead of Python. If you find yourself</a:t>
            </a:r>
          </a:p>
          <a:p>
            <a:r>
              <a:t>numbering steps in a system prompt, you want a workflow.</a:t>
            </a:r>
          </a:p>
          <a:p>
            <a:endParaRPr/>
          </a:p>
          <a:p>
            <a:r>
              <a:t>[PRESENTER TIP]</a:t>
            </a:r>
          </a:p>
          <a:p>
            <a:r>
              <a:t>Ask for a use case from the room and classify it live. Two or three of these makes the</a:t>
            </a:r>
          </a:p>
          <a:p>
            <a:r>
              <a:t>distinction stick far better than the slide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The `@workflow` decorator buys you tracing, typed outputs and a consistent run interface</a:t>
            </a:r>
          </a:p>
          <a:p>
            <a:r>
              <a:t>over what is otherwise ordinary async Python. The body is readable by anyone on your team</a:t>
            </a:r>
          </a:p>
          <a:p>
            <a:r>
              <a:t>on day one.</a:t>
            </a:r>
          </a:p>
          <a:p>
            <a:endParaRPr/>
          </a:p>
          <a:p>
            <a:r>
              <a:t>[WHY NOT ALWAYS THIS?]</a:t>
            </a:r>
          </a:p>
          <a:p>
            <a:r>
              <a:t>Because the topology is implicit. You cannot inspect it, visualise it, checkpoint it or</a:t>
            </a:r>
          </a:p>
          <a:p>
            <a:r>
              <a:t>resume it mid-flight the way you can a graph. For a two-step chain that trade is obviously</a:t>
            </a:r>
          </a:p>
          <a:p>
            <a:r>
              <a:t>correct. For a twelve-node process with retries, it is not.</a:t>
            </a:r>
          </a:p>
          <a:p>
            <a:endParaRPr/>
          </a:p>
          <a:p>
            <a:r>
              <a:t>[POINT AT get_outputs()]</a:t>
            </a:r>
          </a:p>
          <a:p>
            <a:r>
              <a:t>Small API detail people trip on: the result object is not the string. A workflow run can</a:t>
            </a:r>
          </a:p>
          <a:p>
            <a:r>
              <a:t>emit several outputs, so you index into `get_outputs()`.</a:t>
            </a:r>
          </a:p>
          <a:p>
            <a:endParaRPr/>
          </a:p>
          <a:p>
            <a:r>
              <a:t>[DEMO CUE]</a:t>
            </a:r>
          </a:p>
          <a:p>
            <a:r>
              <a:t>uv run python examples/06_functional_workflow.py</a:t>
            </a:r>
          </a:p>
          <a:p>
            <a:endParaRPr/>
          </a:p>
          <a:p>
            <a:r>
              <a:t>[PRESENTER TIP]</a:t>
            </a:r>
          </a:p>
          <a:p>
            <a:r>
              <a:t>Add a third agent live — an editor that rewrites based on the review. Three lines. It shows</a:t>
            </a:r>
          </a:p>
          <a:p>
            <a:r>
              <a:t>how cheap composition is once agents are just callables.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Two ways to declare a node: a class with @handler methods, or a decorated async function.</a:t>
            </a:r>
          </a:p>
          <a:p>
            <a:r>
              <a:t>Edges are declared on the builder. The topology is data, which is what makes it</a:t>
            </a:r>
          </a:p>
          <a:p>
            <a:r>
              <a:t>inspectable and checkpointable.</a:t>
            </a:r>
          </a:p>
          <a:p>
            <a:endParaRPr/>
          </a:p>
          <a:p>
            <a:r>
              <a:t>[THE TWO VERBS]</a:t>
            </a:r>
          </a:p>
          <a:p>
            <a:r>
              <a:t>`ctx.send_message(...)` forwards to the next executor. `ctx.yield_output(...)` produces a</a:t>
            </a:r>
          </a:p>
          <a:p>
            <a:r>
              <a:t>workflow result. Confusing these is the most common first-time error — a workflow that runs</a:t>
            </a:r>
          </a:p>
          <a:p>
            <a:r>
              <a:t>and returns nothing usually means everything called send_message and nothing yielded.</a:t>
            </a:r>
          </a:p>
          <a:p>
            <a:endParaRPr/>
          </a:p>
          <a:p>
            <a:r>
              <a:t>[NO MODEL REQUIRED]</a:t>
            </a:r>
          </a:p>
          <a:p>
            <a:r>
              <a:t>Highlight the green chip. This example is pure string manipulation, which makes it the</a:t>
            </a:r>
          </a:p>
          <a:p>
            <a:r>
              <a:t>perfect smoke test — if this runs, the install is fine and the problem is your model</a:t>
            </a:r>
          </a:p>
          <a:p>
            <a:r>
              <a:t>server.</a:t>
            </a:r>
          </a:p>
          <a:p>
            <a:endParaRPr/>
          </a:p>
          <a:p>
            <a:r>
              <a:t>[TYPE PARAMETERS]</a:t>
            </a:r>
          </a:p>
          <a:p>
            <a:r>
              <a:t>`WorkflowContext[str]` versus `WorkflowContext[Never, str]` — the first type is what this</a:t>
            </a:r>
          </a:p>
          <a:p>
            <a:r>
              <a:t>executor sends onward, the second is what it yields as output. Never means "sends nothing</a:t>
            </a:r>
          </a:p>
          <a:p>
            <a:r>
              <a:t>onward". Worth thirty seconds; the types are load-bearing.</a:t>
            </a:r>
          </a:p>
          <a:p>
            <a:endParaRPr/>
          </a:p>
          <a:p>
            <a:r>
              <a:t>[DEMO CUE]</a:t>
            </a:r>
          </a:p>
          <a:p>
            <a:r>
              <a:t>uv run python examples/07_graph_workflow.py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Five named patterns from agent_framework.orchestrations. Most multi-agent systems are one</a:t>
            </a:r>
          </a:p>
          <a:p>
            <a:r>
              <a:t>of the first two.</a:t>
            </a:r>
          </a:p>
          <a:p>
            <a:endParaRPr/>
          </a:p>
          <a:p>
            <a:r>
              <a:t>[SEQUENTIAL]</a:t>
            </a:r>
          </a:p>
          <a:p>
            <a:r>
              <a:t>Draft → review → edit. Boring and correct.</a:t>
            </a:r>
          </a:p>
          <a:p>
            <a:endParaRPr/>
          </a:p>
          <a:p>
            <a:r>
              <a:t>[CONCURRENT]</a:t>
            </a:r>
          </a:p>
          <a:p>
            <a:r>
              <a:t>Same prompt to N agents, gather all responses. Example 08 does this with a researcher, a</a:t>
            </a:r>
          </a:p>
          <a:p>
            <a:r>
              <a:t>marketer and a compliance reviewer. Latency of the slowest, not the sum.</a:t>
            </a:r>
          </a:p>
          <a:p>
            <a:endParaRPr/>
          </a:p>
          <a:p>
            <a:r>
              <a:t>[HANDOFF]</a:t>
            </a:r>
          </a:p>
          <a:p>
            <a:r>
              <a:t>Control transfers. Triage agent decides this is a billing question and hands to the billing</a:t>
            </a:r>
          </a:p>
          <a:p>
            <a:r>
              <a:t>agent, which now owns the conversation.</a:t>
            </a:r>
          </a:p>
          <a:p>
            <a:endParaRPr/>
          </a:p>
          <a:p>
            <a:r>
              <a:t>[GROUP CHAT]</a:t>
            </a:r>
          </a:p>
          <a:p>
            <a:r>
              <a:t>Agents share a transcript with managed turn-taking. Powerful, expensive, hard to bound —</a:t>
            </a:r>
          </a:p>
          <a:p>
            <a:r>
              <a:t>every agent reads everything.</a:t>
            </a:r>
          </a:p>
          <a:p>
            <a:endParaRPr/>
          </a:p>
          <a:p>
            <a:r>
              <a:t>[MAGENTIC]</a:t>
            </a:r>
          </a:p>
          <a:p>
            <a:r>
              <a:t>A manager agent plans and delegates dynamically. Impressive in demos. Be candid that</a:t>
            </a:r>
          </a:p>
          <a:p>
            <a:r>
              <a:t>unpredictable cost and latency make it a poor default.</a:t>
            </a:r>
          </a:p>
          <a:p>
            <a:endParaRPr/>
          </a:p>
          <a:p>
            <a:r>
              <a:t>[PRESENTER TIP]</a:t>
            </a:r>
          </a:p>
          <a:p>
            <a:r>
              <a:t>Land the sequencing advice. The failure mode in this space is picking the most sophisticated</a:t>
            </a:r>
          </a:p>
          <a:p>
            <a:r>
              <a:t>pattern because it is the most interesting, then discovering your per-request cost is</a:t>
            </a:r>
          </a:p>
          <a:p>
            <a:r>
              <a:t>twenty times what you budgeted.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Three perspectives on one question, in parallel. The wall-clock cost is the slowest</a:t>
            </a:r>
          </a:p>
          <a:p>
            <a:r>
              <a:t>participant, not the sum — that is the whole reason to reach for this.</a:t>
            </a:r>
          </a:p>
          <a:p>
            <a:endParaRPr/>
          </a:p>
          <a:p>
            <a:r>
              <a:t>[NOTE default_options]</a:t>
            </a:r>
          </a:p>
          <a:p>
            <a:r>
              <a:t>Each agent caps max_tokens at 500 via default_options. With three agents running</a:t>
            </a:r>
          </a:p>
          <a:p>
            <a:r>
              <a:t>concurrently against a small local model, uncapped generation will exhaust the context</a:t>
            </a:r>
          </a:p>
          <a:p>
            <a:r>
              <a:t>budget. This is a real pattern, not a workshop artifact — bound every participant in a</a:t>
            </a:r>
          </a:p>
          <a:p>
            <a:r>
              <a:t>fan-out.</a:t>
            </a:r>
          </a:p>
          <a:p>
            <a:endParaRPr/>
          </a:p>
          <a:p>
            <a:r>
              <a:t>[author_name]</a:t>
            </a:r>
          </a:p>
          <a:p>
            <a:r>
              <a:t>The aggregated output preserves who said what. That is what makes the transcript useful</a:t>
            </a:r>
          </a:p>
          <a:p>
            <a:r>
              <a:t>downstream, and it is why naming agents properly matters.</a:t>
            </a:r>
          </a:p>
          <a:p>
            <a:endParaRPr/>
          </a:p>
          <a:p>
            <a:r>
              <a:t>[DESIGN CAUTION]</a:t>
            </a:r>
          </a:p>
          <a:p>
            <a:r>
              <a:t>Fan-out multiplies cost linearly and quality sub-linearly. Three agents is usually the</a:t>
            </a:r>
          </a:p>
          <a:p>
            <a:r>
              <a:t>sweet spot; ten near-identical agents produce ten near-identical answers and one large</a:t>
            </a:r>
          </a:p>
          <a:p>
            <a:r>
              <a:t>bill.</a:t>
            </a:r>
          </a:p>
          <a:p>
            <a:endParaRPr/>
          </a:p>
          <a:p>
            <a:r>
              <a:t>[DEMO CUE]</a:t>
            </a:r>
          </a:p>
          <a:p>
            <a:r>
              <a:t>uv run python examples/08_concurrent_orchestration.py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[DEMO SCRIPT]</a:t>
            </a:r>
          </a:p>
          <a:p>
            <a:r>
              <a:t>Order matters: 07 first because it is instant and needs nothing, which resets confidence</a:t>
            </a:r>
          </a:p>
          <a:p>
            <a:r>
              <a:t>after any earlier hiccup. Then 06 for readability. Then 08 for the payoff.</a:t>
            </a:r>
          </a:p>
          <a:p>
            <a:endParaRPr/>
          </a:p>
          <a:p>
            <a:r>
              <a:t>[LIVE EDIT]</a:t>
            </a:r>
          </a:p>
          <a:p>
            <a:r>
              <a:t>Adding an editor agent to 06 is the best live-coding moment in the deck — three lines,</a:t>
            </a:r>
          </a:p>
          <a:p>
            <a:r>
              <a:t>obviously correct, immediately runs. Practise it so you do not fumble the f-string.</a:t>
            </a:r>
          </a:p>
          <a:p>
            <a:endParaRPr/>
          </a:p>
          <a:p>
            <a:r>
              <a:t>[PRESENTER TIP]</a:t>
            </a:r>
          </a:p>
          <a:p>
            <a:r>
              <a:t>For 08, resize the terminal so all three responses fit without scrolling. Scrolling past</a:t>
            </a:r>
          </a:p>
          <a:p>
            <a:r>
              <a:t>output while narrating loses the room.</a:t>
            </a:r>
          </a:p>
          <a:p>
            <a:endParaRPr/>
          </a:p>
          <a:p>
            <a:r>
              <a:t>[TIMING]</a:t>
            </a:r>
          </a:p>
          <a:p>
            <a:r>
              <a:t>Six minutes. This is the demo worth spending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If the audience knows ASP.NET Core, Express or Django middleware, say so immediately — the</a:t>
            </a:r>
          </a:p>
          <a:p>
            <a:r>
              <a:t>mental model transfers exactly. Pipeline, call_next, short-circuit.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Two scopes, and the nesting is the whole lesson: function middleware lives inside agent</a:t>
            </a:r>
          </a:p>
          <a:p>
            <a:r>
              <a:t>middleware. An agent middleware wrapping a run that makes six tool calls fires once; the</a:t>
            </a:r>
          </a:p>
          <a:p>
            <a:r>
              <a:t>function middleware fires six times.</a:t>
            </a:r>
          </a:p>
          <a:p>
            <a:endParaRPr/>
          </a:p>
          <a:p>
            <a:r>
              <a:t>[WHY THAT MATTERS]</a:t>
            </a:r>
          </a:p>
          <a:p>
            <a:r>
              <a:t>Put per-request concerns outside — authentication, request-level rate limits, total token</a:t>
            </a:r>
          </a:p>
          <a:p>
            <a:r>
              <a:t>budget. Put per-tool concerns inside — argument validation, per-tool timeouts, tool-level</a:t>
            </a:r>
          </a:p>
          <a:p>
            <a:r>
              <a:t>audit.</a:t>
            </a:r>
          </a:p>
          <a:p>
            <a:endParaRPr/>
          </a:p>
          <a:p>
            <a:r>
              <a:t>[THE FAMILIAR ANALOGY]</a:t>
            </a:r>
          </a:p>
          <a:p>
            <a:r>
              <a:t>Same shape as HTTP middleware in any framework they know. `call_next()` is `next()`. Not</a:t>
            </a:r>
          </a:p>
          <a:p>
            <a:r>
              <a:t>calling it short-circuits the pipeline.</a:t>
            </a:r>
          </a:p>
          <a:p>
            <a:endParaRPr/>
          </a:p>
          <a:p>
            <a:r>
              <a:t>[PRESENTER TIP]</a:t>
            </a:r>
          </a:p>
          <a:p>
            <a:r>
              <a:t>Pose one: "you want to cap a single run at 10,000 tokens — which pipeline?" Then: "you want</a:t>
            </a:r>
          </a:p>
          <a:p>
            <a:r>
              <a:t>to stop any single tool taking more than 5 seconds — which one?" Two questions, and the</a:t>
            </a:r>
          </a:p>
          <a:p>
            <a:r>
              <a:t>model is locked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Same capability, three ergonomics. Do not spend long on the syntax — spend it on when to</a:t>
            </a:r>
          </a:p>
          <a:p>
            <a:r>
              <a:t>pick which.</a:t>
            </a:r>
          </a:p>
          <a:p>
            <a:endParaRPr/>
          </a:p>
          <a:p>
            <a:r>
              <a:t>[HOW DETECTION WORKS]</a:t>
            </a:r>
          </a:p>
          <a:p>
            <a:r>
              <a:t>The framework figures out whether something is agent or function middleware from either the</a:t>
            </a:r>
          </a:p>
          <a:p>
            <a:r>
              <a:t>decorator or the context parameter's type annotation. Give it both and it validates they</a:t>
            </a:r>
          </a:p>
          <a:p>
            <a:r>
              <a:t>agree. Give it neither and it raises rather than guessing — which is the right call, and</a:t>
            </a:r>
          </a:p>
          <a:p>
            <a:r>
              <a:t>example 14's docstring spells out all four cases.</a:t>
            </a:r>
          </a:p>
          <a:p>
            <a:endParaRPr/>
          </a:p>
          <a:p>
            <a:r>
              <a:t>[PRACTICAL GUIDANCE]</a:t>
            </a:r>
          </a:p>
          <a:p>
            <a:r>
              <a:t>Class-based for anything with dependencies you want to inject and mock. Function-based for</a:t>
            </a:r>
          </a:p>
          <a:p>
            <a:r>
              <a:t>five-line stateless concerns. Decorator when you want intent legible at a glance without</a:t>
            </a:r>
          </a:p>
          <a:p>
            <a:r>
              <a:t>importing context types.</a:t>
            </a:r>
          </a:p>
          <a:p>
            <a:endParaRPr/>
          </a:p>
          <a:p>
            <a:r>
              <a:t>[NOTE THE REGISTRATION]</a:t>
            </a:r>
          </a:p>
          <a:p>
            <a:r>
              <a:t>Both kinds go in the same `middleware=` list. Nothing to separate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Two middlewares, two shapes. The security one short-circuits; the logging one wraps.</a:t>
            </a:r>
          </a:p>
          <a:p>
            <a:endParaRPr/>
          </a:p>
          <a:p>
            <a:r>
              <a:t>[THE KEY LINE]</a:t>
            </a:r>
          </a:p>
          <a:p>
            <a:r>
              <a:t>`return` without awaiting call_next. That is the short-circuit, and it means the model is</a:t>
            </a:r>
          </a:p>
          <a:p>
            <a:r>
              <a:t>never called at all — no tokens, no latency, no chance of leaking whatever triggered the</a:t>
            </a:r>
          </a:p>
          <a:p>
            <a:r>
              <a:t>block. Compare with post-hoc output filtering, which pays for the generation and then</a:t>
            </a:r>
          </a:p>
          <a:p>
            <a:r>
              <a:t>throws it away.</a:t>
            </a:r>
          </a:p>
          <a:p>
            <a:endParaRPr/>
          </a:p>
          <a:p>
            <a:r>
              <a:t>[DO NOT FORGET context.result]</a:t>
            </a:r>
          </a:p>
          <a:p>
            <a:r>
              <a:t>If you short-circuit without setting a result, the caller gets nothing back and it looks</a:t>
            </a:r>
          </a:p>
          <a:p>
            <a:r>
              <a:t>like a bug. Setting a clear, user-appropriate message is part of the pattern.</a:t>
            </a:r>
          </a:p>
          <a:p>
            <a:endParaRPr/>
          </a:p>
          <a:p>
            <a:r>
              <a:t>[BE HONEST ABOUT THE EXAMPLE]</a:t>
            </a:r>
          </a:p>
          <a:p>
            <a:r>
              <a:t>Substring matching for "password" and "secret" is a teaching device, not a content filter.</a:t>
            </a:r>
          </a:p>
          <a:p>
            <a:r>
              <a:t>Real deployments use a classifier or a dedicated safety service. Say so — this audience</a:t>
            </a:r>
          </a:p>
          <a:p>
            <a:r>
              <a:t>will notice.</a:t>
            </a:r>
          </a:p>
          <a:p>
            <a:endParaRPr/>
          </a:p>
          <a:p>
            <a:r>
              <a:t>[DEMO CUE]</a:t>
            </a:r>
          </a:p>
          <a:p>
            <a:r>
              <a:t>uv run python examples/12_class_based_middleware.py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[IMPORTANT — repo gotcha]</a:t>
            </a:r>
          </a:p>
          <a:p>
            <a:r>
              <a:t>examples/13 is Azure Foundry only and requires `az login`. Do not run it live unless you</a:t>
            </a:r>
          </a:p>
          <a:p>
            <a:r>
              <a:t>have already authenticated. 12 and 14 both run against the local vLLM server.</a:t>
            </a:r>
          </a:p>
          <a:p>
            <a:endParaRPr/>
          </a:p>
          <a:p>
            <a:r>
              <a:t>[DEMO SCRIPT]</a:t>
            </a:r>
          </a:p>
          <a:p>
            <a:r>
              <a:t>Run 12. The output interleaves security check, tool logging and the answer. Point at the</a:t>
            </a:r>
          </a:p>
          <a:p>
            <a:r>
              <a:t>ordering — it is the onion, visible in stdout.</a:t>
            </a:r>
          </a:p>
          <a:p>
            <a:endParaRPr/>
          </a:p>
          <a:p>
            <a:r>
              <a:t>[THE BLOCKED CASE]</a:t>
            </a:r>
          </a:p>
          <a:p>
            <a:r>
              <a:t>The second query is blocked and the tool never fires. Point out the absence of the logging</a:t>
            </a:r>
          </a:p>
          <a:p>
            <a:r>
              <a:t>line: no model call, no tool call, no cost.</a:t>
            </a:r>
          </a:p>
          <a:p>
            <a:endParaRPr/>
          </a:p>
          <a:p>
            <a:r>
              <a:t>[PRESENTER TIP]</a:t>
            </a:r>
          </a:p>
          <a:p>
            <a:r>
              <a:t>Add a print to the tool body before running so the audience can see for themselves that it</a:t>
            </a:r>
          </a:p>
          <a:p>
            <a:r>
              <a:t>did not execute on the blocked path. Absence of output is a weak signal otherwise.</a:t>
            </a:r>
          </a:p>
          <a:p>
            <a:endParaRPr/>
          </a:p>
          <a:p>
            <a:r>
              <a:t>[TIMING]</a:t>
            </a:r>
          </a:p>
          <a:p>
            <a:r>
              <a:t>Four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Energy check — this is where people start packing up. Tell them the last module is the one</a:t>
            </a:r>
          </a:p>
          <a:p>
            <a:r>
              <a:t>their future self will thank them for, and that the best-practices slide is the one to</a:t>
            </a:r>
          </a:p>
          <a:p>
            <a:r>
              <a:t>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This is the boundary between an agent and the rest of your system. Prose is for humans;</a:t>
            </a:r>
          </a:p>
          <a:p>
            <a:r>
              <a:t>everything crossing a service boundary should be typed.</a:t>
            </a:r>
          </a:p>
          <a:p>
            <a:endParaRPr/>
          </a:p>
          <a:p>
            <a:r>
              <a:t>[result.value vs result.text]</a:t>
            </a:r>
          </a:p>
          <a:p>
            <a:r>
              <a:t>`.value` is the parsed model; `.text` is the raw string. The walrus check in the example is</a:t>
            </a:r>
          </a:p>
          <a:p>
            <a:r>
              <a:t>idiomatic and the else branch is mandatory — a small local model will occasionally emit</a:t>
            </a:r>
          </a:p>
          <a:p>
            <a:r>
              <a:t>something unparseable, and you need to decide whether that is a retry or an error.</a:t>
            </a:r>
          </a:p>
          <a:p>
            <a:endParaRPr/>
          </a:p>
          <a:p>
            <a:r>
              <a:t>[STREAMING]</a:t>
            </a:r>
          </a:p>
          <a:p>
            <a:r>
              <a:t>Both work together: stream tokens for perceived latency, then call</a:t>
            </a:r>
          </a:p>
          <a:p>
            <a:r>
              <a:t>`stream.get_final_response()` for the parsed object. Example 10 shows both.</a:t>
            </a:r>
          </a:p>
          <a:p>
            <a:endParaRPr/>
          </a:p>
          <a:p>
            <a:r>
              <a:t>[as_agent()]</a:t>
            </a:r>
          </a:p>
          <a:p>
            <a:r>
              <a:t>Minor but nice: `client.as_agent(...)` is shorthand for constructing an Agent around that</a:t>
            </a:r>
          </a:p>
          <a:p>
            <a:r>
              <a:t>client. Used in example 10 and in others/01.</a:t>
            </a:r>
          </a:p>
          <a:p>
            <a:endParaRPr/>
          </a:p>
          <a:p>
            <a:r>
              <a:t>[PRESENTER TIP]</a:t>
            </a:r>
          </a:p>
          <a:p>
            <a:r>
              <a:t>Frame this as the "integration slide" for anyone who has to feed an agent's output into a</a:t>
            </a:r>
          </a:p>
          <a:p>
            <a:r>
              <a:t>downstream service. It is the answer to "how do I make this safe to consume?"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One factory call gives you a planning agent. The session carries the plan and the todo</a:t>
            </a:r>
          </a:p>
          <a:p>
            <a:r>
              <a:t>list, which is why it must be threaded through every turn.</a:t>
            </a:r>
          </a:p>
          <a:p>
            <a:endParaRPr/>
          </a:p>
          <a:p>
            <a:r>
              <a:t>[HOW IT RELATES TO MODULE 6]</a:t>
            </a:r>
          </a:p>
          <a:p>
            <a:r>
              <a:t>This is the maximally autonomous end of the spectrum we drew in "autonomy versus control".</a:t>
            </a:r>
          </a:p>
          <a:p>
            <a:r>
              <a:t>Harness agent at one end, graph workflow at the other. Same framework, opposite trade-offs.</a:t>
            </a:r>
          </a:p>
          <a:p>
            <a:endParaRPr/>
          </a:p>
          <a:p>
            <a:r>
              <a:t>[COST WARNING]</a:t>
            </a:r>
          </a:p>
          <a:p>
            <a:r>
              <a:t>Planning loops burn tokens. Example 09 caps max_tokens at 200 per turn precisely because</a:t>
            </a:r>
          </a:p>
          <a:p>
            <a:r>
              <a:t>the local model has a small window and a harness agent will happily fill it.</a:t>
            </a:r>
          </a:p>
          <a:p>
            <a:endParaRPr/>
          </a:p>
          <a:p>
            <a:r>
              <a:t>[HONEST TAKE]</a:t>
            </a:r>
          </a:p>
          <a:p>
            <a:r>
              <a:t>Do not let this become the default answer. Most business processes are known processes. The</a:t>
            </a:r>
          </a:p>
          <a:p>
            <a:r>
              <a:t>harness earns its cost when the request genuinely is open-ended — investigation, research,</a:t>
            </a:r>
          </a:p>
          <a:p>
            <a:r>
              <a:t>debugging.</a:t>
            </a:r>
          </a:p>
          <a:p>
            <a:endParaRPr/>
          </a:p>
          <a:p>
            <a:r>
              <a:t>[DEMO CUE — optional]</a:t>
            </a:r>
          </a:p>
          <a:p>
            <a:r>
              <a:t>uv run python examples/09_harness_agent.py   (interactive; only if you have time)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Four surfaces, four audiences. DevUI is for you during development. AG-UI is for your front</a:t>
            </a:r>
          </a:p>
          <a:p>
            <a:r>
              <a:t>end team. A2A is for other agents. Azure Functions is for ops.</a:t>
            </a:r>
          </a:p>
          <a:p>
            <a:endParaRPr/>
          </a:p>
          <a:p>
            <a:r>
              <a:t>[DEVUI]</a:t>
            </a:r>
          </a:p>
          <a:p>
            <a:r>
              <a:t>One line and you get a browser chat with tool-call visibility. Note `auth_enabled=False` in</a:t>
            </a:r>
          </a:p>
          <a:p>
            <a:r>
              <a:t>the repo example — that is a local-development setting and must never ship.</a:t>
            </a:r>
          </a:p>
          <a:p>
            <a:endParaRPr/>
          </a:p>
          <a:p>
            <a:r>
              <a:t>[AG-UI]</a:t>
            </a:r>
          </a:p>
          <a:p>
            <a:r>
              <a:t>A standard protocol between agent backends and chat front ends, so you are not inventing a</a:t>
            </a:r>
          </a:p>
          <a:p>
            <a:r>
              <a:t>streaming message format. The repo has both a server and a matching console client, which</a:t>
            </a:r>
          </a:p>
          <a:p>
            <a:r>
              <a:t>makes the contract easy to demonstrate.</a:t>
            </a:r>
          </a:p>
          <a:p>
            <a:endParaRPr/>
          </a:p>
          <a:p>
            <a:r>
              <a:t>[AZURE FUNCTIONS]</a:t>
            </a:r>
          </a:p>
          <a:p>
            <a:r>
              <a:t>`AgentFunctionApp` gives you HTTP endpoints plus durable thread state — which is the honest</a:t>
            </a:r>
          </a:p>
          <a:p>
            <a:r>
              <a:t>answer to "where do sessions live in production?" for the serverless case.</a:t>
            </a:r>
          </a:p>
          <a:p>
            <a:endParaRPr/>
          </a:p>
          <a:p>
            <a:r>
              <a:t>[PRESENTER TIP]</a:t>
            </a:r>
          </a:p>
          <a:p>
            <a:r>
              <a:t>DevUI is the best five-second demo in this module. Have it already running in a browser tab</a:t>
            </a:r>
          </a:p>
          <a:p>
            <a:r>
              <a:t>so you can switch to it without waiting for a cold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MCP standardises agent-to-tool. A2A standardises agent-to-agent. Different problems, same</a:t>
            </a:r>
          </a:p>
          <a:p>
            <a:r>
              <a:t>instinct: publish a contract, discover at runtime.</a:t>
            </a:r>
          </a:p>
          <a:p>
            <a:endParaRPr/>
          </a:p>
          <a:p>
            <a:r>
              <a:t>[THE AGENT CARD]</a:t>
            </a:r>
          </a:p>
          <a:p>
            <a:r>
              <a:t>Name, version, skills, capabilities, supported interfaces. A remote agent advertises what</a:t>
            </a:r>
          </a:p>
          <a:p>
            <a:r>
              <a:t>it can do and a client resolves that card before calling. This is service discovery for</a:t>
            </a:r>
          </a:p>
          <a:p>
            <a:r>
              <a:t>agents, and it is what makes cross-team agent composition tractable.</a:t>
            </a:r>
          </a:p>
          <a:p>
            <a:endParaRPr/>
          </a:p>
          <a:p>
            <a:r>
              <a:t>[REPO NOTE]</a:t>
            </a:r>
          </a:p>
          <a:p>
            <a:r>
              <a:t>others/02 serves on :9999 via Starlette; others/03 resolves the card and calls it. Two</a:t>
            </a:r>
          </a:p>
          <a:p>
            <a:r>
              <a:t>terminals — start the server first. Worth demonstrating if time allows because the</a:t>
            </a:r>
          </a:p>
          <a:p>
            <a:r>
              <a:t>discovery step is more convincing when you see it.</a:t>
            </a:r>
          </a:p>
          <a:p>
            <a:endParaRPr/>
          </a:p>
          <a:p>
            <a:r>
              <a:t>[ARCHITECT ANGLE]</a:t>
            </a:r>
          </a:p>
          <a:p>
            <a:r>
              <a:t>The interesting question is governance: who publishes cards, where is the registry, how do</a:t>
            </a:r>
          </a:p>
          <a:p>
            <a:r>
              <a:t>you authenticate and authorise cross-team calls. The protocol gives you the shape; the</a:t>
            </a:r>
          </a:p>
          <a:p>
            <a:r>
              <a:t>policy is yours. Be straight that this is early and evolving.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Three layers, and the third is the one teams under-invest in. Traces and metrics tell you</a:t>
            </a:r>
          </a:p>
          <a:p>
            <a:r>
              <a:t>that something was slow or expensive. Only the transcript tells you why the agent made a</a:t>
            </a:r>
          </a:p>
          <a:p>
            <a:r>
              <a:t>bad decision.</a:t>
            </a:r>
          </a:p>
          <a:p>
            <a:endParaRPr/>
          </a:p>
          <a:p>
            <a:r>
              <a:t>[THE CORE DIFFERENCE]</a:t>
            </a:r>
          </a:p>
          <a:p>
            <a:r>
              <a:t>Traditional service debugging: one request, one stack trace. Agent debugging: a</a:t>
            </a:r>
          </a:p>
          <a:p>
            <a:r>
              <a:t>conversation with branch points. Your logging has to preserve the sequence, including the</a:t>
            </a:r>
          </a:p>
          <a:p>
            <a:r>
              <a:t>tool arguments and results, or post-incident analysis is impossible.</a:t>
            </a:r>
          </a:p>
          <a:p>
            <a:endParaRPr/>
          </a:p>
          <a:p>
            <a:r>
              <a:t>[OTel]</a:t>
            </a:r>
          </a:p>
          <a:p>
            <a:r>
              <a:t>Emphasise the standard. This is not a proprietary telemetry format — it is OpenTelemetry</a:t>
            </a:r>
          </a:p>
          <a:p>
            <a:r>
              <a:t>into whatever collector you already run.</a:t>
            </a:r>
          </a:p>
          <a:p>
            <a:endParaRPr/>
          </a:p>
          <a:p>
            <a:r>
              <a:t>[PRIVACY]</a:t>
            </a:r>
          </a:p>
          <a:p>
            <a:r>
              <a:t>Flag it before someone else does: transcripts contain user data. Redaction and retention</a:t>
            </a:r>
          </a:p>
          <a:p>
            <a:r>
              <a:t>policy are design decisions, not afterthoughts, and middleware is a natural place to</a:t>
            </a:r>
          </a:p>
          <a:p>
            <a:r>
              <a:t>enforce them.</a:t>
            </a:r>
          </a:p>
          <a:p>
            <a:endParaRPr/>
          </a:p>
          <a:p>
            <a:r>
              <a:t>[PRESENTER TIP]</a:t>
            </a:r>
          </a:p>
          <a:p>
            <a:r>
              <a:t>Ask how many teams have a dashboard for cost per agent request. Very few hands. That is</a:t>
            </a:r>
          </a:p>
          <a:p>
            <a:r>
              <a:t>usually the most actionable takeaway anyone gets from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Worth a slide because it is how this whole workshop runs, and because "can I develop</a:t>
            </a:r>
          </a:p>
          <a:p>
            <a:r>
              <a:t>against something free" is the most common practical question.</a:t>
            </a:r>
          </a:p>
          <a:p>
            <a:endParaRPr/>
          </a:p>
          <a:p>
            <a:r>
              <a:t>[THE FLAGS THAT MATTER]</a:t>
            </a:r>
          </a:p>
          <a:p>
            <a:r>
              <a:t>`--enable-auto-tool-choice` plus `--tool-call-parser qwen3_coder`. Without those, tool</a:t>
            </a:r>
          </a:p>
          <a:p>
            <a:r>
              <a:t>calling silently does not work — the model emits text that looks like a tool call and</a:t>
            </a:r>
          </a:p>
          <a:p>
            <a:r>
              <a:t>nothing dispatches. That failure is baffling if you have not seen it before.</a:t>
            </a:r>
          </a:p>
          <a:p>
            <a:endParaRPr/>
          </a:p>
          <a:p>
            <a:r>
              <a:t>[THE 8K WINDOW]</a:t>
            </a:r>
          </a:p>
          <a:p>
            <a:r>
              <a:t>This single constraint explains most of the odd-looking code in the examples: max_tokens on</a:t>
            </a:r>
          </a:p>
          <a:p>
            <a:r>
              <a:t>individual calls, default_options on fan-out participants, an aggressive compaction budget</a:t>
            </a:r>
          </a:p>
          <a:p>
            <a:r>
              <a:t>in example 11.</a:t>
            </a:r>
          </a:p>
          <a:p>
            <a:endParaRPr/>
          </a:p>
          <a:p>
            <a:r>
              <a:t>[THE ARGUMENT FOR SMALL MODELS]</a:t>
            </a:r>
          </a:p>
          <a:p>
            <a:r>
              <a:t>Make the quality point: if your tool descriptions are vague, a frontier model papers over</a:t>
            </a:r>
          </a:p>
          <a:p>
            <a:r>
              <a:t>it and a 4B model does not. Developing against the small model surfaces prompt weaknesses</a:t>
            </a:r>
          </a:p>
          <a:p>
            <a:r>
              <a:t>early.</a:t>
            </a:r>
          </a:p>
          <a:p>
            <a:endParaRPr/>
          </a:p>
          <a:p>
            <a:r>
              <a:t>[PRESENTER TIP]</a:t>
            </a:r>
          </a:p>
          <a:p>
            <a:r>
              <a:t>Mention prefix caching — it makes repeated system prompts much cheaper locally, which</a:t>
            </a:r>
          </a:p>
          <a:p>
            <a:r>
              <a:t>matters when you are running the same example twenty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This is the summary slide. Everything from the last eight modules, in one picture.</a:t>
            </a:r>
          </a:p>
          <a:p>
            <a:endParaRPr/>
          </a:p>
          <a:p>
            <a:r>
              <a:t>[READ IT OUTSIDE IN]</a:t>
            </a:r>
          </a:p>
          <a:p>
            <a:r>
              <a:t>A front end talks to your service over AG-UI or plain HTTP. Middleware is the outermost</a:t>
            </a:r>
          </a:p>
          <a:p>
            <a:r>
              <a:t>ring — identity, guardrails, budgets, telemetry apply before anything else happens. Inside</a:t>
            </a:r>
          </a:p>
          <a:p>
            <a:r>
              <a:t>that, a workflow gives deterministic structure. Agents are the nodes. Context providers</a:t>
            </a:r>
          </a:p>
          <a:p>
            <a:r>
              <a:t>and tools hang off the agents. Everything external — model, memory store, MCP servers,</a:t>
            </a:r>
          </a:p>
          <a:p>
            <a:r>
              <a:t>other agents, telemetry — is on the far side of a governed boundary.</a:t>
            </a:r>
          </a:p>
          <a:p>
            <a:endParaRPr/>
          </a:p>
          <a:p>
            <a:r>
              <a:t>[THE ONE-LINER]</a:t>
            </a:r>
          </a:p>
          <a:p>
            <a:r>
              <a:t>"Deterministic skeleton, agentic joints, governed edges." If people remember one sentence</a:t>
            </a:r>
          </a:p>
          <a:p>
            <a:r>
              <a:t>from today, this is a good candidate.</a:t>
            </a:r>
          </a:p>
          <a:p>
            <a:endParaRPr/>
          </a:p>
          <a:p>
            <a:r>
              <a:t>[PRESENTER TIP]</a:t>
            </a:r>
          </a:p>
          <a:p>
            <a:r>
              <a:t>Invite the room to place their own system on this diagram. What is missing for them is</a:t>
            </a:r>
          </a:p>
          <a:p>
            <a:r>
              <a:t>usually middleware or observability — and that is a useful thing for them to notice out</a:t>
            </a:r>
          </a:p>
          <a:p>
            <a:r>
              <a:t>loud before they 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Tell people to photograph this one. Then actually pause for three seconds so they can.</a:t>
            </a:r>
          </a:p>
          <a:p>
            <a:endParaRPr/>
          </a:p>
          <a:p>
            <a:r>
              <a:t>[IF YOU ONLY EMPHASISE THREE]</a:t>
            </a:r>
          </a:p>
          <a:p>
            <a:r>
              <a:t>"Bound every loop" — the difference between a surprising bill and a normal one.</a:t>
            </a:r>
          </a:p>
          <a:p>
            <a:r>
              <a:t>"One session per conversation" — the cross-user data leak that passes local testing.</a:t>
            </a:r>
          </a:p>
          <a:p>
            <a:r>
              <a:t>"Trace from day one" — the one that is genuinely painful to add later.</a:t>
            </a:r>
          </a:p>
          <a:p>
            <a:endParaRPr/>
          </a:p>
          <a:p>
            <a:r>
              <a:t>[ON EVALUATION]</a:t>
            </a:r>
          </a:p>
          <a:p>
            <a:r>
              <a:t>The last item deserves a sentence even though it is not in the code samples. Agents are</a:t>
            </a:r>
          </a:p>
          <a:p>
            <a:r>
              <a:t>stochastic; a change that looks better on the one prompt you tried is not evidence. A small</a:t>
            </a:r>
          </a:p>
          <a:p>
            <a:r>
              <a:t>fixture suite you can re-run is the cheapest quality investment available.</a:t>
            </a:r>
          </a:p>
          <a:p>
            <a:endParaRPr/>
          </a:p>
          <a:p>
            <a:r>
              <a:t>[PRESENTER TIP]</a:t>
            </a:r>
          </a:p>
          <a:p>
            <a:r>
              <a:t>Ask which of the twelve people expect to get wrong first. The answers tell you what to</a:t>
            </a:r>
          </a:p>
          <a:p>
            <a:r>
              <a:t>follow up on in Q&amp;A, and they are usually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Same content as the previous slide inverted, because people recognise their own systems</a:t>
            </a:r>
          </a:p>
          <a:p>
            <a:r>
              <a:t>faster in the negative form. Expect nervous laughter — that is the slide working.</a:t>
            </a:r>
          </a:p>
          <a:p>
            <a:endParaRPr/>
          </a:p>
          <a:p>
            <a:r>
              <a:t>[THE THIRTY-TOOL AGENT]</a:t>
            </a:r>
          </a:p>
          <a:p>
            <a:r>
              <a:t>Worth dwelling on. Tool selection accuracy degrades as the catalogue grows, and it degrades</a:t>
            </a:r>
          </a:p>
          <a:p>
            <a:r>
              <a:t>faster on smaller models. The fix is decomposition: several focused agents with a router,</a:t>
            </a:r>
          </a:p>
          <a:p>
            <a:r>
              <a:t>rather than one agent that can do everything badly.</a:t>
            </a:r>
          </a:p>
          <a:p>
            <a:endParaRPr/>
          </a:p>
          <a:p>
            <a:r>
              <a:t>[THE SILENT TRUNCATION]</a:t>
            </a:r>
          </a:p>
          <a:p>
            <a:r>
              <a:t>The nastiest one because it does not error. The agent just gets subtly worse as the</a:t>
            </a:r>
          </a:p>
          <a:p>
            <a:r>
              <a:t>conversation lengthens, and by the time anyone notices, the system prompt has been falling</a:t>
            </a:r>
          </a:p>
          <a:p>
            <a:r>
              <a:t>off for a week.</a:t>
            </a:r>
          </a:p>
          <a:p>
            <a:endParaRPr/>
          </a:p>
          <a:p>
            <a:r>
              <a:t>[PRESENTER TIP]</a:t>
            </a:r>
          </a:p>
          <a:p>
            <a:r>
              <a:t>Offer amnesty: "hands up if you have shipped at least one of these." Put your own hand up</a:t>
            </a:r>
          </a:p>
          <a:p>
            <a:r>
              <a:t>first. It makes the room honest and the Q&amp;A far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Fourteen examples, four groups by colour: fundamentals, composition, production, and</a:t>
            </a:r>
          </a:p>
          <a:p>
            <a:r>
              <a:t>middleware. All runnable, all short.</a:t>
            </a:r>
          </a:p>
          <a:p>
            <a:endParaRPr/>
          </a:p>
          <a:p>
            <a:r>
              <a:t>[HOMEWORK SUGGESTION]</a:t>
            </a:r>
          </a:p>
          <a:p>
            <a:r>
              <a:t>Point people at 09 and 11 as the two worth reading afterwards — they are the most</a:t>
            </a:r>
          </a:p>
          <a:p>
            <a:r>
              <a:t>production-relevant and the least covered by the live demos.</a:t>
            </a:r>
          </a:p>
          <a:p>
            <a:endParaRPr/>
          </a:p>
          <a:p>
            <a:r>
              <a:t>[REPO CAVEATS TO REPEAT]</a:t>
            </a:r>
          </a:p>
          <a:p>
            <a:r>
              <a:t>Example 13 needs Azure Foundry and `az login`. Example 11 needs an Ollama endpoint on</a:t>
            </a:r>
          </a:p>
          <a:p>
            <a:r>
              <a:t>11434 for the summariser. Everything else runs against the local vLLM server.</a:t>
            </a:r>
          </a:p>
          <a:p>
            <a:endParaRPr/>
          </a:p>
          <a:p>
            <a:r>
              <a:t>[PRESENTER TIP]</a:t>
            </a:r>
          </a:p>
          <a:p>
            <a:r>
              <a:t>If you are running a longer session, this is the natural point to break for hands-on time.</a:t>
            </a:r>
          </a:p>
          <a:p>
            <a:r>
              <a:t>Suggest a concrete exercise: add a second tool to 02, then make it always_require and</a:t>
            </a:r>
          </a:p>
          <a:p>
            <a:r>
              <a:t>observe what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Four links. The one to push hardest is python/samples in the GitHub repo — it is</a:t>
            </a:r>
          </a:p>
          <a:p>
            <a:r>
              <a:t>substantially broader than this lab and it tracks the framework as it moves.</a:t>
            </a:r>
          </a:p>
          <a:p>
            <a:endParaRPr/>
          </a:p>
          <a:p>
            <a:r>
              <a:t>[STRETCH GOALS]</a:t>
            </a:r>
          </a:p>
          <a:p>
            <a:r>
              <a:t>These come straight from examples/README.md. The approval one is the most instructive:</a:t>
            </a:r>
          </a:p>
          <a:p>
            <a:r>
              <a:t>flipping a single argument turns a smooth demo into a paused run that needs a human, and</a:t>
            </a:r>
          </a:p>
          <a:p>
            <a:r>
              <a:t>seeing that mechanic is worth more than reading about it.</a:t>
            </a:r>
          </a:p>
          <a:p>
            <a:endParaRPr/>
          </a:p>
          <a:p>
            <a:r>
              <a:t>[PRESENTER TIP]</a:t>
            </a:r>
          </a:p>
          <a:p>
            <a:r>
              <a:t>Have these links in the chat or on a handout before you show the slide — people photograph</a:t>
            </a:r>
          </a:p>
          <a:p>
            <a:r>
              <a:t>URLs badly and then never follow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[CLOSE]</a:t>
            </a:r>
          </a:p>
          <a:p>
            <a:r>
              <a:t>Land the one-liner one more time: deterministic skeleton, agentic joints, governed edges.</a:t>
            </a:r>
          </a:p>
          <a:p>
            <a:r>
              <a:t>Then get out of the way and take questions.</a:t>
            </a:r>
          </a:p>
          <a:p>
            <a:endParaRPr/>
          </a:p>
          <a:p>
            <a:r>
              <a:t>[QUESTIONS YOU WILL GET — have answers ready]</a:t>
            </a:r>
          </a:p>
          <a:p>
            <a:r>
              <a:t>1. "Should we migrate off AutoGen / Semantic Kernel?" — This is the forward line; migration</a:t>
            </a:r>
          </a:p>
          <a:p>
            <a:r>
              <a:t>   guidance is in the docs; do not promise timelines you do not own.</a:t>
            </a:r>
          </a:p>
          <a:p>
            <a:r>
              <a:t>2. "How does this compare to LangGraph / CrewAI?" — Be gracious. Differentiators worth</a:t>
            </a:r>
          </a:p>
          <a:p>
            <a:r>
              <a:t>   naming: standards posture (MCP, A2A, AG-UI, OTel), the .NET story, and Azure hosting</a:t>
            </a:r>
          </a:p>
          <a:p>
            <a:r>
              <a:t>   integration. Avoid trashing alternatives.</a:t>
            </a:r>
          </a:p>
          <a:p>
            <a:r>
              <a:t>3. "Is it production ready?" — Core is 1.x; several provider packages are still beta. Say</a:t>
            </a:r>
          </a:p>
          <a:p>
            <a:r>
              <a:t>   that plainly and let people make their own call.</a:t>
            </a:r>
          </a:p>
          <a:p>
            <a:r>
              <a:t>4. "What does it cost to run?" — Framework is open source; you pay for models and infra.</a:t>
            </a:r>
          </a:p>
          <a:p>
            <a:r>
              <a:t>   Point at compaction and bounded loops as the levers.</a:t>
            </a:r>
          </a:p>
          <a:p>
            <a:r>
              <a:t>5. "Can we run it fully offline?" — Yes, that is what today's setup was. vLLM or Ollama,</a:t>
            </a:r>
          </a:p>
          <a:p>
            <a:r>
              <a:t>   local MCP servers over stdio, no egress.</a:t>
            </a:r>
          </a:p>
          <a:p>
            <a:endParaRPr/>
          </a:p>
          <a:p>
            <a:r>
              <a:t>[IF THE ROOM IS QUIET]</a:t>
            </a:r>
          </a:p>
          <a:p>
            <a:r>
              <a:t>Ask them: "what is the first thing you would build with this?" Someone always has an answer,</a:t>
            </a:r>
          </a:p>
          <a:p>
            <a:r>
              <a:t>and it usually starts a real conversation.</a:t>
            </a:r>
          </a:p>
          <a:p>
            <a:endParaRPr/>
          </a:p>
          <a:p>
            <a:r>
              <a:t>[FINALLY]</a:t>
            </a:r>
          </a:p>
          <a:p>
            <a:r>
              <a:t>Remind them the repo has all fourteen examples plus the hosting samples, and that</a:t>
            </a:r>
          </a:p>
          <a:p>
            <a:r>
              <a:t>examples/README.md is the guided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82296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0E6FF"/>
                </a:solidFill>
                <a:latin typeface="Segoe UI"/>
              </a:rPr>
              <a:t>MICROSOFT BUILD  ·  DEVELOPER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9339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E8EDF5"/>
                </a:solidFill>
                <a:latin typeface="Segoe UI Light"/>
              </a:rPr>
              <a:t>Microsoft Agent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62656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0078D4"/>
                </a:solidFill>
                <a:latin typeface="Segoe UI Light"/>
              </a:rPr>
              <a:t>Building Production-Ready AI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13632"/>
            <a:ext cx="14630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4224528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B97AC"/>
                </a:solidFill>
                <a:latin typeface="Segoe UI"/>
              </a:rPr>
              <a:t>A hands-on workshop — every concept below ships as a runnable Python example.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956048"/>
            <a:ext cx="1106424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50E6FF"/>
                </a:solidFill>
                <a:latin typeface="Segoe UI"/>
              </a:rPr>
              <a:t>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47672" y="4956048"/>
            <a:ext cx="1001268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50E6FF"/>
                </a:solidFill>
                <a:latin typeface="Segoe UI"/>
              </a:rPr>
              <a:t>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76956" y="4956048"/>
            <a:ext cx="1106424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50E6FF"/>
                </a:solidFill>
                <a:latin typeface="Segoe UI"/>
              </a:rPr>
              <a:t>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1396" y="4956048"/>
            <a:ext cx="1421892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9B7CF6"/>
                </a:solidFill>
                <a:latin typeface="Segoe UI"/>
              </a:rPr>
              <a:t>Workflows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1304" y="4956048"/>
            <a:ext cx="790956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9B7CF6"/>
                </a:solidFill>
                <a:latin typeface="Segoe UI"/>
              </a:rPr>
              <a:t>MCP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0276" y="4956048"/>
            <a:ext cx="1527048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9B7CF6"/>
                </a:solidFill>
                <a:latin typeface="Segoe UI"/>
              </a:rPr>
              <a:t>Middleware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5340" y="4956048"/>
            <a:ext cx="1527048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4ADE80"/>
                </a:solidFill>
                <a:latin typeface="Segoe UI"/>
              </a:rPr>
              <a:t>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632704"/>
            <a:ext cx="45720" cy="5669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5614416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Satendra Kumar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592531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780"/>
                </a:solidFill>
                <a:latin typeface="Segoe UI"/>
              </a:rPr>
              <a:t>agent-framework 1.13  ·  Python 3.13  ·  uv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What you'll be able to do after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28216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627632"/>
            <a:ext cx="4864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Segoe UI"/>
              </a:rPr>
              <a:t>Explain what the framework is and why it exists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911095"/>
            <a:ext cx="48646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Where it came from, what it replaces, when not to use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624327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2523744"/>
            <a:ext cx="4864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Segoe UI"/>
              </a:rPr>
              <a:t>Build a tool-calling agent with typed arguments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807208"/>
            <a:ext cx="48646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Function tools, JSON-schema generation, approval gates.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520439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3419856"/>
            <a:ext cx="4864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Segoe UI"/>
              </a:rPr>
              <a:t>Give an agent memory that survives the 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703320"/>
            <a:ext cx="48646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Sessions, context providers, history compaction.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416552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4315968"/>
            <a:ext cx="4864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Segoe UI"/>
              </a:rPr>
              <a:t>Orchestrate more than one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599431"/>
            <a:ext cx="48646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Functional workflows, graph workflows, concurrent fan-out.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728216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55664" y="1627632"/>
            <a:ext cx="4864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Segoe UI"/>
              </a:rPr>
              <a:t>Extend an agent with external tool servers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1911095"/>
            <a:ext cx="48646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MCP over streamable HTTP, transports, trust boundaries.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624327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55664" y="2523744"/>
            <a:ext cx="4864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Segoe UI"/>
              </a:rPr>
              <a:t>Wrap cross-cutting concerns in middleware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807208"/>
            <a:ext cx="48646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Security guardrails, logging, timing, short-circuiting.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3520439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55664" y="3419856"/>
            <a:ext cx="4864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Segoe UI"/>
              </a:rPr>
              <a:t>Ship it somewhere real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3703320"/>
            <a:ext cx="48646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DevUI, AG-UI, A2A, Azure Functions, OpenTelemetry.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4416552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55664" y="4315968"/>
            <a:ext cx="4864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Segoe UI"/>
              </a:rPr>
              <a:t>Recognise the patterns that fail in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4599431"/>
            <a:ext cx="48646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And the ones that hold up under load and cost pressure.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Eight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12080" cy="93268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50292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84708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78D4"/>
                </a:solidFill>
                <a:latin typeface="Segoe UI Ligh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1837944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Why a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216712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The gap between a completion and an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664208"/>
            <a:ext cx="5212080" cy="93268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664208"/>
            <a:ext cx="50292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184708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78D4"/>
                </a:solidFill>
                <a:latin typeface="Segoe UI Ligh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1837944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Core concepts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2" y="216712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Clients, agents, sessions, the run lifecycle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779776"/>
            <a:ext cx="5212080" cy="93268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2779776"/>
            <a:ext cx="50292" cy="932688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296265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50E6FF"/>
                </a:solidFill>
                <a:latin typeface="Segoe UI Ligh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2953512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3282696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Typed functions, the call loop, approvals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2779776"/>
            <a:ext cx="5212080" cy="93268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91072" y="2779776"/>
            <a:ext cx="50292" cy="932688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5392" y="296265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50E6FF"/>
                </a:solidFill>
                <a:latin typeface="Segoe UI Light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2953512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Memory &amp;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3282696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Sessions, providers, compaction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895344"/>
            <a:ext cx="5212080" cy="93268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3232" y="3895344"/>
            <a:ext cx="50292" cy="932688"/>
          </a:xfrm>
          <a:prstGeom prst="rect">
            <a:avLst/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" y="407822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B7CF6"/>
                </a:solidFill>
                <a:latin typeface="Segoe UI Light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73352" y="406908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MCP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73352" y="4398264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Standardised tool servers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91072" y="3895344"/>
            <a:ext cx="5212080" cy="93268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91072" y="3895344"/>
            <a:ext cx="50292" cy="932688"/>
          </a:xfrm>
          <a:prstGeom prst="rect">
            <a:avLst/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65392" y="407822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B7CF6"/>
                </a:solidFill>
                <a:latin typeface="Segoe UI Light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1192" y="406908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Workflows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1192" y="4398264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Functional, graph, and orchestration patterns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5010912"/>
            <a:ext cx="5212080" cy="93268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13232" y="5010912"/>
            <a:ext cx="50292" cy="93268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7552" y="519379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4ADE80"/>
                </a:solidFill>
                <a:latin typeface="Segoe UI Light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73352" y="518464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Middleware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3352" y="5513832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Guardrails and cross-cutting concerns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91072" y="5010912"/>
            <a:ext cx="5212080" cy="93268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91072" y="5010912"/>
            <a:ext cx="50292" cy="93268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65392" y="519379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4ADE80"/>
                </a:solidFill>
                <a:latin typeface="Segoe UI Light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51192" y="518464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Production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1192" y="5513832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Hosting, observability, best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1371600"/>
            <a:ext cx="3154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1D253A"/>
                </a:solidFill>
                <a:latin typeface="Segoe UI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2487168"/>
            <a:ext cx="6675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EDF5"/>
                </a:solidFill>
                <a:latin typeface="Segoe UI Light"/>
              </a:rPr>
              <a:t>Why a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3419856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0E6FF"/>
                </a:solidFill>
                <a:latin typeface="Segoe UI"/>
              </a:rPr>
              <a:t>What actually breaks when you wire an agent loop by hand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4133087"/>
            <a:ext cx="117043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the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4133087"/>
            <a:ext cx="215798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hand-rolled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7" y="4133087"/>
            <a:ext cx="117043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lineage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3" y="4133087"/>
            <a:ext cx="128016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packages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WHY A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A completion is not an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1305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B97AC"/>
                </a:solidFill>
                <a:latin typeface="Segoe UI"/>
              </a:rPr>
              <a:t>CHAT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496312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EDF5"/>
                </a:solidFill>
                <a:latin typeface="Segoe UI"/>
              </a:rPr>
              <a:t>One shot. Stateless.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90087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prompt in → tokens out. Everything it knows, you put in the prompt. Everything it does, you do afterwards.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88152" y="2880360"/>
            <a:ext cx="777240" cy="27432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793992" y="1874519"/>
            <a:ext cx="4709160" cy="2286000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04888" y="21305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249631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EDF5"/>
                </a:solidFill>
                <a:latin typeface="Segoe UI"/>
              </a:rPr>
              <a:t>Loops. Acts. Remembers.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2990087"/>
            <a:ext cx="4023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Decides to call a tool, reads the result, decides again — until the goal is met or a budget runs 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590288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8EDF5"/>
                </a:solidFill>
                <a:latin typeface="Segoe UI Light"/>
              </a:rPr>
              <a:t>The loop is ten lines. Everything around the loop is the hard part.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102352"/>
            <a:ext cx="213238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A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5A6780"/>
                </a:solidFill>
                <a:latin typeface="Segoe UI"/>
              </a:rPr>
              <a:t>state across turns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64484" y="5102352"/>
            <a:ext cx="1561795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A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5A6780"/>
                </a:solidFill>
                <a:latin typeface="Segoe UI"/>
              </a:rPr>
              <a:t>tool schemas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5152" y="5102352"/>
            <a:ext cx="213238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A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5A6780"/>
                </a:solidFill>
                <a:latin typeface="Segoe UI"/>
              </a:rPr>
              <a:t>retries &amp; timeouts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96404" y="5102352"/>
            <a:ext cx="127650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A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5A6780"/>
                </a:solidFill>
                <a:latin typeface="Segoe UI"/>
              </a:rPr>
              <a:t>approvals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91779" y="5102352"/>
            <a:ext cx="175199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A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5A6780"/>
                </a:solidFill>
                <a:latin typeface="Segoe UI"/>
              </a:rPr>
              <a:t>context limits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62641" y="5102352"/>
            <a:ext cx="991209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A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5A6780"/>
                </a:solidFill>
                <a:latin typeface="Segoe UI"/>
              </a:rPr>
              <a:t>traces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541264"/>
            <a:ext cx="127650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A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5A6780"/>
                </a:solidFill>
                <a:latin typeface="Segoe UI"/>
              </a:rPr>
              <a:t>cost caps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8606" y="5541264"/>
            <a:ext cx="127650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A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5A6780"/>
                </a:solidFill>
                <a:latin typeface="Segoe UI"/>
              </a:rPr>
              <a:t>streaming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WHY A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What you end up writing yourself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64792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664208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Message plumbing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947672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Roles, tool-call IDs, multi-part content, provider drift.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606040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2505456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Schema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788920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Python signatures → JSON Schema, kept in sync by hand.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47288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3346704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The tool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630168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Parse, dispatch, serialise results, guard against loops.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288536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4187952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Conversation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471416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Store, load, trim — and decide what 'trim' means.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764792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55664" y="1664208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Provider swaps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1947672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Each SDK disagrees about streaming, tools, and errors.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606040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55664" y="2505456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Human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788920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Pausing mid-loop and resuming is genuinely hard.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3447288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55664" y="3346704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Telemetry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3630168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Spans per turn, per tool, per token — retrofitted, always.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4288536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55664" y="4187952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Multi-agent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4471416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Once there are two agents, you have written an orchestrator.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5230368"/>
            <a:ext cx="10765231" cy="896112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13232" y="5230368"/>
            <a:ext cx="50292" cy="89611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9264" y="5376672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BBF24"/>
                </a:solidFill>
                <a:latin typeface="Segoe UI"/>
              </a:rPr>
              <a:t>THE ACTUAL ARGUMENT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5650992"/>
            <a:ext cx="1030803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None of these are hard problems. They are all boring problems — and you will solve each one slightly differently in every service you 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WHY A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Microsoft Agent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27632"/>
            <a:ext cx="10424160" cy="318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 dirty="0">
                <a:solidFill>
                  <a:srgbClr val="E8EDF5"/>
                </a:solidFill>
                <a:latin typeface="Segoe UI Light"/>
              </a:rPr>
              <a:t>One SDK and runtime for agents and multi-agent workflows — Python</a:t>
            </a:r>
            <a:r>
              <a:rPr lang="en-US" sz="1900" b="0" i="0" dirty="0">
                <a:solidFill>
                  <a:srgbClr val="E8EDF5"/>
                </a:solidFill>
                <a:latin typeface="Segoe UI Light"/>
              </a:rPr>
              <a:t>, Go</a:t>
            </a:r>
            <a:r>
              <a:rPr sz="1900" b="0" i="0" dirty="0">
                <a:solidFill>
                  <a:srgbClr val="E8EDF5"/>
                </a:solidFill>
                <a:latin typeface="Segoe UI Light"/>
              </a:rPr>
              <a:t> and .NET.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95728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E8EDF5"/>
                </a:solidFill>
                <a:latin typeface="Segoe UI"/>
              </a:rPr>
              <a:t>AutoGen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8B97AC"/>
                </a:solidFill>
                <a:latin typeface="Segoe UI"/>
              </a:rPr>
              <a:t>research velocity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A6780"/>
                </a:solidFill>
                <a:latin typeface="Segoe UI"/>
              </a:rPr>
              <a:t>simple multi-agent abstractions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02336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E8EDF5"/>
                </a:solidFill>
                <a:latin typeface="Segoe UI"/>
              </a:rPr>
              <a:t>Semantic Kernel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8B97AC"/>
                </a:solidFill>
                <a:latin typeface="Segoe UI"/>
              </a:rPr>
              <a:t>enterprise hardening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A6780"/>
                </a:solidFill>
                <a:latin typeface="Segoe UI"/>
              </a:rPr>
              <a:t>state, telemetry, connectors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9663" y="3694176"/>
            <a:ext cx="822960" cy="292608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39512" y="2395728"/>
            <a:ext cx="3200400" cy="3044952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200" b="1">
                <a:solidFill>
                  <a:srgbClr val="50E6FF"/>
                </a:solidFill>
                <a:latin typeface="Segoe UI"/>
              </a:rPr>
              <a:t>Agent Framework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8B97AC"/>
                </a:solidFill>
                <a:latin typeface="Segoe UI"/>
              </a:rPr>
              <a:t> 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E8EDF5"/>
                </a:solidFill>
                <a:latin typeface="Segoe UI"/>
              </a:rPr>
              <a:t>one object model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E8EDF5"/>
                </a:solidFill>
                <a:latin typeface="Segoe UI"/>
              </a:rPr>
              <a:t>one runtime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E8EDF5"/>
                </a:solidFill>
                <a:latin typeface="Segoe UI"/>
              </a:rPr>
              <a:t>graph workflows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E8EDF5"/>
                </a:solidFill>
                <a:latin typeface="Segoe UI"/>
              </a:rPr>
              <a:t>open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395728"/>
            <a:ext cx="2834640" cy="93268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E8EDF5"/>
                </a:solidFill>
                <a:latin typeface="Segoe UI"/>
              </a:rPr>
              <a:t>Durable workflows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7AC"/>
                </a:solidFill>
                <a:latin typeface="Segoe UI"/>
              </a:rPr>
              <a:t>typed graph, checkpoints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456432"/>
            <a:ext cx="2834640" cy="93268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E8EDF5"/>
                </a:solidFill>
                <a:latin typeface="Segoe UI"/>
              </a:rPr>
              <a:t>Open standards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7AC"/>
                </a:solidFill>
                <a:latin typeface="Segoe UI"/>
              </a:rPr>
              <a:t>MCP · A2A · AG-UI · OTel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517136"/>
            <a:ext cx="2834640" cy="93268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E8EDF5"/>
                </a:solidFill>
                <a:latin typeface="Segoe UI"/>
              </a:rPr>
              <a:t>Provider-neutral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7AC"/>
                </a:solidFill>
                <a:latin typeface="Segoe UI"/>
              </a:rPr>
              <a:t>swap the client, keep the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WHY A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How the packages are laid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10765231" cy="1078992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874519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50E6FF"/>
                </a:solidFill>
                <a:latin typeface="Consolas"/>
              </a:rPr>
              <a:t>agent_framework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231136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Agent · tool · AgentSession · ContextProvider · WorkflowBuilder · Executor · middleware · compaction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999232"/>
            <a:ext cx="3493008" cy="214884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" y="2999232"/>
            <a:ext cx="3493008" cy="5029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3200400"/>
            <a:ext cx="30358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Model providers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566160"/>
            <a:ext cx="3035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Consolas"/>
              </a:rPr>
              <a:t>openai  ·  azure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840480"/>
            <a:ext cx="3035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Consolas"/>
              </a:rPr>
              <a:t>foundry  ·  anthropic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114800"/>
            <a:ext cx="3035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Consolas"/>
              </a:rPr>
              <a:t>gemini  ·  bedrock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4389120"/>
            <a:ext cx="3035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Consolas"/>
              </a:rPr>
              <a:t>mistral  ·  ollama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663440"/>
            <a:ext cx="3035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Consolas"/>
              </a:rPr>
              <a:t>claude  ·  copilotstudio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999232"/>
            <a:ext cx="3493008" cy="214884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0" y="2999232"/>
            <a:ext cx="3493008" cy="50292"/>
          </a:xfrm>
          <a:prstGeom prst="rect">
            <a:avLst/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45152" y="3200400"/>
            <a:ext cx="30358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Memory &amp; stores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566160"/>
            <a:ext cx="3035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Consolas"/>
              </a:rPr>
              <a:t>redis  ·  mem0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3840480"/>
            <a:ext cx="3035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Consolas"/>
              </a:rPr>
              <a:t>azure_cosmos  ·  azure_ai_search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2999232"/>
            <a:ext cx="3493008" cy="214884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65008" y="2999232"/>
            <a:ext cx="3493008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3200400"/>
            <a:ext cx="30358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Surfaces &amp; hosting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566160"/>
            <a:ext cx="3035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Consolas"/>
              </a:rPr>
              <a:t>devui  ·  ag_ui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840480"/>
            <a:ext cx="3035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Consolas"/>
              </a:rPr>
              <a:t>a2a  ·  azurefunctions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114800"/>
            <a:ext cx="3035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Consolas"/>
              </a:rPr>
              <a:t>durabletask  ·  chatkit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89120"/>
            <a:ext cx="3035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Consolas"/>
              </a:rPr>
              <a:t>foundry_hosting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358384"/>
            <a:ext cx="10765231" cy="804672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3232" y="5358384"/>
            <a:ext cx="50292" cy="80467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9264" y="5504688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0E6FF"/>
                </a:solidFill>
                <a:latin typeface="Segoe UI"/>
              </a:rPr>
              <a:t>INSTALL NOTE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" y="5779008"/>
            <a:ext cx="103080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The agent-framework meta-package pulls every provider in — this repo already has all of the above installed, so new examples need no dependency edits.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1371600"/>
            <a:ext cx="3154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1D253A"/>
                </a:solidFill>
                <a:latin typeface="Segoe UI Ligh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2487168"/>
            <a:ext cx="6675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EDF5"/>
                </a:solidFill>
                <a:latin typeface="Segoe UI Light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3419856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0E6FF"/>
                </a:solidFill>
                <a:latin typeface="Segoe UI"/>
              </a:rPr>
              <a:t>Five primitives, and the lifecycle that connects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4133087"/>
            <a:ext cx="1609343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chat 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73551" y="4133087"/>
            <a:ext cx="95097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4133087"/>
            <a:ext cx="117043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session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87567" y="4133087"/>
            <a:ext cx="215798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context provider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5" y="4133087"/>
            <a:ext cx="1389888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lifecycle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Five primitives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2048256" cy="2788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828800"/>
            <a:ext cx="2048256" cy="5029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536192" y="2121408"/>
            <a:ext cx="402336" cy="402336"/>
          </a:xfrm>
          <a:prstGeom prst="ellipse">
            <a:avLst/>
          </a:prstGeom>
          <a:noFill/>
          <a:ln w="1905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212848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50E6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06624"/>
            <a:ext cx="16824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Segoe UI"/>
              </a:rPr>
              <a:t>Chat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7238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0E6FF"/>
                </a:solidFill>
                <a:latin typeface="Consolas"/>
              </a:rPr>
              <a:t>OpenAIChatCompletionClient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456432"/>
            <a:ext cx="16824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Talks to a model. Swappable.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7792" y="1828800"/>
            <a:ext cx="2048256" cy="2788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07792" y="1828800"/>
            <a:ext cx="2048256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730752" y="2121408"/>
            <a:ext cx="402336" cy="402336"/>
          </a:xfrm>
          <a:prstGeom prst="ellipse">
            <a:avLst/>
          </a:prstGeom>
          <a:noFill/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07792" y="2212848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078D4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2706624"/>
            <a:ext cx="16824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Segoe UI"/>
              </a:rP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07238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078D4"/>
                </a:solidFill>
                <a:latin typeface="Consolas"/>
              </a:rPr>
              <a:t>Agent(...)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0672" y="3456432"/>
            <a:ext cx="16824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Instructions + tools + client. The unit of behaviour.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02352" y="1828800"/>
            <a:ext cx="2048256" cy="2788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02352" y="1828800"/>
            <a:ext cx="2048256" cy="50292"/>
          </a:xfrm>
          <a:prstGeom prst="rect">
            <a:avLst/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925312" y="2121408"/>
            <a:ext cx="402336" cy="402336"/>
          </a:xfrm>
          <a:prstGeom prst="ellipse">
            <a:avLst/>
          </a:prstGeom>
          <a:noFill/>
          <a:ln w="1905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02352" y="2212848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B7CF6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2" y="2706624"/>
            <a:ext cx="16824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Segoe UI"/>
              </a:rPr>
              <a:t>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07238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B7CF6"/>
                </a:solidFill>
                <a:latin typeface="Consolas"/>
              </a:rPr>
              <a:t>@tool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2" y="3456432"/>
            <a:ext cx="16824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A typed Python function the model may call.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1828800"/>
            <a:ext cx="2048256" cy="2788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296912" y="1828800"/>
            <a:ext cx="2048256" cy="5029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19872" y="2121408"/>
            <a:ext cx="402336" cy="402336"/>
          </a:xfrm>
          <a:prstGeom prst="ellipse">
            <a:avLst/>
          </a:prstGeom>
          <a:noFill/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96912" y="2212848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2706624"/>
            <a:ext cx="16824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Segoe UI"/>
              </a:rPr>
              <a:t>Session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07238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BBF24"/>
                </a:solidFill>
                <a:latin typeface="Consolas"/>
              </a:rPr>
              <a:t>agent.create_session()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3456432"/>
            <a:ext cx="16824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Carries conversation state across runs.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91472" y="1828800"/>
            <a:ext cx="2048256" cy="2788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491472" y="1828800"/>
            <a:ext cx="2048256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314432" y="2121408"/>
            <a:ext cx="402336" cy="402336"/>
          </a:xfrm>
          <a:prstGeom prst="ellipse">
            <a:avLst/>
          </a:prstGeom>
          <a:noFill/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91472" y="2212848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4ADE8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2706624"/>
            <a:ext cx="16824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Segoe UI"/>
              </a:rPr>
              <a:t>Context provider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07238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DE80"/>
                </a:solidFill>
                <a:latin typeface="Consolas"/>
              </a:rPr>
              <a:t>ContextProvider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4352" y="3456432"/>
            <a:ext cx="16824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Injects and captures context per run.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4956048"/>
            <a:ext cx="10765231" cy="9144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13232" y="4956048"/>
            <a:ext cx="50292" cy="9144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9264" y="5102352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0E6FF"/>
                </a:solidFill>
                <a:latin typeface="Segoe UI"/>
              </a:rPr>
              <a:t>COMPOSITION, NOT INHERITANCE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" y="5376672"/>
            <a:ext cx="103080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You never subclass Agent. You compose it: hand it a different client, another tool, one more context provider, a middleware. That is the whole extensibility 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Chat clients: the model is a parameter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45920"/>
            <a:ext cx="6309360" cy="310896"/>
          </a:xfrm>
          <a:prstGeom prst="roundRect">
            <a:avLst>
              <a:gd name="adj" fmla="val 12000"/>
            </a:avLst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Ins="146304" bIns="36576" rtlCol="0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the only provider-specific 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20240"/>
            <a:ext cx="6309360" cy="2386584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920240"/>
            <a:ext cx="41148" cy="23865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084832"/>
            <a:ext cx="5943600" cy="21122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16"/>
              </a:lnSpc>
              <a:spcAft>
                <a:spcPts val="0"/>
              </a:spcAft>
            </a:pPr>
            <a:r>
              <a:rPr sz="1350">
                <a:solidFill>
                  <a:srgbClr val="7AA2F7"/>
                </a:solidFill>
                <a:latin typeface="Consolas"/>
              </a:rPr>
              <a:t>from</a:t>
            </a:r>
            <a:r>
              <a:rPr sz="1350">
                <a:solidFill>
                  <a:srgbClr val="D6DEEB"/>
                </a:solidFill>
                <a:latin typeface="Consolas"/>
              </a:rPr>
              <a:t> agent_framework </a:t>
            </a:r>
            <a:r>
              <a:rPr sz="1350">
                <a:solidFill>
                  <a:srgbClr val="7AA2F7"/>
                </a:solidFill>
                <a:latin typeface="Consolas"/>
              </a:rPr>
              <a:t>import</a:t>
            </a:r>
            <a:r>
              <a:rPr sz="1350">
                <a:solidFill>
                  <a:srgbClr val="D6DEEB"/>
                </a:solidFill>
                <a:latin typeface="Consolas"/>
              </a:rPr>
              <a:t> </a:t>
            </a:r>
            <a:r>
              <a:rPr sz="1350">
                <a:solidFill>
                  <a:srgbClr val="50E6FF"/>
                </a:solidFill>
                <a:latin typeface="Consolas"/>
              </a:rPr>
              <a:t>Agent</a:t>
            </a:r>
          </a:p>
          <a:p>
            <a:pPr>
              <a:lnSpc>
                <a:spcPts val="1916"/>
              </a:lnSpc>
              <a:spcAft>
                <a:spcPts val="0"/>
              </a:spcAft>
            </a:pPr>
            <a:r>
              <a:rPr sz="1350">
                <a:solidFill>
                  <a:srgbClr val="7AA2F7"/>
                </a:solidFill>
                <a:latin typeface="Consolas"/>
              </a:rPr>
              <a:t>from</a:t>
            </a:r>
            <a:r>
              <a:rPr sz="1350">
                <a:solidFill>
                  <a:srgbClr val="D6DEEB"/>
                </a:solidFill>
                <a:latin typeface="Consolas"/>
              </a:rPr>
              <a:t> agent_framework_openai </a:t>
            </a:r>
            <a:r>
              <a:rPr sz="1350">
                <a:solidFill>
                  <a:srgbClr val="7AA2F7"/>
                </a:solidFill>
                <a:latin typeface="Consolas"/>
              </a:rPr>
              <a:t>import</a:t>
            </a:r>
            <a:r>
              <a:rPr sz="1350">
                <a:solidFill>
                  <a:srgbClr val="D6DEEB"/>
                </a:solidFill>
                <a:latin typeface="Consolas"/>
              </a:rPr>
              <a:t> </a:t>
            </a:r>
            <a:r>
              <a:rPr sz="1350">
                <a:solidFill>
                  <a:srgbClr val="50E6FF"/>
                </a:solidFill>
                <a:latin typeface="Consolas"/>
              </a:rPr>
              <a:t>OpenAIChatCompletionClient</a:t>
            </a:r>
          </a:p>
          <a:p>
            <a:pPr>
              <a:lnSpc>
                <a:spcPts val="1916"/>
              </a:lnSpc>
              <a:spcAft>
                <a:spcPts val="0"/>
              </a:spcAft>
            </a:pPr>
            <a:r>
              <a:rPr sz="13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916"/>
              </a:lnSpc>
              <a:spcAft>
                <a:spcPts val="0"/>
              </a:spcAft>
            </a:pPr>
            <a:r>
              <a:rPr sz="1350">
                <a:solidFill>
                  <a:srgbClr val="D6DEEB"/>
                </a:solidFill>
                <a:latin typeface="Consolas"/>
              </a:rPr>
              <a:t>agent = </a:t>
            </a:r>
            <a:r>
              <a:rPr sz="1350">
                <a:solidFill>
                  <a:srgbClr val="50E6FF"/>
                </a:solidFill>
                <a:latin typeface="Consolas"/>
              </a:rPr>
              <a:t>Agent</a:t>
            </a:r>
            <a:r>
              <a:rPr sz="1350">
                <a:solidFill>
                  <a:srgbClr val="D6DEEB"/>
                </a:solidFill>
                <a:latin typeface="Consolas"/>
              </a:rPr>
              <a:t>(</a:t>
            </a:r>
          </a:p>
          <a:p>
            <a:pPr>
              <a:lnSpc>
                <a:spcPts val="1916"/>
              </a:lnSpc>
              <a:spcAft>
                <a:spcPts val="0"/>
              </a:spcAft>
            </a:pPr>
            <a:r>
              <a:rPr sz="1350">
                <a:solidFill>
                  <a:srgbClr val="D6DEEB"/>
                </a:solidFill>
                <a:latin typeface="Consolas"/>
              </a:rPr>
              <a:t>    client=</a:t>
            </a:r>
            <a:r>
              <a:rPr sz="1350">
                <a:solidFill>
                  <a:srgbClr val="50E6FF"/>
                </a:solidFill>
                <a:latin typeface="Consolas"/>
              </a:rPr>
              <a:t>OpenAIChatCompletionClient</a:t>
            </a:r>
            <a:r>
              <a:rPr sz="1350">
                <a:solidFill>
                  <a:srgbClr val="D6DEEB"/>
                </a:solidFill>
                <a:latin typeface="Consolas"/>
              </a:rPr>
              <a:t>(),   </a:t>
            </a:r>
            <a:r>
              <a:rPr sz="1350">
                <a:solidFill>
                  <a:srgbClr val="64748B"/>
                </a:solidFill>
                <a:latin typeface="Consolas"/>
              </a:rPr>
              <a:t># swap this line only</a:t>
            </a:r>
          </a:p>
          <a:p>
            <a:pPr>
              <a:lnSpc>
                <a:spcPts val="1916"/>
              </a:lnSpc>
              <a:spcAft>
                <a:spcPts val="0"/>
              </a:spcAft>
            </a:pPr>
            <a:r>
              <a:rPr sz="1350">
                <a:solidFill>
                  <a:srgbClr val="D6DEEB"/>
                </a:solidFill>
                <a:latin typeface="Consolas"/>
              </a:rPr>
              <a:t>    name=</a:t>
            </a:r>
            <a:r>
              <a:rPr sz="1350">
                <a:solidFill>
                  <a:srgbClr val="E5A57A"/>
                </a:solidFill>
                <a:latin typeface="Consolas"/>
              </a:rPr>
              <a:t>"HelloAgent"</a:t>
            </a:r>
            <a:r>
              <a:rPr sz="135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916"/>
              </a:lnSpc>
              <a:spcAft>
                <a:spcPts val="0"/>
              </a:spcAft>
            </a:pPr>
            <a:r>
              <a:rPr sz="1350">
                <a:solidFill>
                  <a:srgbClr val="D6DEEB"/>
                </a:solidFill>
                <a:latin typeface="Consolas"/>
              </a:rPr>
              <a:t>    instructions=</a:t>
            </a:r>
            <a:r>
              <a:rPr sz="1350">
                <a:solidFill>
                  <a:srgbClr val="E5A57A"/>
                </a:solidFill>
                <a:latin typeface="Consolas"/>
              </a:rPr>
              <a:t>"You are a friendly assistant. Be brief."</a:t>
            </a:r>
            <a:r>
              <a:rPr sz="135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916"/>
              </a:lnSpc>
              <a:spcAft>
                <a:spcPts val="0"/>
              </a:spcAft>
            </a:pPr>
            <a:r>
              <a:rPr sz="1350">
                <a:solidFill>
                  <a:srgbClr val="D6DEEB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6912" y="1645920"/>
            <a:ext cx="4206240" cy="201168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71231" y="18470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0E6FF"/>
                </a:solidFill>
                <a:latin typeface="Segoe UI"/>
              </a:rPr>
              <a:t>SAME AGENT, OTHER BACKENDS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221284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8EDF5"/>
                </a:solidFill>
                <a:latin typeface="Consolas"/>
              </a:rPr>
              <a:t>AzureOpenAIChatClient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1552" y="221284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Azure OpenAI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254203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8EDF5"/>
                </a:solidFill>
                <a:latin typeface="Consolas"/>
              </a:rPr>
              <a:t>FoundryChatClient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31552" y="2542032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Azure AI Foundry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2871215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8EDF5"/>
                </a:solidFill>
                <a:latin typeface="Consolas"/>
              </a:rPr>
              <a:t>AnthropicChatClient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1552" y="2871215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3200399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8EDF5"/>
                </a:solidFill>
                <a:latin typeface="Consolas"/>
              </a:rPr>
              <a:t>OllamaChatClient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1552" y="3200399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local Ollama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443984"/>
            <a:ext cx="10765231" cy="1078992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3232" y="4443984"/>
            <a:ext cx="50292" cy="107899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9264" y="4590288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B7185"/>
                </a:solidFill>
                <a:latin typeface="Segoe UI"/>
              </a:rPr>
              <a:t>THE ONE DISTINCTION THAT BITES PEOPLE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864608"/>
            <a:ext cx="1030803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OpenAIChatCompletionClient → Chat Completions API.   OpenAIChatClient → the newer Responses API.
Local servers such as vLLM only implement Chat Completions. Pick the wrong one and you get a 404 that looks like an auth failure.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EXAMPLES/01_HELLO_AGENT.PY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Your first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45920"/>
            <a:ext cx="6720840" cy="4369562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45920"/>
            <a:ext cx="41148" cy="436956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10512"/>
            <a:ext cx="6355079" cy="40952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7AA2F7"/>
                </a:solidFill>
                <a:latin typeface="Consolas"/>
              </a:rPr>
              <a:t>import</a:t>
            </a:r>
            <a:r>
              <a:rPr sz="1300">
                <a:solidFill>
                  <a:srgbClr val="D6DEEB"/>
                </a:solidFill>
                <a:latin typeface="Consolas"/>
              </a:rPr>
              <a:t> asyncio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7AA2F7"/>
                </a:solidFill>
                <a:latin typeface="Consolas"/>
              </a:rPr>
              <a:t>from</a:t>
            </a:r>
            <a:r>
              <a:rPr sz="1300">
                <a:solidFill>
                  <a:srgbClr val="D6DEEB"/>
                </a:solidFill>
                <a:latin typeface="Consolas"/>
              </a:rPr>
              <a:t> agent_framework </a:t>
            </a:r>
            <a:r>
              <a:rPr sz="1300">
                <a:solidFill>
                  <a:srgbClr val="7AA2F7"/>
                </a:solidFill>
                <a:latin typeface="Consolas"/>
              </a:rPr>
              <a:t>import</a:t>
            </a: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  <a:r>
              <a:rPr sz="1300">
                <a:solidFill>
                  <a:srgbClr val="50E6FF"/>
                </a:solidFill>
                <a:latin typeface="Consolas"/>
              </a:rPr>
              <a:t>Agent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7AA2F7"/>
                </a:solidFill>
                <a:latin typeface="Consolas"/>
              </a:rPr>
              <a:t>from</a:t>
            </a:r>
            <a:r>
              <a:rPr sz="1300">
                <a:solidFill>
                  <a:srgbClr val="D6DEEB"/>
                </a:solidFill>
                <a:latin typeface="Consolas"/>
              </a:rPr>
              <a:t> agent_framework_openai </a:t>
            </a:r>
            <a:r>
              <a:rPr sz="1300">
                <a:solidFill>
                  <a:srgbClr val="7AA2F7"/>
                </a:solidFill>
                <a:latin typeface="Consolas"/>
              </a:rPr>
              <a:t>import</a:t>
            </a: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  <a:r>
              <a:rPr sz="1300">
                <a:solidFill>
                  <a:srgbClr val="50E6FF"/>
                </a:solidFill>
                <a:latin typeface="Consolas"/>
              </a:rPr>
              <a:t>OpenAIChatCompletionClient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7AA2F7"/>
                </a:solidFill>
                <a:latin typeface="Consolas"/>
              </a:rPr>
              <a:t>from</a:t>
            </a:r>
            <a:r>
              <a:rPr sz="1300">
                <a:solidFill>
                  <a:srgbClr val="D6DEEB"/>
                </a:solidFill>
                <a:latin typeface="Consolas"/>
              </a:rPr>
              <a:t> dotenv </a:t>
            </a:r>
            <a:r>
              <a:rPr sz="1300">
                <a:solidFill>
                  <a:srgbClr val="7AA2F7"/>
                </a:solidFill>
                <a:latin typeface="Consolas"/>
              </a:rPr>
              <a:t>import</a:t>
            </a:r>
            <a:r>
              <a:rPr sz="1300">
                <a:solidFill>
                  <a:srgbClr val="D6DEEB"/>
                </a:solidFill>
                <a:latin typeface="Consolas"/>
              </a:rPr>
              <a:t> load_dotenv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B4C9FF"/>
                </a:solidFill>
                <a:latin typeface="Consolas"/>
              </a:rPr>
              <a:t>load_dotenv</a:t>
            </a:r>
            <a:r>
              <a:rPr sz="1300">
                <a:solidFill>
                  <a:srgbClr val="D6DEEB"/>
                </a:solidFill>
                <a:latin typeface="Consolas"/>
              </a:rPr>
              <a:t>()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7AA2F7"/>
                </a:solidFill>
                <a:latin typeface="Consolas"/>
              </a:rPr>
              <a:t>async</a:t>
            </a: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  <a:r>
              <a:rPr sz="1300">
                <a:solidFill>
                  <a:srgbClr val="7AA2F7"/>
                </a:solidFill>
                <a:latin typeface="Consolas"/>
              </a:rPr>
              <a:t>def</a:t>
            </a: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  <a:r>
              <a:rPr sz="1300">
                <a:solidFill>
                  <a:srgbClr val="B4C9FF"/>
                </a:solidFill>
                <a:latin typeface="Consolas"/>
              </a:rPr>
              <a:t>main</a:t>
            </a:r>
            <a:r>
              <a:rPr sz="1300">
                <a:solidFill>
                  <a:srgbClr val="D6DEEB"/>
                </a:solidFill>
                <a:latin typeface="Consolas"/>
              </a:rPr>
              <a:t>() -&gt; </a:t>
            </a:r>
            <a:r>
              <a:rPr sz="1300">
                <a:solidFill>
                  <a:srgbClr val="7AA2F7"/>
                </a:solidFill>
                <a:latin typeface="Consolas"/>
              </a:rPr>
              <a:t>None</a:t>
            </a:r>
            <a:r>
              <a:rPr sz="1300">
                <a:solidFill>
                  <a:srgbClr val="D6DEEB"/>
                </a:solidFill>
                <a:latin typeface="Consolas"/>
              </a:rPr>
              <a:t>: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   agent = </a:t>
            </a:r>
            <a:r>
              <a:rPr sz="1300">
                <a:solidFill>
                  <a:srgbClr val="50E6FF"/>
                </a:solidFill>
                <a:latin typeface="Consolas"/>
              </a:rPr>
              <a:t>Agent</a:t>
            </a:r>
            <a:r>
              <a:rPr sz="1300">
                <a:solidFill>
                  <a:srgbClr val="D6DEEB"/>
                </a:solidFill>
                <a:latin typeface="Consolas"/>
              </a:rPr>
              <a:t>(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       client=</a:t>
            </a:r>
            <a:r>
              <a:rPr sz="1300">
                <a:solidFill>
                  <a:srgbClr val="50E6FF"/>
                </a:solidFill>
                <a:latin typeface="Consolas"/>
              </a:rPr>
              <a:t>OpenAIChatCompletionClient</a:t>
            </a:r>
            <a:r>
              <a:rPr sz="1300">
                <a:solidFill>
                  <a:srgbClr val="D6DEEB"/>
                </a:solidFill>
                <a:latin typeface="Consolas"/>
              </a:rPr>
              <a:t>(),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       name=</a:t>
            </a:r>
            <a:r>
              <a:rPr sz="1300">
                <a:solidFill>
                  <a:srgbClr val="E5A57A"/>
                </a:solidFill>
                <a:latin typeface="Consolas"/>
              </a:rPr>
              <a:t>"HelloAgent"</a:t>
            </a:r>
            <a:r>
              <a:rPr sz="130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       instructions=</a:t>
            </a:r>
            <a:r>
              <a:rPr sz="1300">
                <a:solidFill>
                  <a:srgbClr val="E5A57A"/>
                </a:solidFill>
                <a:latin typeface="Consolas"/>
              </a:rPr>
              <a:t>"Keep your answers brief."</a:t>
            </a:r>
            <a:r>
              <a:rPr sz="130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   )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   result = </a:t>
            </a:r>
            <a:r>
              <a:rPr sz="1300">
                <a:solidFill>
                  <a:srgbClr val="7AA2F7"/>
                </a:solidFill>
                <a:latin typeface="Consolas"/>
              </a:rPr>
              <a:t>await</a:t>
            </a:r>
            <a:r>
              <a:rPr sz="1300">
                <a:solidFill>
                  <a:srgbClr val="D6DEEB"/>
                </a:solidFill>
                <a:latin typeface="Consolas"/>
              </a:rPr>
              <a:t> agent.</a:t>
            </a:r>
            <a:r>
              <a:rPr sz="1300">
                <a:solidFill>
                  <a:srgbClr val="B4C9FF"/>
                </a:solidFill>
                <a:latin typeface="Consolas"/>
              </a:rPr>
              <a:t>run</a:t>
            </a:r>
            <a:r>
              <a:rPr sz="1300">
                <a:solidFill>
                  <a:srgbClr val="D6DEEB"/>
                </a:solidFill>
                <a:latin typeface="Consolas"/>
              </a:rPr>
              <a:t>(</a:t>
            </a:r>
            <a:r>
              <a:rPr sz="1300">
                <a:solidFill>
                  <a:srgbClr val="E5A57A"/>
                </a:solidFill>
                <a:latin typeface="Consolas"/>
              </a:rPr>
              <a:t>"What is the capital of France?"</a:t>
            </a:r>
            <a:r>
              <a:rPr sz="130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   </a:t>
            </a:r>
            <a:r>
              <a:rPr sz="1300">
                <a:solidFill>
                  <a:srgbClr val="B4C9FF"/>
                </a:solidFill>
                <a:latin typeface="Consolas"/>
              </a:rPr>
              <a:t>print</a:t>
            </a:r>
            <a:r>
              <a:rPr sz="1300">
                <a:solidFill>
                  <a:srgbClr val="D6DEEB"/>
                </a:solidFill>
                <a:latin typeface="Consolas"/>
              </a:rPr>
              <a:t>(result)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asyncio.</a:t>
            </a:r>
            <a:r>
              <a:rPr sz="1300">
                <a:solidFill>
                  <a:srgbClr val="B4C9FF"/>
                </a:solidFill>
                <a:latin typeface="Consolas"/>
              </a:rPr>
              <a:t>run</a:t>
            </a:r>
            <a:r>
              <a:rPr sz="1300">
                <a:solidFill>
                  <a:srgbClr val="D6DEEB"/>
                </a:solidFill>
                <a:latin typeface="Consolas"/>
              </a:rPr>
              <a:t>(</a:t>
            </a:r>
            <a:r>
              <a:rPr sz="1300">
                <a:solidFill>
                  <a:srgbClr val="B4C9FF"/>
                </a:solidFill>
                <a:latin typeface="Consolas"/>
              </a:rPr>
              <a:t>main</a:t>
            </a:r>
            <a:r>
              <a:rPr sz="1300">
                <a:solidFill>
                  <a:srgbClr val="D6DEEB"/>
                </a:solidFill>
                <a:latin typeface="Consolas"/>
              </a:rPr>
              <a:t>())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9831" y="1837943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55863" y="1737360"/>
            <a:ext cx="34472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Async everywhere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3" y="2020824"/>
            <a:ext cx="34472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agent.run() is a coroutine. No sync shim.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9831" y="2679191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55863" y="2578608"/>
            <a:ext cx="34472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Config from env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3" y="2862072"/>
            <a:ext cx="34472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load_dotenv() feeds base URL, key and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9831" y="3520439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55863" y="3419856"/>
            <a:ext cx="34472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Instructions ≠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3" y="3703320"/>
            <a:ext cx="34472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System-level, applied to every run.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9831" y="4361688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55863" y="4261104"/>
            <a:ext cx="34472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Result is rich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3" y="4544568"/>
            <a:ext cx="34472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result.text, .messages, .value — not just a string.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The run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38528"/>
            <a:ext cx="1810512" cy="9601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E8EDF5"/>
                </a:solidFill>
                <a:latin typeface="Segoe UI"/>
              </a:rPr>
              <a:t>agent.run()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78608" y="2304288"/>
            <a:ext cx="320040" cy="237744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53512" y="1938528"/>
            <a:ext cx="1810512" cy="9601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E8EDF5"/>
                </a:solidFill>
                <a:latin typeface="Segoe UI"/>
              </a:rPr>
              <a:t>context providers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E8EDF5"/>
                </a:solidFill>
                <a:latin typeface="Segoe UI"/>
              </a:rPr>
              <a:t>before_run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18888" y="2304288"/>
            <a:ext cx="320040" cy="237744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93792" y="1938528"/>
            <a:ext cx="1810512" cy="9601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E8EDF5"/>
                </a:solidFill>
                <a:latin typeface="Segoe UI"/>
              </a:rPr>
              <a:t>agent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E8EDF5"/>
                </a:solidFill>
                <a:latin typeface="Segoe UI"/>
              </a:rPr>
              <a:t>middleware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59168" y="2304288"/>
            <a:ext cx="320040" cy="237744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34072" y="1938528"/>
            <a:ext cx="1810512" cy="9601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E8EDF5"/>
                </a:solidFill>
                <a:latin typeface="Segoe UI"/>
              </a:rPr>
              <a:t>model call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99448" y="2304288"/>
            <a:ext cx="320040" cy="237744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74352" y="1938528"/>
            <a:ext cx="1810512" cy="9601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E8EDF5"/>
                </a:solidFill>
                <a:latin typeface="Segoe UI"/>
              </a:rPr>
              <a:t>context providers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E8EDF5"/>
                </a:solidFill>
                <a:latin typeface="Segoe UI"/>
              </a:rPr>
              <a:t>after_run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7955280" y="2999232"/>
            <a:ext cx="219456" cy="457200"/>
          </a:xfrm>
          <a:prstGeom prst="downArrow">
            <a:avLst>
              <a:gd name="adj1" fmla="val 42000"/>
              <a:gd name="adj2" fmla="val 55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Up Arrow 17"/>
          <p:cNvSpPr/>
          <p:nvPr/>
        </p:nvSpPr>
        <p:spPr>
          <a:xfrm>
            <a:off x="8503920" y="2999232"/>
            <a:ext cx="219456" cy="457200"/>
          </a:xfrm>
          <a:prstGeom prst="upArrow">
            <a:avLst>
              <a:gd name="adj1" fmla="val 42000"/>
              <a:gd name="adj2" fmla="val 55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73368" y="3529584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BBF24"/>
                </a:solidFill>
                <a:latin typeface="Segoe UI"/>
              </a:rPr>
              <a:t>tool call requested?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7AC"/>
                </a:solidFill>
                <a:latin typeface="Segoe UI"/>
              </a:rPr>
              <a:t>function middleware → tool → result → model again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53542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repeats until the model stops asking for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736592"/>
            <a:ext cx="10765231" cy="9601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" y="4736592"/>
            <a:ext cx="50292" cy="96012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" y="4882896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0E6FF"/>
                </a:solidFill>
                <a:latin typeface="Segoe UI"/>
              </a:rPr>
              <a:t>READ THE DIAGRAM AS AN ONION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5157216"/>
            <a:ext cx="103080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before_run injects context → middleware wraps the call → the model may loop through tools → after_run captures what happened. Every extension point you will meet today is one of those four rings.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Streaming, options and structured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45920"/>
            <a:ext cx="6720840" cy="3431794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45920"/>
            <a:ext cx="41148" cy="343179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10512"/>
            <a:ext cx="6355079" cy="31574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Consolas"/>
              </a:rPr>
              <a:t># non-streaming — one await, full response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result = </a:t>
            </a:r>
            <a:r>
              <a:rPr sz="1300">
                <a:solidFill>
                  <a:srgbClr val="7AA2F7"/>
                </a:solidFill>
                <a:latin typeface="Consolas"/>
              </a:rPr>
              <a:t>await</a:t>
            </a:r>
            <a:r>
              <a:rPr sz="1300">
                <a:solidFill>
                  <a:srgbClr val="D6DEEB"/>
                </a:solidFill>
                <a:latin typeface="Consolas"/>
              </a:rPr>
              <a:t> agent.</a:t>
            </a:r>
            <a:r>
              <a:rPr sz="1300">
                <a:solidFill>
                  <a:srgbClr val="B4C9FF"/>
                </a:solidFill>
                <a:latin typeface="Consolas"/>
              </a:rPr>
              <a:t>run</a:t>
            </a:r>
            <a:r>
              <a:rPr sz="1300">
                <a:solidFill>
                  <a:srgbClr val="D6DEEB"/>
                </a:solidFill>
                <a:latin typeface="Consolas"/>
              </a:rPr>
              <a:t>(</a:t>
            </a:r>
            <a:r>
              <a:rPr sz="1300">
                <a:solidFill>
                  <a:srgbClr val="E5A57A"/>
                </a:solidFill>
                <a:latin typeface="Consolas"/>
              </a:rPr>
              <a:t>"What is the capital of France?"</a:t>
            </a:r>
            <a:r>
              <a:rPr sz="130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Consolas"/>
              </a:rPr>
              <a:t># per-call options ride alongside the prompt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result = </a:t>
            </a:r>
            <a:r>
              <a:rPr sz="1300">
                <a:solidFill>
                  <a:srgbClr val="7AA2F7"/>
                </a:solidFill>
                <a:latin typeface="Consolas"/>
              </a:rPr>
              <a:t>await</a:t>
            </a:r>
            <a:r>
              <a:rPr sz="1300">
                <a:solidFill>
                  <a:srgbClr val="D6DEEB"/>
                </a:solidFill>
                <a:latin typeface="Consolas"/>
              </a:rPr>
              <a:t> agent.</a:t>
            </a:r>
            <a:r>
              <a:rPr sz="1300">
                <a:solidFill>
                  <a:srgbClr val="B4C9FF"/>
                </a:solidFill>
                <a:latin typeface="Consolas"/>
              </a:rPr>
              <a:t>run</a:t>
            </a:r>
            <a:r>
              <a:rPr sz="1300">
                <a:solidFill>
                  <a:srgbClr val="D6DEEB"/>
                </a:solidFill>
                <a:latin typeface="Consolas"/>
              </a:rPr>
              <a:t>(prompt, options={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   </a:t>
            </a:r>
            <a:r>
              <a:rPr sz="1300">
                <a:solidFill>
                  <a:srgbClr val="E5A57A"/>
                </a:solidFill>
                <a:latin typeface="Consolas"/>
              </a:rPr>
              <a:t>"temperature"</a:t>
            </a:r>
            <a:r>
              <a:rPr sz="1300">
                <a:solidFill>
                  <a:srgbClr val="D6DEEB"/>
                </a:solidFill>
                <a:latin typeface="Consolas"/>
              </a:rPr>
              <a:t>: </a:t>
            </a:r>
            <a:r>
              <a:rPr sz="1300">
                <a:solidFill>
                  <a:srgbClr val="86E1A0"/>
                </a:solidFill>
                <a:latin typeface="Consolas"/>
              </a:rPr>
              <a:t>0</a:t>
            </a:r>
            <a:r>
              <a:rPr sz="1300">
                <a:solidFill>
                  <a:srgbClr val="D6DEEB"/>
                </a:solidFill>
                <a:latin typeface="Consolas"/>
              </a:rPr>
              <a:t>.</a:t>
            </a:r>
            <a:r>
              <a:rPr sz="1300">
                <a:solidFill>
                  <a:srgbClr val="86E1A0"/>
                </a:solidFill>
                <a:latin typeface="Consolas"/>
              </a:rPr>
              <a:t>3</a:t>
            </a:r>
            <a:r>
              <a:rPr sz="130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   </a:t>
            </a:r>
            <a:r>
              <a:rPr sz="1300">
                <a:solidFill>
                  <a:srgbClr val="E5A57A"/>
                </a:solidFill>
                <a:latin typeface="Consolas"/>
              </a:rPr>
              <a:t>"max_tokens"</a:t>
            </a:r>
            <a:r>
              <a:rPr sz="1300">
                <a:solidFill>
                  <a:srgbClr val="D6DEEB"/>
                </a:solidFill>
                <a:latin typeface="Consolas"/>
              </a:rPr>
              <a:t>: </a:t>
            </a:r>
            <a:r>
              <a:rPr sz="1300">
                <a:solidFill>
                  <a:srgbClr val="86E1A0"/>
                </a:solidFill>
                <a:latin typeface="Consolas"/>
              </a:rPr>
              <a:t>150</a:t>
            </a:r>
            <a:r>
              <a:rPr sz="130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})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Consolas"/>
              </a:rPr>
              <a:t># streaming — same method, stream=True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7AA2F7"/>
                </a:solidFill>
                <a:latin typeface="Consolas"/>
              </a:rPr>
              <a:t>async</a:t>
            </a: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  <a:r>
              <a:rPr sz="1300">
                <a:solidFill>
                  <a:srgbClr val="7AA2F7"/>
                </a:solidFill>
                <a:latin typeface="Consolas"/>
              </a:rPr>
              <a:t>for</a:t>
            </a:r>
            <a:r>
              <a:rPr sz="1300">
                <a:solidFill>
                  <a:srgbClr val="D6DEEB"/>
                </a:solidFill>
                <a:latin typeface="Consolas"/>
              </a:rPr>
              <a:t> chunk </a:t>
            </a:r>
            <a:r>
              <a:rPr sz="1300">
                <a:solidFill>
                  <a:srgbClr val="7AA2F7"/>
                </a:solidFill>
                <a:latin typeface="Consolas"/>
              </a:rPr>
              <a:t>in</a:t>
            </a:r>
            <a:r>
              <a:rPr sz="1300">
                <a:solidFill>
                  <a:srgbClr val="D6DEEB"/>
                </a:solidFill>
                <a:latin typeface="Consolas"/>
              </a:rPr>
              <a:t> agent.</a:t>
            </a:r>
            <a:r>
              <a:rPr sz="1300">
                <a:solidFill>
                  <a:srgbClr val="B4C9FF"/>
                </a:solidFill>
                <a:latin typeface="Consolas"/>
              </a:rPr>
              <a:t>run</a:t>
            </a:r>
            <a:r>
              <a:rPr sz="1300">
                <a:solidFill>
                  <a:srgbClr val="D6DEEB"/>
                </a:solidFill>
                <a:latin typeface="Consolas"/>
              </a:rPr>
              <a:t>(prompt, stream=</a:t>
            </a:r>
            <a:r>
              <a:rPr sz="1300">
                <a:solidFill>
                  <a:srgbClr val="7AA2F7"/>
                </a:solidFill>
                <a:latin typeface="Consolas"/>
              </a:rPr>
              <a:t>True</a:t>
            </a:r>
            <a:r>
              <a:rPr sz="1300">
                <a:solidFill>
                  <a:srgbClr val="D6DEEB"/>
                </a:solidFill>
                <a:latin typeface="Consolas"/>
              </a:rPr>
              <a:t>):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   </a:t>
            </a:r>
            <a:r>
              <a:rPr sz="1300">
                <a:solidFill>
                  <a:srgbClr val="7AA2F7"/>
                </a:solidFill>
                <a:latin typeface="Consolas"/>
              </a:rPr>
              <a:t>if</a:t>
            </a:r>
            <a:r>
              <a:rPr sz="1300">
                <a:solidFill>
                  <a:srgbClr val="D6DEEB"/>
                </a:solidFill>
                <a:latin typeface="Consolas"/>
              </a:rPr>
              <a:t> chunk.text: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       </a:t>
            </a:r>
            <a:r>
              <a:rPr sz="1300">
                <a:solidFill>
                  <a:srgbClr val="B4C9FF"/>
                </a:solidFill>
                <a:latin typeface="Consolas"/>
              </a:rPr>
              <a:t>print</a:t>
            </a:r>
            <a:r>
              <a:rPr sz="1300">
                <a:solidFill>
                  <a:srgbClr val="D6DEEB"/>
                </a:solidFill>
                <a:latin typeface="Consolas"/>
              </a:rPr>
              <a:t>(chunk.text, end=</a:t>
            </a:r>
            <a:r>
              <a:rPr sz="1300">
                <a:solidFill>
                  <a:srgbClr val="E5A57A"/>
                </a:solidFill>
                <a:latin typeface="Consolas"/>
              </a:rPr>
              <a:t>""</a:t>
            </a:r>
            <a:r>
              <a:rPr sz="1300">
                <a:solidFill>
                  <a:srgbClr val="D6DEEB"/>
                </a:solidFill>
                <a:latin typeface="Consolas"/>
              </a:rPr>
              <a:t>, flush=</a:t>
            </a:r>
            <a:r>
              <a:rPr sz="1300">
                <a:solidFill>
                  <a:srgbClr val="7AA2F7"/>
                </a:solidFill>
                <a:latin typeface="Consolas"/>
              </a:rPr>
              <a:t>True</a:t>
            </a:r>
            <a:r>
              <a:rPr sz="1300">
                <a:solidFill>
                  <a:srgbClr val="D6DEEB"/>
                </a:solidFill>
                <a:latin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9831" y="1837943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55863" y="1737360"/>
            <a:ext cx="34472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One method, two shapes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3" y="2020824"/>
            <a:ext cx="34472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stream=True returns an async iterator.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9831" y="2679191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55863" y="2578608"/>
            <a:ext cx="34472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Guard chunk.text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3" y="2862072"/>
            <a:ext cx="34472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Chunks may carry tool calls, not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9831" y="3520439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55863" y="3419856"/>
            <a:ext cx="34472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options is per 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3" y="3703320"/>
            <a:ext cx="34472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default_options on Agent sets the baseline.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9831" y="4361688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55863" y="4261104"/>
            <a:ext cx="34472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Cap tokens deliberately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3" y="4544568"/>
            <a:ext cx="34472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The workshop model has an 8k window.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Demo — hello agent, streaming,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dirty="0">
                <a:solidFill>
                  <a:srgbClr val="0B0F19"/>
                </a:solidFill>
                <a:latin typeface="Segoe UI"/>
              </a:rPr>
              <a:t>▶ 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75104"/>
            <a:ext cx="6537960" cy="310896"/>
          </a:xfrm>
          <a:prstGeom prst="roundRect">
            <a:avLst>
              <a:gd name="adj" fmla="val 12000"/>
            </a:avLst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Ins="146304" bIns="36576" rtlCol="0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terminal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9424"/>
            <a:ext cx="6537960" cy="2314448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2249424"/>
            <a:ext cx="41148" cy="231444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14016"/>
            <a:ext cx="6172200" cy="20401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Consolas"/>
              </a:rPr>
              <a:t># start the model server first (separate terminal)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./vllm-run.sh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Consolas"/>
              </a:rPr>
              <a:t># then: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uv run python examples/01_hello_agent.py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Consolas"/>
              </a:rPr>
              <a:t># no model needed — good smoke test: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uv run python examples/07_graph_workflow.py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1481328"/>
            <a:ext cx="3952951" cy="35661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9831" y="1719072"/>
            <a:ext cx="34043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0E6FF"/>
                </a:solidFill>
                <a:latin typeface="Segoe UI"/>
              </a:rPr>
              <a:t>WHAT TO POINT 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212140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2103120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The first response is blocking — the whole answer lands at once.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268833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2670048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The second passes temperature and max_tokens per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325526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3236976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The third streams: tokens appear as they are produced.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3822191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3803904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Edit instructions live and re-run — show the behaviour change.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230368"/>
            <a:ext cx="10765231" cy="86868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5230368"/>
            <a:ext cx="50292" cy="86868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" y="5376672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B7185"/>
                </a:solidFill>
                <a:latin typeface="Segoe UI"/>
              </a:rPr>
              <a:t>IF THE DEMO GODS SAY 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5650992"/>
            <a:ext cx="103080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Run examples/07_graph_workflow.py — it needs no model at all and still demonstrates the framework executing. Keep talking while vLLM warms up.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1371600"/>
            <a:ext cx="3154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1D253A"/>
                </a:solidFill>
                <a:latin typeface="Segoe UI Ligh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2487168"/>
            <a:ext cx="6675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EDF5"/>
                </a:solidFill>
                <a:latin typeface="Segoe UI Light"/>
              </a:rPr>
              <a:t>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3419856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0E6FF"/>
                </a:solidFill>
                <a:latin typeface="Segoe UI"/>
              </a:rPr>
              <a:t>Giving the model a typed, governed way to touch your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4133087"/>
            <a:ext cx="95097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@tool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5184" y="4133087"/>
            <a:ext cx="106070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schema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22191" y="4133087"/>
            <a:ext cx="128016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the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48655" y="4133087"/>
            <a:ext cx="1389888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approvals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Anatomy of a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45920"/>
            <a:ext cx="6492240" cy="1682495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45920"/>
            <a:ext cx="41148" cy="1682495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10512"/>
            <a:ext cx="6126479" cy="14081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FFCE5C"/>
                </a:solidFill>
                <a:latin typeface="Consolas"/>
              </a:rPr>
              <a:t>@tool</a:t>
            </a:r>
            <a:r>
              <a:rPr sz="1200">
                <a:solidFill>
                  <a:srgbClr val="D6DEEB"/>
                </a:solidFill>
                <a:latin typeface="Consolas"/>
              </a:rPr>
              <a:t>(approval_mode=</a:t>
            </a:r>
            <a:r>
              <a:rPr sz="1200">
                <a:solidFill>
                  <a:srgbClr val="E5A57A"/>
                </a:solidFill>
                <a:latin typeface="Consolas"/>
              </a:rPr>
              <a:t>"never_require"</a:t>
            </a:r>
            <a:r>
              <a:rPr sz="120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7AA2F7"/>
                </a:solidFill>
                <a:latin typeface="Consolas"/>
              </a:rPr>
              <a:t>def</a:t>
            </a:r>
            <a:r>
              <a:rPr sz="1200">
                <a:solidFill>
                  <a:srgbClr val="D6DEEB"/>
                </a:solidFill>
                <a:latin typeface="Consolas"/>
              </a:rPr>
              <a:t> </a:t>
            </a:r>
            <a:r>
              <a:rPr sz="1200">
                <a:solidFill>
                  <a:srgbClr val="B4C9FF"/>
                </a:solidFill>
                <a:latin typeface="Consolas"/>
              </a:rPr>
              <a:t>get_weather</a:t>
            </a:r>
            <a:r>
              <a:rPr sz="1200">
                <a:solidFill>
                  <a:srgbClr val="D6DEEB"/>
                </a:solidFill>
                <a:latin typeface="Consolas"/>
              </a:rPr>
              <a:t>(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D6DEEB"/>
                </a:solidFill>
                <a:latin typeface="Consolas"/>
              </a:rPr>
              <a:t>    location: </a:t>
            </a:r>
            <a:r>
              <a:rPr sz="1200">
                <a:solidFill>
                  <a:srgbClr val="50E6FF"/>
                </a:solidFill>
                <a:latin typeface="Consolas"/>
              </a:rPr>
              <a:t>Annotated</a:t>
            </a:r>
            <a:r>
              <a:rPr sz="1200">
                <a:solidFill>
                  <a:srgbClr val="D6DEEB"/>
                </a:solidFill>
                <a:latin typeface="Consolas"/>
              </a:rPr>
              <a:t>[str, </a:t>
            </a:r>
            <a:r>
              <a:rPr sz="1200">
                <a:solidFill>
                  <a:srgbClr val="50E6FF"/>
                </a:solidFill>
                <a:latin typeface="Consolas"/>
              </a:rPr>
              <a:t>Field</a:t>
            </a:r>
            <a:r>
              <a:rPr sz="1200">
                <a:solidFill>
                  <a:srgbClr val="D6DEEB"/>
                </a:solidFill>
                <a:latin typeface="Consolas"/>
              </a:rPr>
              <a:t>(description=</a:t>
            </a:r>
            <a:r>
              <a:rPr sz="1200">
                <a:solidFill>
                  <a:srgbClr val="E5A57A"/>
                </a:solidFill>
                <a:latin typeface="Consolas"/>
              </a:rPr>
              <a:t>"City to look up."</a:t>
            </a:r>
            <a:r>
              <a:rPr sz="1200">
                <a:solidFill>
                  <a:srgbClr val="D6DEEB"/>
                </a:solidFill>
                <a:latin typeface="Consolas"/>
              </a:rPr>
              <a:t>)],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D6DEEB"/>
                </a:solidFill>
                <a:latin typeface="Consolas"/>
              </a:rPr>
              <a:t>) -&gt; str: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D6DEEB"/>
                </a:solidFill>
                <a:latin typeface="Consolas"/>
              </a:rPr>
              <a:t>    </a:t>
            </a:r>
            <a:r>
              <a:rPr sz="1200">
                <a:solidFill>
                  <a:srgbClr val="E5A57A"/>
                </a:solidFill>
                <a:latin typeface="Consolas"/>
              </a:rPr>
              <a:t>"""Get the weather for a given location."""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D6DEEB"/>
                </a:solidFill>
                <a:latin typeface="Consolas"/>
              </a:rPr>
              <a:t>    </a:t>
            </a:r>
            <a:r>
              <a:rPr sz="1200">
                <a:solidFill>
                  <a:srgbClr val="7AA2F7"/>
                </a:solidFill>
                <a:latin typeface="Consolas"/>
              </a:rPr>
              <a:t>return</a:t>
            </a:r>
            <a:r>
              <a:rPr sz="1200">
                <a:solidFill>
                  <a:srgbClr val="D6DEEB"/>
                </a:solidFill>
                <a:latin typeface="Consolas"/>
              </a:rPr>
              <a:t> f</a:t>
            </a:r>
            <a:r>
              <a:rPr sz="1200">
                <a:solidFill>
                  <a:srgbClr val="E5A57A"/>
                </a:solidFill>
                <a:latin typeface="Consolas"/>
              </a:rPr>
              <a:t>"{location}: sunny, high of 24C"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49300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0E6FF"/>
                </a:solidFill>
                <a:latin typeface="Segoe UI"/>
              </a:rPr>
              <a:t>WHAT THE MODEL ACTUALLY RECEIVES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822191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Segoe UI"/>
              </a:rPr>
              <a:t>function name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98063" y="3867911"/>
            <a:ext cx="256032" cy="164592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5A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82112" y="3822191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BBF24"/>
                </a:solidFill>
                <a:latin typeface="Consolas"/>
              </a:rPr>
              <a:t>get_weather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3822191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the callable identifier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18795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Segoe UI"/>
              </a:rPr>
              <a:t>docstring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798063" y="4233672"/>
            <a:ext cx="256032" cy="164592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5A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82112" y="4187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BBF24"/>
                </a:solidFill>
                <a:latin typeface="Consolas"/>
              </a:rPr>
              <a:t>"Get the weather…"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418795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when to call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55371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Segoe UI"/>
              </a:rPr>
              <a:t>type hints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798063" y="4599432"/>
            <a:ext cx="256032" cy="164592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5A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82112" y="455371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BBF24"/>
                </a:solidFill>
                <a:latin typeface="Consolas"/>
              </a:rPr>
              <a:t>location: str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455371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types → JSON 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91947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Segoe UI"/>
              </a:rPr>
              <a:t>Field(description=…)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798063" y="4965192"/>
            <a:ext cx="256032" cy="164592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5A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82112" y="49194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BBF24"/>
                </a:solidFill>
                <a:latin typeface="Consolas"/>
              </a:rPr>
              <a:t>"City to look up."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6672" y="491947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what goes in the argument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79792" y="1645920"/>
            <a:ext cx="4023360" cy="2743200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54112" y="184708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BBF24"/>
                </a:solidFill>
                <a:latin typeface="Segoe UI"/>
              </a:rPr>
              <a:t>THE DOCSTRING IS AN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2212848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It is not a comment for humans. It is the only thing telling the model when this tool is the right choice.
Vague docstring → the model guesses. Guessing looks like a flaky agent, and you will debug the prompt for a day before you look here.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266944"/>
            <a:ext cx="10765231" cy="896112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3232" y="5266944"/>
            <a:ext cx="50292" cy="8961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9264" y="5413248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ADE80"/>
                </a:solidFill>
                <a:latin typeface="Segoe UI"/>
              </a:rPr>
              <a:t>DESIGN RULE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" y="5687568"/>
            <a:ext cx="1030803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Write tools the way you would write a public API for a junior engineer with no context: narrow scope, unambiguous name, explicit units, errors returned as readable strings the model can act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The tool-call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2103120" cy="8229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E8EDF5"/>
                </a:solidFill>
                <a:latin typeface="Segoe UI"/>
              </a:rPr>
              <a:t>user message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9504" y="2185416"/>
            <a:ext cx="356616" cy="219456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9272" y="1874519"/>
            <a:ext cx="2103120" cy="8229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E8EDF5"/>
                </a:solidFill>
                <a:latin typeface="Segoe UI"/>
              </a:rPr>
              <a:t>agent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95544" y="2185416"/>
            <a:ext cx="356616" cy="219456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25312" y="1874519"/>
            <a:ext cx="2103120" cy="8229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E8EDF5"/>
                </a:solidFill>
                <a:latin typeface="Segoe UI"/>
              </a:rPr>
              <a:t>model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101583" y="2185416"/>
            <a:ext cx="356616" cy="219456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31351" y="1874519"/>
            <a:ext cx="2103120" cy="8229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E8EDF5"/>
                </a:solidFill>
                <a:latin typeface="Segoe UI"/>
              </a:rPr>
              <a:t>tool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6473952" y="2816352"/>
            <a:ext cx="2926080" cy="201168"/>
          </a:xfrm>
          <a:prstGeom prst="leftArrow">
            <a:avLst>
              <a:gd name="adj1" fmla="val 42000"/>
              <a:gd name="adj2" fmla="val 55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3054096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BBF24"/>
                </a:solidFill>
                <a:latin typeface="Segoe UI"/>
              </a:rPr>
              <a:t>result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3520440"/>
            <a:ext cx="310896" cy="310896"/>
          </a:xfrm>
          <a:prstGeom prst="ellipse">
            <a:avLst/>
          </a:prstGeom>
          <a:noFill/>
          <a:ln w="1651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356616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50E6FF"/>
                </a:solidFill>
                <a:latin typeface="Sego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52958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Model returns a tool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55701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97AC"/>
                </a:solidFill>
                <a:latin typeface="Segoe UI"/>
              </a:rPr>
              <a:t>name + JSON arguments, not prose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4087368"/>
            <a:ext cx="310896" cy="310896"/>
          </a:xfrm>
          <a:prstGeom prst="ellipse">
            <a:avLst/>
          </a:prstGeom>
          <a:noFill/>
          <a:ln w="1651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4133087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B7CF6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4096511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Framework validates &amp; dispatches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412394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97AC"/>
                </a:solidFill>
                <a:latin typeface="Segoe UI"/>
              </a:rPr>
              <a:t>schema check, then your Python runs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" y="4654296"/>
            <a:ext cx="310896" cy="310896"/>
          </a:xfrm>
          <a:prstGeom prst="ellipse">
            <a:avLst/>
          </a:prstGeom>
          <a:noFill/>
          <a:ln w="1651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470001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BBF24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46634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Result goes back as a 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46908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97AC"/>
                </a:solidFill>
                <a:latin typeface="Segoe UI"/>
              </a:rPr>
              <a:t>the model now has new facts</a:t>
            </a:r>
          </a:p>
        </p:txBody>
      </p:sp>
      <p:sp>
        <p:nvSpPr>
          <p:cNvPr id="29" name="Oval 28"/>
          <p:cNvSpPr/>
          <p:nvPr/>
        </p:nvSpPr>
        <p:spPr>
          <a:xfrm>
            <a:off x="713232" y="5221224"/>
            <a:ext cx="310896" cy="310896"/>
          </a:xfrm>
          <a:prstGeom prst="ellipse">
            <a:avLst/>
          </a:prstGeom>
          <a:noFill/>
          <a:ln w="1651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5266944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ADE80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5296" y="523036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5"/>
                </a:solidFill>
                <a:latin typeface="Segoe UI"/>
              </a:rPr>
              <a:t>Model decides again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76672" y="52578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97AC"/>
                </a:solidFill>
                <a:latin typeface="Segoe UI"/>
              </a:rPr>
              <a:t>answer, or call another tool — repeat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51392" y="3520440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07424" y="3712463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B7185"/>
                </a:solidFill>
                <a:latin typeface="Segoe UI"/>
              </a:rPr>
              <a:t>BOUND THE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07424" y="4059936"/>
            <a:ext cx="21945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5"/>
                </a:solidFill>
                <a:latin typeface="Segoe UI"/>
              </a:rPr>
              <a:t>Nothing stops a model calling a tool forever except limits you set: max iterations, token budget, timeouts, and idempotent tools.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EXAMPLES/02_ADD_TOOLS.PY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Tools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45920"/>
            <a:ext cx="6858000" cy="4216273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45920"/>
            <a:ext cx="41148" cy="4216273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10512"/>
            <a:ext cx="6492240" cy="3941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from</a:t>
            </a:r>
            <a:r>
              <a:rPr sz="1250">
                <a:solidFill>
                  <a:srgbClr val="D6DEEB"/>
                </a:solidFill>
                <a:latin typeface="Consolas"/>
              </a:rPr>
              <a:t> agent_framework </a:t>
            </a:r>
            <a:r>
              <a:rPr sz="1250">
                <a:solidFill>
                  <a:srgbClr val="7AA2F7"/>
                </a:solidFill>
                <a:latin typeface="Consolas"/>
              </a:rPr>
              <a:t>import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50E6FF"/>
                </a:solidFill>
                <a:latin typeface="Consolas"/>
              </a:rPr>
              <a:t>Agent</a:t>
            </a:r>
            <a:r>
              <a:rPr sz="1250">
                <a:solidFill>
                  <a:srgbClr val="D6DEEB"/>
                </a:solidFill>
                <a:latin typeface="Consolas"/>
              </a:rPr>
              <a:t>, tool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from</a:t>
            </a:r>
            <a:r>
              <a:rPr sz="1250">
                <a:solidFill>
                  <a:srgbClr val="D6DEEB"/>
                </a:solidFill>
                <a:latin typeface="Consolas"/>
              </a:rPr>
              <a:t> pydantic </a:t>
            </a:r>
            <a:r>
              <a:rPr sz="1250">
                <a:solidFill>
                  <a:srgbClr val="7AA2F7"/>
                </a:solidFill>
                <a:latin typeface="Consolas"/>
              </a:rPr>
              <a:t>import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50E6FF"/>
                </a:solidFill>
                <a:latin typeface="Consolas"/>
              </a:rPr>
              <a:t>Field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FFCE5C"/>
                </a:solidFill>
                <a:latin typeface="Consolas"/>
              </a:rPr>
              <a:t>@tool</a:t>
            </a:r>
            <a:r>
              <a:rPr sz="1250">
                <a:solidFill>
                  <a:srgbClr val="D6DEEB"/>
                </a:solidFill>
                <a:latin typeface="Consolas"/>
              </a:rPr>
              <a:t>(approval_mode=</a:t>
            </a:r>
            <a:r>
              <a:rPr sz="1250">
                <a:solidFill>
                  <a:srgbClr val="E5A57A"/>
                </a:solidFill>
                <a:latin typeface="Consolas"/>
              </a:rPr>
              <a:t>"never_require"</a:t>
            </a: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def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B4C9FF"/>
                </a:solidFill>
                <a:latin typeface="Consolas"/>
              </a:rPr>
              <a:t>get_weather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location: </a:t>
            </a:r>
            <a:r>
              <a:rPr sz="1250">
                <a:solidFill>
                  <a:srgbClr val="50E6FF"/>
                </a:solidFill>
                <a:latin typeface="Consolas"/>
              </a:rPr>
              <a:t>Annotated</a:t>
            </a:r>
            <a:r>
              <a:rPr sz="1250">
                <a:solidFill>
                  <a:srgbClr val="D6DEEB"/>
                </a:solidFill>
                <a:latin typeface="Consolas"/>
              </a:rPr>
              <a:t>[str, </a:t>
            </a:r>
            <a:r>
              <a:rPr sz="1250">
                <a:solidFill>
                  <a:srgbClr val="50E6FF"/>
                </a:solidFill>
                <a:latin typeface="Consolas"/>
              </a:rPr>
              <a:t>Field</a:t>
            </a:r>
            <a:r>
              <a:rPr sz="1250">
                <a:solidFill>
                  <a:srgbClr val="D6DEEB"/>
                </a:solidFill>
                <a:latin typeface="Consolas"/>
              </a:rPr>
              <a:t>(description=</a:t>
            </a:r>
            <a:r>
              <a:rPr sz="1250">
                <a:solidFill>
                  <a:srgbClr val="E5A57A"/>
                </a:solidFill>
                <a:latin typeface="Consolas"/>
              </a:rPr>
              <a:t>"The location."</a:t>
            </a:r>
            <a:r>
              <a:rPr sz="1250">
                <a:solidFill>
                  <a:srgbClr val="D6DEEB"/>
                </a:solidFill>
                <a:latin typeface="Consolas"/>
              </a:rPr>
              <a:t>)],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) -&gt; str: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E5A57A"/>
                </a:solidFill>
                <a:latin typeface="Consolas"/>
              </a:rPr>
              <a:t>"""Get the weather for a given location."""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conditions = [</a:t>
            </a:r>
            <a:r>
              <a:rPr sz="1250">
                <a:solidFill>
                  <a:srgbClr val="E5A57A"/>
                </a:solidFill>
                <a:latin typeface="Consolas"/>
              </a:rPr>
              <a:t>"sunny"</a:t>
            </a:r>
            <a:r>
              <a:rPr sz="1250">
                <a:solidFill>
                  <a:srgbClr val="D6DEEB"/>
                </a:solidFill>
                <a:latin typeface="Consolas"/>
              </a:rPr>
              <a:t>, </a:t>
            </a:r>
            <a:r>
              <a:rPr sz="1250">
                <a:solidFill>
                  <a:srgbClr val="E5A57A"/>
                </a:solidFill>
                <a:latin typeface="Consolas"/>
              </a:rPr>
              <a:t>"cloudy"</a:t>
            </a:r>
            <a:r>
              <a:rPr sz="1250">
                <a:solidFill>
                  <a:srgbClr val="D6DEEB"/>
                </a:solidFill>
                <a:latin typeface="Consolas"/>
              </a:rPr>
              <a:t>, </a:t>
            </a:r>
            <a:r>
              <a:rPr sz="1250">
                <a:solidFill>
                  <a:srgbClr val="E5A57A"/>
                </a:solidFill>
                <a:latin typeface="Consolas"/>
              </a:rPr>
              <a:t>"rainy"</a:t>
            </a:r>
            <a:r>
              <a:rPr sz="1250">
                <a:solidFill>
                  <a:srgbClr val="D6DEEB"/>
                </a:solidFill>
                <a:latin typeface="Consolas"/>
              </a:rPr>
              <a:t>, </a:t>
            </a:r>
            <a:r>
              <a:rPr sz="1250">
                <a:solidFill>
                  <a:srgbClr val="E5A57A"/>
                </a:solidFill>
                <a:latin typeface="Consolas"/>
              </a:rPr>
              <a:t>"stormy"</a:t>
            </a:r>
            <a:r>
              <a:rPr sz="1250">
                <a:solidFill>
                  <a:srgbClr val="D6DEEB"/>
                </a:solidFill>
                <a:latin typeface="Consolas"/>
              </a:rPr>
              <a:t>]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7AA2F7"/>
                </a:solidFill>
                <a:latin typeface="Consolas"/>
              </a:rPr>
              <a:t>return</a:t>
            </a:r>
            <a:r>
              <a:rPr sz="1250">
                <a:solidFill>
                  <a:srgbClr val="D6DEEB"/>
                </a:solidFill>
                <a:latin typeface="Consolas"/>
              </a:rPr>
              <a:t> f</a:t>
            </a:r>
            <a:r>
              <a:rPr sz="1250">
                <a:solidFill>
                  <a:srgbClr val="E5A57A"/>
                </a:solidFill>
                <a:latin typeface="Consolas"/>
              </a:rPr>
              <a:t>"{location} is {choice(conditions)}, high {randint(10, 30)}C"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agent = </a:t>
            </a:r>
            <a:r>
              <a:rPr sz="1250">
                <a:solidFill>
                  <a:srgbClr val="50E6FF"/>
                </a:solidFill>
                <a:latin typeface="Consolas"/>
              </a:rPr>
              <a:t>Agent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client=</a:t>
            </a:r>
            <a:r>
              <a:rPr sz="1250">
                <a:solidFill>
                  <a:srgbClr val="50E6FF"/>
                </a:solidFill>
                <a:latin typeface="Consolas"/>
              </a:rPr>
              <a:t>OpenAIChatCompletionClient</a:t>
            </a:r>
            <a:r>
              <a:rPr sz="1250">
                <a:solidFill>
                  <a:srgbClr val="D6DEEB"/>
                </a:solidFill>
                <a:latin typeface="Consolas"/>
              </a:rPr>
              <a:t>(),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name=</a:t>
            </a:r>
            <a:r>
              <a:rPr sz="1250">
                <a:solidFill>
                  <a:srgbClr val="E5A57A"/>
                </a:solidFill>
                <a:latin typeface="Consolas"/>
              </a:rPr>
              <a:t>"WeatherAgent"</a:t>
            </a:r>
            <a:r>
              <a:rPr sz="125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instructions=</a:t>
            </a:r>
            <a:r>
              <a:rPr sz="1250">
                <a:solidFill>
                  <a:srgbClr val="E5A57A"/>
                </a:solidFill>
                <a:latin typeface="Consolas"/>
              </a:rPr>
              <a:t>"Use get_weather to answer."</a:t>
            </a:r>
            <a:r>
              <a:rPr sz="125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tools=[get_weather],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837943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3" y="173736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tools= takes a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2020824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Or a single tool — both accepted.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2624327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3" y="2523744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Plain functions work too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280720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The decorator adds approval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3410711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3" y="3310127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Instructions steer usage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3593591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Name the tool if the model hesitates.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992" y="4197096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93023" y="4096511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Async tools supported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4379975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Use async def for I/O-bound work.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Approvals: the difference between a demo and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373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737360"/>
            <a:ext cx="512064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1956816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5"/>
                </a:solidFill>
                <a:latin typeface="Consolas"/>
              </a:rPr>
              <a:t>never_require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40864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B97AC"/>
                </a:solidFill>
                <a:latin typeface="Segoe UI"/>
              </a:rPr>
              <a:t>Runs immediately. Correct for reads: lookups, search, computation, anything you would happily let a stranger call a thousand times.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3310128"/>
            <a:ext cx="137160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4ADE80"/>
                </a:solidFill>
                <a:latin typeface="Segoe UI"/>
              </a:rPr>
              <a:t>safe reads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7373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82512" y="1737360"/>
            <a:ext cx="5120640" cy="5029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93408" y="1956816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5"/>
                </a:solidFill>
                <a:latin typeface="Consolas"/>
              </a:rPr>
              <a:t>always_require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340864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Pauses the run and surfaces an approval request. Correct for writes, payments, emails, deletes — anything with a blast radius.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3408" y="3310128"/>
            <a:ext cx="173736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FBBF24"/>
                </a:solidFill>
                <a:latin typeface="Segoe UI"/>
              </a:rPr>
              <a:t>effects &amp; spend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133087"/>
            <a:ext cx="1076523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B7185"/>
                </a:solidFill>
                <a:latin typeface="Segoe UI"/>
              </a:rPr>
              <a:t>Every example in this repo uses never_require for brevity — and says so in a comment.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626864"/>
            <a:ext cx="10765231" cy="111556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" y="4626864"/>
            <a:ext cx="50292" cy="111556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4773168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B7185"/>
                </a:solidFill>
                <a:latin typeface="Segoe UI"/>
              </a:rPr>
              <a:t>HOW TO 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5047488"/>
            <a:ext cx="103080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Ask one question: if the model called this tool with the worst plausible arguments, ten times in a row, at 3am, unattended — what happens?
Nothing → never_require.   Anything → always_require, and make the tool idempotent as well.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Demo — tools and the call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0B0F19"/>
                </a:solidFill>
                <a:latin typeface="Segoe UI"/>
              </a:rPr>
              <a:t>▶ 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75104"/>
            <a:ext cx="6537960" cy="310896"/>
          </a:xfrm>
          <a:prstGeom prst="roundRect">
            <a:avLst>
              <a:gd name="adj" fmla="val 12000"/>
            </a:avLst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Ins="146304" bIns="36576" rtlCol="0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terminal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9424"/>
            <a:ext cx="6537960" cy="1845563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2249424"/>
            <a:ext cx="41148" cy="1845563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14016"/>
            <a:ext cx="6172200" cy="15712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uv run python examples/02_add_tools.py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Consolas"/>
              </a:rPr>
              <a:t># then try, live: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Consolas"/>
              </a:rPr>
              <a:t>#  - ask about two cities in one message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Consolas"/>
              </a:rPr>
              <a:t>#  - ask something with no tool at all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Consolas"/>
              </a:rPr>
              <a:t>#  - break the docstring and watch selection degrade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1481328"/>
            <a:ext cx="3952951" cy="35661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9831" y="1719072"/>
            <a:ext cx="34043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0E6FF"/>
                </a:solidFill>
                <a:latin typeface="Segoe UI"/>
              </a:rPr>
              <a:t>WHAT TO POINT 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212140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2103120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The model emits a tool call, not prose — show the arguments.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268833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2670048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Two cities in one prompt can produce two tool calls.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325526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3236976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Off-topic questions should NOT trigger the tool.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3822191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3803904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Vandalise the docstring to "gets data" and re-run.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230368"/>
            <a:ext cx="10765231" cy="86868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5230368"/>
            <a:ext cx="50292" cy="86868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" y="5376672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B7185"/>
                </a:solidFill>
                <a:latin typeface="Segoe UI"/>
              </a:rPr>
              <a:t>IF THE DEMO GODS SAY 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5650992"/>
            <a:ext cx="103080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The weather tool is pure Python with randomness — it always returns something. If the model refuses to call it, restate the instruction to name the tool explicitly and re-run.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1371600"/>
            <a:ext cx="3154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1D253A"/>
                </a:solidFill>
                <a:latin typeface="Segoe UI Light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2487168"/>
            <a:ext cx="6675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EDF5"/>
                </a:solidFill>
                <a:latin typeface="Segoe UI Light"/>
              </a:rPr>
              <a:t>Memory &amp;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3419856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0E6FF"/>
                </a:solidFill>
                <a:latin typeface="Segoe UI"/>
              </a:rPr>
              <a:t>Three horizons: the turn, the session, and everything before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4133087"/>
            <a:ext cx="128016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4368" y="4133087"/>
            <a:ext cx="226771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context providers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3" y="4133087"/>
            <a:ext cx="106070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stores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4133087"/>
            <a:ext cx="149961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compaction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MEMORY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Three horizons of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3456432" cy="22860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783080"/>
            <a:ext cx="3456432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01168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8EDF5"/>
                </a:solidFill>
                <a:latin typeface="Segoe UI"/>
              </a:rPr>
              <a:t>The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9572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078D4"/>
                </a:solidFill>
                <a:latin typeface="Consolas"/>
              </a:rPr>
              <a:t>message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798064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What you pass into a single run. Always present, never persisted.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" y="3712463"/>
            <a:ext cx="457200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70832" y="1783080"/>
            <a:ext cx="3456432" cy="22860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70832" y="1783080"/>
            <a:ext cx="3456432" cy="5029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201168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8EDF5"/>
                </a:solidFill>
                <a:latin typeface="Segoe UI"/>
              </a:rPr>
              <a:t>The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39572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0E6FF"/>
                </a:solidFill>
                <a:latin typeface="Consolas"/>
              </a:rPr>
              <a:t>AgentSession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798064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Conversation state across runs. In-memory by default; pluggable stores.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45152" y="3712463"/>
            <a:ext cx="1463040" cy="14630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28431" y="1783080"/>
            <a:ext cx="3456432" cy="22860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28431" y="1783080"/>
            <a:ext cx="3456432" cy="50292"/>
          </a:xfrm>
          <a:prstGeom prst="rect">
            <a:avLst/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201168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8EDF5"/>
                </a:solidFill>
                <a:latin typeface="Segoe UI"/>
              </a:rPr>
              <a:t>Beyond the 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39572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B7CF6"/>
                </a:solidFill>
                <a:latin typeface="Consolas"/>
              </a:rPr>
              <a:t>ContextProvider +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798064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Facts, preferences, prior conversations — retrieved and injected per run.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02752" y="3712463"/>
            <a:ext cx="2468880" cy="146304"/>
          </a:xfrm>
          <a:prstGeom prst="rect">
            <a:avLst/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4224528"/>
            <a:ext cx="107652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780"/>
                </a:solidFill>
                <a:latin typeface="Segoe UI"/>
              </a:rPr>
              <a:t>grows 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553712"/>
            <a:ext cx="10765231" cy="1087374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3232" y="4553712"/>
            <a:ext cx="41148" cy="108737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" y="4718304"/>
            <a:ext cx="10399471" cy="8130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session = agent.</a:t>
            </a:r>
            <a:r>
              <a:rPr sz="1300">
                <a:solidFill>
                  <a:srgbClr val="B4C9FF"/>
                </a:solidFill>
                <a:latin typeface="Consolas"/>
              </a:rPr>
              <a:t>create_session</a:t>
            </a:r>
            <a:r>
              <a:rPr sz="1300">
                <a:solidFill>
                  <a:srgbClr val="D6DEEB"/>
                </a:solidFill>
                <a:latin typeface="Consolas"/>
              </a:rPr>
              <a:t>()          </a:t>
            </a:r>
            <a:r>
              <a:rPr sz="1300">
                <a:solidFill>
                  <a:srgbClr val="64748B"/>
                </a:solidFill>
                <a:latin typeface="Consolas"/>
              </a:rPr>
              <a:t># one conversation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7AA2F7"/>
                </a:solidFill>
                <a:latin typeface="Consolas"/>
              </a:rPr>
              <a:t>await</a:t>
            </a:r>
            <a:r>
              <a:rPr sz="1300">
                <a:solidFill>
                  <a:srgbClr val="D6DEEB"/>
                </a:solidFill>
                <a:latin typeface="Consolas"/>
              </a:rPr>
              <a:t> agent.</a:t>
            </a:r>
            <a:r>
              <a:rPr sz="1300">
                <a:solidFill>
                  <a:srgbClr val="B4C9FF"/>
                </a:solidFill>
                <a:latin typeface="Consolas"/>
              </a:rPr>
              <a:t>run</a:t>
            </a:r>
            <a:r>
              <a:rPr sz="1300">
                <a:solidFill>
                  <a:srgbClr val="D6DEEB"/>
                </a:solidFill>
                <a:latin typeface="Consolas"/>
              </a:rPr>
              <a:t>(</a:t>
            </a:r>
            <a:r>
              <a:rPr sz="1300">
                <a:solidFill>
                  <a:srgbClr val="E5A57A"/>
                </a:solidFill>
                <a:latin typeface="Consolas"/>
              </a:rPr>
              <a:t>"My name is Alice."</a:t>
            </a:r>
            <a:r>
              <a:rPr sz="1300">
                <a:solidFill>
                  <a:srgbClr val="D6DEEB"/>
                </a:solidFill>
                <a:latin typeface="Consolas"/>
              </a:rPr>
              <a:t>, session=session)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7AA2F7"/>
                </a:solidFill>
                <a:latin typeface="Consolas"/>
              </a:rPr>
              <a:t>await</a:t>
            </a:r>
            <a:r>
              <a:rPr sz="1300">
                <a:solidFill>
                  <a:srgbClr val="D6DEEB"/>
                </a:solidFill>
                <a:latin typeface="Consolas"/>
              </a:rPr>
              <a:t> agent.</a:t>
            </a:r>
            <a:r>
              <a:rPr sz="1300">
                <a:solidFill>
                  <a:srgbClr val="B4C9FF"/>
                </a:solidFill>
                <a:latin typeface="Consolas"/>
              </a:rPr>
              <a:t>run</a:t>
            </a:r>
            <a:r>
              <a:rPr sz="1300">
                <a:solidFill>
                  <a:srgbClr val="D6DEEB"/>
                </a:solidFill>
                <a:latin typeface="Consolas"/>
              </a:rPr>
              <a:t>(</a:t>
            </a:r>
            <a:r>
              <a:rPr sz="1300">
                <a:solidFill>
                  <a:srgbClr val="E5A57A"/>
                </a:solidFill>
                <a:latin typeface="Consolas"/>
              </a:rPr>
              <a:t>"What do you remember?"</a:t>
            </a:r>
            <a:r>
              <a:rPr sz="1300">
                <a:solidFill>
                  <a:srgbClr val="D6DEEB"/>
                </a:solidFill>
                <a:latin typeface="Consolas"/>
              </a:rPr>
              <a:t>, session=session)   </a:t>
            </a:r>
            <a:r>
              <a:rPr sz="1300">
                <a:solidFill>
                  <a:srgbClr val="64748B"/>
                </a:solidFill>
                <a:latin typeface="Consolas"/>
              </a:rPr>
              <a:t># knows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EXAMPLES/03_MULTI_TURN.PY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Sessions: multi-turn in three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6766560" cy="3314573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41148" cy="3314573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56232"/>
            <a:ext cx="6400800" cy="3040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agent = </a:t>
            </a:r>
            <a:r>
              <a:rPr sz="1250">
                <a:solidFill>
                  <a:srgbClr val="50E6FF"/>
                </a:solidFill>
                <a:latin typeface="Consolas"/>
              </a:rPr>
              <a:t>Agent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client=</a:t>
            </a:r>
            <a:r>
              <a:rPr sz="1250">
                <a:solidFill>
                  <a:srgbClr val="50E6FF"/>
                </a:solidFill>
                <a:latin typeface="Consolas"/>
              </a:rPr>
              <a:t>OpenAIChatCompletionClient</a:t>
            </a:r>
            <a:r>
              <a:rPr sz="1250">
                <a:solidFill>
                  <a:srgbClr val="D6DEEB"/>
                </a:solidFill>
                <a:latin typeface="Consolas"/>
              </a:rPr>
              <a:t>(),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name=</a:t>
            </a:r>
            <a:r>
              <a:rPr sz="1250">
                <a:solidFill>
                  <a:srgbClr val="E5A57A"/>
                </a:solidFill>
                <a:latin typeface="Consolas"/>
              </a:rPr>
              <a:t>"ConversationAgent"</a:t>
            </a:r>
            <a:r>
              <a:rPr sz="125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instructions=</a:t>
            </a:r>
            <a:r>
              <a:rPr sz="1250">
                <a:solidFill>
                  <a:srgbClr val="E5A57A"/>
                </a:solidFill>
                <a:latin typeface="Consolas"/>
              </a:rPr>
              <a:t>"Keep your answers brief."</a:t>
            </a:r>
            <a:r>
              <a:rPr sz="125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session = agent.</a:t>
            </a:r>
            <a:r>
              <a:rPr sz="1250">
                <a:solidFill>
                  <a:srgbClr val="B4C9FF"/>
                </a:solidFill>
                <a:latin typeface="Consolas"/>
              </a:rPr>
              <a:t>create_session</a:t>
            </a:r>
            <a:r>
              <a:rPr sz="1250">
                <a:solidFill>
                  <a:srgbClr val="D6DEEB"/>
                </a:solidFill>
                <a:latin typeface="Consolas"/>
              </a:rPr>
              <a:t>()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await</a:t>
            </a:r>
            <a:r>
              <a:rPr sz="1250">
                <a:solidFill>
                  <a:srgbClr val="D6DEEB"/>
                </a:solidFill>
                <a:latin typeface="Consolas"/>
              </a:rPr>
              <a:t> agent.</a:t>
            </a:r>
            <a:r>
              <a:rPr sz="1250">
                <a:solidFill>
                  <a:srgbClr val="B4C9FF"/>
                </a:solidFill>
                <a:latin typeface="Consolas"/>
              </a:rPr>
              <a:t>run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E5A57A"/>
                </a:solidFill>
                <a:latin typeface="Consolas"/>
              </a:rPr>
              <a:t>"My name is Alice and I love hiking."</a:t>
            </a:r>
            <a:r>
              <a:rPr sz="1250">
                <a:solidFill>
                  <a:srgbClr val="D6DEEB"/>
                </a:solidFill>
                <a:latin typeface="Consolas"/>
              </a:rPr>
              <a:t>, session=session)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64748B"/>
                </a:solidFill>
                <a:latin typeface="Consolas"/>
              </a:rPr>
              <a:t># same session → the agent still has the earlier turns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result = </a:t>
            </a:r>
            <a:r>
              <a:rPr sz="1250">
                <a:solidFill>
                  <a:srgbClr val="7AA2F7"/>
                </a:solidFill>
                <a:latin typeface="Consolas"/>
              </a:rPr>
              <a:t>await</a:t>
            </a:r>
            <a:r>
              <a:rPr sz="1250">
                <a:solidFill>
                  <a:srgbClr val="D6DEEB"/>
                </a:solidFill>
                <a:latin typeface="Consolas"/>
              </a:rPr>
              <a:t> agent.</a:t>
            </a:r>
            <a:r>
              <a:rPr sz="1250">
                <a:solidFill>
                  <a:srgbClr val="B4C9FF"/>
                </a:solidFill>
                <a:latin typeface="Consolas"/>
              </a:rPr>
              <a:t>run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E5A57A"/>
                </a:solidFill>
                <a:latin typeface="Consolas"/>
              </a:rPr>
              <a:t>"What do you remember about me?"</a:t>
            </a:r>
            <a:r>
              <a:rPr sz="125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                 session=session)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5552" y="1883664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01583" y="1783080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Omit session → amnesia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066543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Each run starts clean. Sometimes that's what you want.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5552" y="2743199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01583" y="2642615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One session per conversation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2926079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Never share one across users or requests.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45552" y="3602735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01583" y="3502151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session.state is a 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3785615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Providers namespace their data by source_id.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5552" y="4462272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01583" y="4361688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Swap the backing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645151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InMemory, Redis, Cosmos — same API.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MEMORY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Context providers: hooks around every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6675120" cy="310896"/>
          </a:xfrm>
          <a:prstGeom prst="roundRect">
            <a:avLst>
              <a:gd name="adj" fmla="val 12000"/>
            </a:avLst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Ins="146304" bIns="36576" rtlCol="0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examples/04_memory.py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65960"/>
            <a:ext cx="6675120" cy="3144012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965960"/>
            <a:ext cx="41148" cy="314401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130552"/>
            <a:ext cx="6309359" cy="28696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class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50E6FF"/>
                </a:solidFill>
                <a:latin typeface="Consolas"/>
              </a:rPr>
              <a:t>UserMemoryProvider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50E6FF"/>
                </a:solidFill>
                <a:latin typeface="Consolas"/>
              </a:rPr>
              <a:t>ContextProvider</a:t>
            </a:r>
            <a:r>
              <a:rPr sz="1250">
                <a:solidFill>
                  <a:srgbClr val="D6DEEB"/>
                </a:solidFill>
                <a:latin typeface="Consolas"/>
              </a:rPr>
              <a:t>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7AA2F7"/>
                </a:solidFill>
                <a:latin typeface="Consolas"/>
              </a:rPr>
              <a:t>async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7AA2F7"/>
                </a:solidFill>
                <a:latin typeface="Consolas"/>
              </a:rPr>
              <a:t>def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B4C9FF"/>
                </a:solidFill>
                <a:latin typeface="Consolas"/>
              </a:rPr>
              <a:t>before_run</a:t>
            </a:r>
            <a:r>
              <a:rPr sz="1250">
                <a:solidFill>
                  <a:srgbClr val="D6DEEB"/>
                </a:solidFill>
                <a:latin typeface="Consolas"/>
              </a:rPr>
              <a:t>(self, *, agent, session, context, state):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</a:t>
            </a:r>
            <a:r>
              <a:rPr sz="1250">
                <a:solidFill>
                  <a:srgbClr val="7AA2F7"/>
                </a:solidFill>
                <a:latin typeface="Consolas"/>
              </a:rPr>
              <a:t>if</a:t>
            </a:r>
            <a:r>
              <a:rPr sz="1250">
                <a:solidFill>
                  <a:srgbClr val="D6DEEB"/>
                </a:solidFill>
                <a:latin typeface="Consolas"/>
              </a:rPr>
              <a:t> name := state.</a:t>
            </a:r>
            <a:r>
              <a:rPr sz="1250">
                <a:solidFill>
                  <a:srgbClr val="B4C9FF"/>
                </a:solidFill>
                <a:latin typeface="Consolas"/>
              </a:rPr>
              <a:t>get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E5A57A"/>
                </a:solidFill>
                <a:latin typeface="Consolas"/>
              </a:rPr>
              <a:t>"user_name"</a:t>
            </a:r>
            <a:r>
              <a:rPr sz="1250">
                <a:solidFill>
                  <a:srgbClr val="D6DEEB"/>
                </a:solidFill>
                <a:latin typeface="Consolas"/>
              </a:rPr>
              <a:t>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    context.</a:t>
            </a:r>
            <a:r>
              <a:rPr sz="1250">
                <a:solidFill>
                  <a:srgbClr val="B4C9FF"/>
                </a:solidFill>
                <a:latin typeface="Consolas"/>
              </a:rPr>
              <a:t>extend_instructions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        self.source_id, f</a:t>
            </a:r>
            <a:r>
              <a:rPr sz="1250">
                <a:solidFill>
                  <a:srgbClr val="E5A57A"/>
                </a:solidFill>
                <a:latin typeface="Consolas"/>
              </a:rPr>
              <a:t>"The user's name is {name}."</a:t>
            </a: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7AA2F7"/>
                </a:solidFill>
                <a:latin typeface="Consolas"/>
              </a:rPr>
              <a:t>async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7AA2F7"/>
                </a:solidFill>
                <a:latin typeface="Consolas"/>
              </a:rPr>
              <a:t>def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B4C9FF"/>
                </a:solidFill>
                <a:latin typeface="Consolas"/>
              </a:rPr>
              <a:t>after_run</a:t>
            </a:r>
            <a:r>
              <a:rPr sz="1250">
                <a:solidFill>
                  <a:srgbClr val="D6DEEB"/>
                </a:solidFill>
                <a:latin typeface="Consolas"/>
              </a:rPr>
              <a:t>(self, *, agent, session, context, state):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</a:t>
            </a:r>
            <a:r>
              <a:rPr sz="1250">
                <a:solidFill>
                  <a:srgbClr val="7AA2F7"/>
                </a:solidFill>
                <a:latin typeface="Consolas"/>
              </a:rPr>
              <a:t>for</a:t>
            </a:r>
            <a:r>
              <a:rPr sz="1250">
                <a:solidFill>
                  <a:srgbClr val="D6DEEB"/>
                </a:solidFill>
                <a:latin typeface="Consolas"/>
              </a:rPr>
              <a:t> msg </a:t>
            </a:r>
            <a:r>
              <a:rPr sz="1250">
                <a:solidFill>
                  <a:srgbClr val="7AA2F7"/>
                </a:solidFill>
                <a:latin typeface="Consolas"/>
              </a:rPr>
              <a:t>in</a:t>
            </a:r>
            <a:r>
              <a:rPr sz="1250">
                <a:solidFill>
                  <a:srgbClr val="D6DEEB"/>
                </a:solidFill>
                <a:latin typeface="Consolas"/>
              </a:rPr>
              <a:t> context.input_messages: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    </a:t>
            </a:r>
            <a:r>
              <a:rPr sz="1250">
                <a:solidFill>
                  <a:srgbClr val="7AA2F7"/>
                </a:solidFill>
                <a:latin typeface="Consolas"/>
              </a:rPr>
              <a:t>if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E5A57A"/>
                </a:solidFill>
                <a:latin typeface="Consolas"/>
              </a:rPr>
              <a:t>"my name is"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7AA2F7"/>
                </a:solidFill>
                <a:latin typeface="Consolas"/>
              </a:rPr>
              <a:t>in</a:t>
            </a:r>
            <a:r>
              <a:rPr sz="1250">
                <a:solidFill>
                  <a:srgbClr val="D6DEEB"/>
                </a:solidFill>
                <a:latin typeface="Consolas"/>
              </a:rPr>
              <a:t> (msg.text </a:t>
            </a:r>
            <a:r>
              <a:rPr sz="1250">
                <a:solidFill>
                  <a:srgbClr val="7AA2F7"/>
                </a:solidFill>
                <a:latin typeface="Consolas"/>
              </a:rPr>
              <a:t>or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E5A57A"/>
                </a:solidFill>
                <a:latin typeface="Consolas"/>
              </a:rPr>
              <a:t>""</a:t>
            </a:r>
            <a:r>
              <a:rPr sz="1250">
                <a:solidFill>
                  <a:srgbClr val="D6DEEB"/>
                </a:solidFill>
                <a:latin typeface="Consolas"/>
              </a:rPr>
              <a:t>).</a:t>
            </a:r>
            <a:r>
              <a:rPr sz="1250">
                <a:solidFill>
                  <a:srgbClr val="B4C9FF"/>
                </a:solidFill>
                <a:latin typeface="Consolas"/>
              </a:rPr>
              <a:t>lower</a:t>
            </a:r>
            <a:r>
              <a:rPr sz="1250">
                <a:solidFill>
                  <a:srgbClr val="D6DEEB"/>
                </a:solidFill>
                <a:latin typeface="Consolas"/>
              </a:rPr>
              <a:t>():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        state[</a:t>
            </a:r>
            <a:r>
              <a:rPr sz="1250">
                <a:solidFill>
                  <a:srgbClr val="E5A57A"/>
                </a:solidFill>
                <a:latin typeface="Consolas"/>
              </a:rPr>
              <a:t>"user_name"</a:t>
            </a:r>
            <a:r>
              <a:rPr sz="1250">
                <a:solidFill>
                  <a:srgbClr val="D6DEEB"/>
                </a:solidFill>
                <a:latin typeface="Consolas"/>
              </a:rPr>
              <a:t>] = </a:t>
            </a:r>
            <a:r>
              <a:rPr sz="1250">
                <a:solidFill>
                  <a:srgbClr val="B4C9FF"/>
                </a:solidFill>
                <a:latin typeface="Consolas"/>
              </a:rPr>
              <a:t>extract</a:t>
            </a:r>
            <a:r>
              <a:rPr sz="1250">
                <a:solidFill>
                  <a:srgbClr val="D6DEEB"/>
                </a:solidFill>
                <a:latin typeface="Consolas"/>
              </a:rPr>
              <a:t>(msg.text)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agent = </a:t>
            </a:r>
            <a:r>
              <a:rPr sz="1250">
                <a:solidFill>
                  <a:srgbClr val="50E6FF"/>
                </a:solidFill>
                <a:latin typeface="Consolas"/>
              </a:rPr>
              <a:t>Agent</a:t>
            </a:r>
            <a:r>
              <a:rPr sz="1250">
                <a:solidFill>
                  <a:srgbClr val="D6DEEB"/>
                </a:solidFill>
                <a:latin typeface="Consolas"/>
              </a:rPr>
              <a:t>(..., context_providers=[</a:t>
            </a:r>
            <a:r>
              <a:rPr sz="1250">
                <a:solidFill>
                  <a:srgbClr val="50E6FF"/>
                </a:solidFill>
                <a:latin typeface="Consolas"/>
              </a:rPr>
              <a:t>UserMemoryProvider</a:t>
            </a:r>
            <a:r>
              <a:rPr sz="1250">
                <a:solidFill>
                  <a:srgbClr val="D6DEEB"/>
                </a:solidFill>
                <a:latin typeface="Consolas"/>
              </a:rPr>
              <a:t>()])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54112" y="1783080"/>
            <a:ext cx="3749039" cy="841248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50" b="1">
                <a:solidFill>
                  <a:srgbClr val="4ADE80"/>
                </a:solidFill>
                <a:latin typeface="Segoe UI"/>
              </a:rPr>
              <a:t>before_run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7AC"/>
                </a:solidFill>
                <a:latin typeface="Segoe UI"/>
              </a:rPr>
              <a:t>read state → inject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54112" y="2752344"/>
            <a:ext cx="3749039" cy="841248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50" b="1">
                <a:solidFill>
                  <a:srgbClr val="FBBF24"/>
                </a:solidFill>
                <a:latin typeface="Segoe UI"/>
              </a:rPr>
              <a:t>after_run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7AC"/>
                </a:solidFill>
                <a:latin typeface="Segoe UI"/>
              </a:rPr>
              <a:t>observe the turn → write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767328"/>
            <a:ext cx="374903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state is namespaced per provider by source_id, so two providers never collide — and everything they write rides along in the session.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175504"/>
            <a:ext cx="10765231" cy="93268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" y="5175504"/>
            <a:ext cx="50292" cy="932688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" y="5321808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0E6FF"/>
                </a:solidFill>
                <a:latin typeface="Segoe UI"/>
              </a:rPr>
              <a:t>THIS IS THE RAG SEAM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5596128"/>
            <a:ext cx="103080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Retrieval is just a before_run that queries your store and calls extend_instructions. There is no separate 'RAG mode' — memory, retrieval and personalisation are all the same extension point.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MEMORY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Compaction: the context window is a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27632"/>
            <a:ext cx="1076523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AC"/>
                </a:solidFill>
                <a:latin typeface="Segoe UI"/>
              </a:rPr>
              <a:t>Long conversations do not fail gracefully. They fail at token limit N+1 — mid-sentence, in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12848"/>
            <a:ext cx="3200400" cy="1170432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E8EDF5"/>
                </a:solidFill>
                <a:latin typeface="Segoe UI"/>
              </a:rPr>
              <a:t>ToolResultCompaction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7AC"/>
                </a:solidFill>
                <a:latin typeface="Segoe UI"/>
              </a:rPr>
              <a:t>drop stale tool payloads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68496" y="2688336"/>
            <a:ext cx="420624" cy="237744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43984" y="2212848"/>
            <a:ext cx="3200400" cy="1170432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E8EDF5"/>
                </a:solidFill>
                <a:latin typeface="Segoe UI"/>
              </a:rPr>
              <a:t>Summarization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7AC"/>
                </a:solidFill>
                <a:latin typeface="Segoe UI"/>
              </a:rPr>
              <a:t>fold old turns into a summary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99248" y="2688336"/>
            <a:ext cx="420624" cy="237744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74736" y="2212848"/>
            <a:ext cx="3200400" cy="1170432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E8EDF5"/>
                </a:solidFill>
                <a:latin typeface="Segoe UI"/>
              </a:rPr>
              <a:t>SlidingWindow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7AC"/>
                </a:solidFill>
                <a:latin typeface="Segoe UI"/>
              </a:rPr>
              <a:t>keep the last N groups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02736"/>
            <a:ext cx="10765231" cy="384048"/>
          </a:xfrm>
          <a:prstGeom prst="roundRect">
            <a:avLst>
              <a:gd name="adj" fmla="val 10000"/>
            </a:avLst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3657600"/>
            <a:ext cx="107652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50E6FF"/>
                </a:solidFill>
                <a:latin typeface="Consolas"/>
              </a:rPr>
              <a:t>TokenBudgetComposedStrategy   ·   token_budget=2_000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87952"/>
            <a:ext cx="6675120" cy="1628394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4187952"/>
            <a:ext cx="41148" cy="162839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4352544"/>
            <a:ext cx="6309359" cy="13540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</a:pPr>
            <a:r>
              <a:rPr sz="1150">
                <a:solidFill>
                  <a:srgbClr val="D6DEEB"/>
                </a:solidFill>
                <a:latin typeface="Consolas"/>
              </a:rPr>
              <a:t>pipeline = </a:t>
            </a:r>
            <a:r>
              <a:rPr sz="1150">
                <a:solidFill>
                  <a:srgbClr val="50E6FF"/>
                </a:solidFill>
                <a:latin typeface="Consolas"/>
              </a:rPr>
              <a:t>TokenBudgetComposedStrategy</a:t>
            </a:r>
            <a:r>
              <a:rPr sz="1150">
                <a:solidFill>
                  <a:srgbClr val="D6DEEB"/>
                </a:solidFill>
                <a:latin typeface="Consolas"/>
              </a:rPr>
              <a:t>(</a:t>
            </a:r>
          </a:p>
          <a:p>
            <a:pPr>
              <a:lnSpc>
                <a:spcPts val="1632"/>
              </a:lnSpc>
              <a:spcAft>
                <a:spcPts val="0"/>
              </a:spcAft>
            </a:pPr>
            <a:r>
              <a:rPr sz="1150">
                <a:solidFill>
                  <a:srgbClr val="D6DEEB"/>
                </a:solidFill>
                <a:latin typeface="Consolas"/>
              </a:rPr>
              <a:t>    token_budget=</a:t>
            </a:r>
            <a:r>
              <a:rPr sz="1150">
                <a:solidFill>
                  <a:srgbClr val="86E1A0"/>
                </a:solidFill>
                <a:latin typeface="Consolas"/>
              </a:rPr>
              <a:t>2_000</a:t>
            </a:r>
            <a:r>
              <a:rPr sz="1150">
                <a:solidFill>
                  <a:srgbClr val="D6DEEB"/>
                </a:solidFill>
                <a:latin typeface="Consolas"/>
              </a:rPr>
              <a:t>, tokenizer=</a:t>
            </a:r>
            <a:r>
              <a:rPr sz="1150">
                <a:solidFill>
                  <a:srgbClr val="50E6FF"/>
                </a:solidFill>
                <a:latin typeface="Consolas"/>
              </a:rPr>
              <a:t>CharacterEstimatorTokenizer</a:t>
            </a:r>
            <a:r>
              <a:rPr sz="1150">
                <a:solidFill>
                  <a:srgbClr val="D6DEEB"/>
                </a:solidFill>
                <a:latin typeface="Consolas"/>
              </a:rPr>
              <a:t>(),</a:t>
            </a:r>
          </a:p>
          <a:p>
            <a:pPr>
              <a:lnSpc>
                <a:spcPts val="1632"/>
              </a:lnSpc>
              <a:spcAft>
                <a:spcPts val="0"/>
              </a:spcAft>
            </a:pPr>
            <a:r>
              <a:rPr sz="1150">
                <a:solidFill>
                  <a:srgbClr val="D6DEEB"/>
                </a:solidFill>
                <a:latin typeface="Consolas"/>
              </a:rPr>
              <a:t>    strategies=[</a:t>
            </a:r>
            <a:r>
              <a:rPr sz="1150">
                <a:solidFill>
                  <a:srgbClr val="50E6FF"/>
                </a:solidFill>
                <a:latin typeface="Consolas"/>
              </a:rPr>
              <a:t>ToolResultCompactionStrategy</a:t>
            </a:r>
            <a:r>
              <a:rPr sz="1150">
                <a:solidFill>
                  <a:srgbClr val="D6DEEB"/>
                </a:solidFill>
                <a:latin typeface="Consolas"/>
              </a:rPr>
              <a:t>(keep_last_tool_call_groups=</a:t>
            </a:r>
            <a:r>
              <a:rPr sz="1150">
                <a:solidFill>
                  <a:srgbClr val="86E1A0"/>
                </a:solidFill>
                <a:latin typeface="Consolas"/>
              </a:rPr>
              <a:t>1</a:t>
            </a:r>
            <a:r>
              <a:rPr sz="1150">
                <a:solidFill>
                  <a:srgbClr val="D6DEEB"/>
                </a:solidFill>
                <a:latin typeface="Consolas"/>
              </a:rPr>
              <a:t>),</a:t>
            </a:r>
          </a:p>
          <a:p>
            <a:pPr>
              <a:lnSpc>
                <a:spcPts val="1632"/>
              </a:lnSpc>
              <a:spcAft>
                <a:spcPts val="0"/>
              </a:spcAft>
            </a:pPr>
            <a:r>
              <a:rPr sz="1150">
                <a:solidFill>
                  <a:srgbClr val="D6DEEB"/>
                </a:solidFill>
                <a:latin typeface="Consolas"/>
              </a:rPr>
              <a:t>                </a:t>
            </a:r>
            <a:r>
              <a:rPr sz="1150">
                <a:solidFill>
                  <a:srgbClr val="50E6FF"/>
                </a:solidFill>
                <a:latin typeface="Consolas"/>
              </a:rPr>
              <a:t>SummarizationStrategy</a:t>
            </a:r>
            <a:r>
              <a:rPr sz="1150">
                <a:solidFill>
                  <a:srgbClr val="D6DEEB"/>
                </a:solidFill>
                <a:latin typeface="Consolas"/>
              </a:rPr>
              <a:t>(client=cheap_client, target_count=</a:t>
            </a:r>
            <a:r>
              <a:rPr sz="1150">
                <a:solidFill>
                  <a:srgbClr val="86E1A0"/>
                </a:solidFill>
                <a:latin typeface="Consolas"/>
              </a:rPr>
              <a:t>2</a:t>
            </a:r>
            <a:r>
              <a:rPr sz="1150">
                <a:solidFill>
                  <a:srgbClr val="D6DEEB"/>
                </a:solidFill>
                <a:latin typeface="Consolas"/>
              </a:rPr>
              <a:t>),</a:t>
            </a:r>
          </a:p>
          <a:p>
            <a:pPr>
              <a:lnSpc>
                <a:spcPts val="1632"/>
              </a:lnSpc>
              <a:spcAft>
                <a:spcPts val="0"/>
              </a:spcAft>
            </a:pPr>
            <a:r>
              <a:rPr sz="1150">
                <a:solidFill>
                  <a:srgbClr val="D6DEEB"/>
                </a:solidFill>
                <a:latin typeface="Consolas"/>
              </a:rPr>
              <a:t>                </a:t>
            </a:r>
            <a:r>
              <a:rPr sz="1150">
                <a:solidFill>
                  <a:srgbClr val="50E6FF"/>
                </a:solidFill>
                <a:latin typeface="Consolas"/>
              </a:rPr>
              <a:t>SlidingWindowStrategy</a:t>
            </a:r>
            <a:r>
              <a:rPr sz="1150">
                <a:solidFill>
                  <a:srgbClr val="D6DEEB"/>
                </a:solidFill>
                <a:latin typeface="Consolas"/>
              </a:rPr>
              <a:t>(keep_last_groups=</a:t>
            </a:r>
            <a:r>
              <a:rPr sz="1150">
                <a:solidFill>
                  <a:srgbClr val="86E1A0"/>
                </a:solidFill>
                <a:latin typeface="Consolas"/>
              </a:rPr>
              <a:t>20</a:t>
            </a:r>
            <a:r>
              <a:rPr sz="1150">
                <a:solidFill>
                  <a:srgbClr val="D6DEEB"/>
                </a:solidFill>
                <a:latin typeface="Consolas"/>
              </a:rPr>
              <a:t>)],</a:t>
            </a:r>
          </a:p>
          <a:p>
            <a:pPr>
              <a:lnSpc>
                <a:spcPts val="1632"/>
              </a:lnSpc>
              <a:spcAft>
                <a:spcPts val="0"/>
              </a:spcAft>
            </a:pPr>
            <a:r>
              <a:rPr sz="1150">
                <a:solidFill>
                  <a:srgbClr val="D6DEEB"/>
                </a:solidFill>
                <a:latin typeface="Consolas"/>
              </a:rPr>
              <a:t>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54112" y="4187952"/>
            <a:ext cx="3749039" cy="1691640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10144" y="43891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BBF24"/>
                </a:solidFill>
                <a:latin typeface="Segoe UI"/>
              </a:rPr>
              <a:t>USE A CHEAP SUMMARISER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4736592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E8EDF5"/>
                </a:solidFill>
                <a:latin typeface="Segoe UI"/>
              </a:rPr>
              <a:t>Example 11 points the summariser at a small local model while the agent runs on the main one. Summarising is a cheap job.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Demo — sessions, providers, compaction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0B0F19"/>
                </a:solidFill>
                <a:latin typeface="Segoe UI"/>
              </a:rPr>
              <a:t>▶ 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75104"/>
            <a:ext cx="6537960" cy="310896"/>
          </a:xfrm>
          <a:prstGeom prst="roundRect">
            <a:avLst>
              <a:gd name="adj" fmla="val 12000"/>
            </a:avLst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Ins="146304" bIns="36576" rtlCol="0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terminal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9424"/>
            <a:ext cx="6537960" cy="1611122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2249424"/>
            <a:ext cx="41148" cy="161112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14016"/>
            <a:ext cx="6172200" cy="13368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uv run python examples/03_multi_turn.py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uv run python examples/04_memory.py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Consolas"/>
              </a:rPr>
              <a:t># needs a summariser model on :11434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uv run python examples/11_context_compaction.py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1481328"/>
            <a:ext cx="3952951" cy="35661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9831" y="1719072"/>
            <a:ext cx="34043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0E6FF"/>
                </a:solidFill>
                <a:latin typeface="Segoe UI"/>
              </a:rPr>
              <a:t>WHAT TO POINT 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212140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2103120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03: drop session= on turn two — the agent forgets Alice.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268833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2670048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04: the provider asks for a name, then uses it unprompted.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325526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3236976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04: the final print shows session.state under 'user_memory'.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3822191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3803904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11: watch history shrink while the conversation keeps going.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230368"/>
            <a:ext cx="10765231" cy="86868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5230368"/>
            <a:ext cx="50292" cy="86868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" y="5376672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B7185"/>
                </a:solidFill>
                <a:latin typeface="Segoe UI"/>
              </a:rPr>
              <a:t>IF THE DEMO GODS SAY 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5650992"/>
            <a:ext cx="103080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Skip 11 if Ollama is not running and walk the code instead — the strategy pipeline reads clearly without executing.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1371600"/>
            <a:ext cx="3154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1D253A"/>
                </a:solidFill>
                <a:latin typeface="Segoe UI Light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2487168"/>
            <a:ext cx="6675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EDF5"/>
                </a:solidFill>
                <a:latin typeface="Segoe UI Light"/>
              </a:rPr>
              <a:t>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3419856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0E6FF"/>
                </a:solidFill>
                <a:latin typeface="Segoe UI"/>
              </a:rPr>
              <a:t>Stop writing one-off integrations for every tool and every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4133087"/>
            <a:ext cx="2048255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the N×M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2463" y="4133087"/>
            <a:ext cx="149961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transports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3" y="4133087"/>
            <a:ext cx="95097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trust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Model Context Protocol: N×M → N+M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459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B7185"/>
                </a:solidFill>
                <a:latin typeface="Segoe UI"/>
              </a:rPr>
              <a:t>WITHOUT A PROTOCOL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11680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1305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agent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05072" y="2011680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05072" y="21305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tool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670048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788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agent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2670048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5072" y="2788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tool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328416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3447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agent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3328416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05072" y="3447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tool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30552" y="2203704"/>
            <a:ext cx="1828800" cy="1097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130552" y="2231136"/>
            <a:ext cx="1828800" cy="1097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130552" y="2258568"/>
            <a:ext cx="1828800" cy="1097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130552" y="2862072"/>
            <a:ext cx="1828800" cy="1097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130552" y="2889504"/>
            <a:ext cx="1828800" cy="1097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30552" y="2916936"/>
            <a:ext cx="1828800" cy="1097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130552" y="3520440"/>
            <a:ext cx="1828800" cy="1097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30552" y="3547872"/>
            <a:ext cx="1828800" cy="1097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30552" y="3575303"/>
            <a:ext cx="1828800" cy="1097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411480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B7185"/>
                </a:solidFill>
                <a:latin typeface="Segoe UI"/>
              </a:rPr>
              <a:t>9 bespoke integrations · 9 places to break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16459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ADE80"/>
                </a:solidFill>
                <a:latin typeface="Segoe UI"/>
              </a:rPr>
              <a:t>WITH MCP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65392" y="2011680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65392" y="21305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agent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31552" y="2011680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31552" y="21305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server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65392" y="2670048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65392" y="2788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agent 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31552" y="2670048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31552" y="2788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server 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65392" y="3328416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65392" y="3447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agent 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31552" y="3328416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31552" y="3447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server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48471" y="2011680"/>
            <a:ext cx="1371600" cy="1819656"/>
          </a:xfrm>
          <a:prstGeom prst="roundRect">
            <a:avLst>
              <a:gd name="adj" fmla="val 10000"/>
            </a:avLst>
          </a:prstGeom>
          <a:solidFill>
            <a:srgbClr val="1D253A"/>
          </a:solidFill>
          <a:ln w="1778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4ADE80"/>
                </a:solidFill>
                <a:latin typeface="Segoe UI"/>
              </a:rPr>
              <a:t>MCP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8B97AC"/>
                </a:solidFill>
                <a:latin typeface="Segoe UI"/>
              </a:rPr>
              <a:t>one contract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41148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DE80"/>
                </a:solidFill>
                <a:latin typeface="Segoe UI"/>
              </a:rPr>
              <a:t>6 connections · one contract to test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4663440"/>
            <a:ext cx="10765231" cy="146304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13232" y="4663440"/>
            <a:ext cx="50292" cy="14630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9264" y="4809744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ADE80"/>
                </a:solidFill>
                <a:latin typeface="Segoe UI"/>
              </a:rPr>
              <a:t>WHY THIS MATTERS BEYOND CONVENIENCE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" y="5084064"/>
            <a:ext cx="10308031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An MCP server is a deployable, versioned, independently-owned unit. The team that owns the CRM ships the CRM tool server; your agent consumes it without a code change on either side.
It also moves the trust boundary somewhere you can actually govern — authn, rate limits and audit live at the server, not scattered through agent code.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EXAMPLES/05_MCP_DOCS_AGENT.PY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Connecting a tool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6858000" cy="3314573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41148" cy="3314573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56232"/>
            <a:ext cx="6492240" cy="3040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from</a:t>
            </a:r>
            <a:r>
              <a:rPr sz="1250">
                <a:solidFill>
                  <a:srgbClr val="D6DEEB"/>
                </a:solidFill>
                <a:latin typeface="Consolas"/>
              </a:rPr>
              <a:t> agent_framework </a:t>
            </a:r>
            <a:r>
              <a:rPr sz="1250">
                <a:solidFill>
                  <a:srgbClr val="7AA2F7"/>
                </a:solidFill>
                <a:latin typeface="Consolas"/>
              </a:rPr>
              <a:t>import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50E6FF"/>
                </a:solidFill>
                <a:latin typeface="Consolas"/>
              </a:rPr>
              <a:t>Agent</a:t>
            </a:r>
            <a:r>
              <a:rPr sz="1250">
                <a:solidFill>
                  <a:srgbClr val="D6DEEB"/>
                </a:solidFill>
                <a:latin typeface="Consolas"/>
              </a:rPr>
              <a:t>, </a:t>
            </a:r>
            <a:r>
              <a:rPr sz="1250">
                <a:solidFill>
                  <a:srgbClr val="50E6FF"/>
                </a:solidFill>
                <a:latin typeface="Consolas"/>
              </a:rPr>
              <a:t>MCPStreamableHTTPTool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async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7AA2F7"/>
                </a:solidFill>
                <a:latin typeface="Consolas"/>
              </a:rPr>
              <a:t>with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50E6FF"/>
                </a:solidFill>
                <a:latin typeface="Consolas"/>
              </a:rPr>
              <a:t>Agent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client=</a:t>
            </a:r>
            <a:r>
              <a:rPr sz="1250">
                <a:solidFill>
                  <a:srgbClr val="50E6FF"/>
                </a:solidFill>
                <a:latin typeface="Consolas"/>
              </a:rPr>
              <a:t>OpenAIChatCompletionClient</a:t>
            </a:r>
            <a:r>
              <a:rPr sz="1250">
                <a:solidFill>
                  <a:srgbClr val="D6DEEB"/>
                </a:solidFill>
                <a:latin typeface="Consolas"/>
              </a:rPr>
              <a:t>(),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name=</a:t>
            </a:r>
            <a:r>
              <a:rPr sz="1250">
                <a:solidFill>
                  <a:srgbClr val="E5A57A"/>
                </a:solidFill>
                <a:latin typeface="Consolas"/>
              </a:rPr>
              <a:t>"DocsAgent"</a:t>
            </a:r>
            <a:r>
              <a:rPr sz="125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instructions=</a:t>
            </a:r>
            <a:r>
              <a:rPr sz="1250">
                <a:solidFill>
                  <a:srgbClr val="E5A57A"/>
                </a:solidFill>
                <a:latin typeface="Consolas"/>
              </a:rPr>
              <a:t>"You help with Microsoft documentation questions."</a:t>
            </a:r>
            <a:r>
              <a:rPr sz="125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tools=</a:t>
            </a:r>
            <a:r>
              <a:rPr sz="1250">
                <a:solidFill>
                  <a:srgbClr val="50E6FF"/>
                </a:solidFill>
                <a:latin typeface="Consolas"/>
              </a:rPr>
              <a:t>MCPStreamableHTTPTool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name=</a:t>
            </a:r>
            <a:r>
              <a:rPr sz="1250">
                <a:solidFill>
                  <a:srgbClr val="E5A57A"/>
                </a:solidFill>
                <a:latin typeface="Consolas"/>
              </a:rPr>
              <a:t>"Microsoft Learn MCP"</a:t>
            </a:r>
            <a:r>
              <a:rPr sz="125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url=</a:t>
            </a:r>
            <a:r>
              <a:rPr sz="1250">
                <a:solidFill>
                  <a:srgbClr val="E5A57A"/>
                </a:solidFill>
                <a:latin typeface="Consolas"/>
              </a:rPr>
              <a:t>"https://learn.microsoft.com/api/mcp"</a:t>
            </a:r>
            <a:r>
              <a:rPr sz="125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),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) </a:t>
            </a:r>
            <a:r>
              <a:rPr sz="1250">
                <a:solidFill>
                  <a:srgbClr val="7AA2F7"/>
                </a:solidFill>
                <a:latin typeface="Consolas"/>
              </a:rPr>
              <a:t>as</a:t>
            </a:r>
            <a:r>
              <a:rPr sz="1250">
                <a:solidFill>
                  <a:srgbClr val="D6DEEB"/>
                </a:solidFill>
                <a:latin typeface="Consolas"/>
              </a:rPr>
              <a:t> agent: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7AA2F7"/>
                </a:solidFill>
                <a:latin typeface="Consolas"/>
              </a:rPr>
              <a:t>async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7AA2F7"/>
                </a:solidFill>
                <a:latin typeface="Consolas"/>
              </a:rPr>
              <a:t>for</a:t>
            </a:r>
            <a:r>
              <a:rPr sz="1250">
                <a:solidFill>
                  <a:srgbClr val="D6DEEB"/>
                </a:solidFill>
                <a:latin typeface="Consolas"/>
              </a:rPr>
              <a:t> chunk </a:t>
            </a:r>
            <a:r>
              <a:rPr sz="1250">
                <a:solidFill>
                  <a:srgbClr val="7AA2F7"/>
                </a:solidFill>
                <a:latin typeface="Consolas"/>
              </a:rPr>
              <a:t>in</a:t>
            </a:r>
            <a:r>
              <a:rPr sz="1250">
                <a:solidFill>
                  <a:srgbClr val="D6DEEB"/>
                </a:solidFill>
                <a:latin typeface="Consolas"/>
              </a:rPr>
              <a:t> agent.</a:t>
            </a:r>
            <a:r>
              <a:rPr sz="1250">
                <a:solidFill>
                  <a:srgbClr val="B4C9FF"/>
                </a:solidFill>
                <a:latin typeface="Consolas"/>
              </a:rPr>
              <a:t>run</a:t>
            </a:r>
            <a:r>
              <a:rPr sz="1250">
                <a:solidFill>
                  <a:srgbClr val="D6DEEB"/>
                </a:solidFill>
                <a:latin typeface="Consolas"/>
              </a:rPr>
              <a:t>(query, stream=</a:t>
            </a:r>
            <a:r>
              <a:rPr sz="1250">
                <a:solidFill>
                  <a:srgbClr val="7AA2F7"/>
                </a:solidFill>
                <a:latin typeface="Consolas"/>
              </a:rPr>
              <a:t>True</a:t>
            </a:r>
            <a:r>
              <a:rPr sz="1250">
                <a:solidFill>
                  <a:srgbClr val="D6DEEB"/>
                </a:solidFill>
                <a:latin typeface="Consolas"/>
              </a:rPr>
              <a:t>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883664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3" y="178308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async with is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2066543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The tool owns a connection; the agent owns its lifetime.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2798064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3" y="269748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Tools are discovered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2980944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The server advertises its catalogue at connect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3712464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3" y="361188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One line, many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3895344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A server can expose dozens — you wire up none of them.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992" y="4572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93023" y="47548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0E6FF"/>
                </a:solidFill>
                <a:latin typeface="Segoe UI"/>
              </a:rPr>
              <a:t>TRANSPORTS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5084064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C"/>
                </a:solidFill>
                <a:latin typeface="Segoe UI"/>
              </a:rPr>
              <a:t>Streamable HTTP for remote servers · stdio for local processes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Demo — an agent with a documentation tool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0B0F19"/>
                </a:solidFill>
                <a:latin typeface="Segoe UI"/>
              </a:rPr>
              <a:t>▶ 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75104"/>
            <a:ext cx="6537960" cy="310896"/>
          </a:xfrm>
          <a:prstGeom prst="roundRect">
            <a:avLst>
              <a:gd name="adj" fmla="val 12000"/>
            </a:avLst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Ins="146304" bIns="36576" rtlCol="0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terminal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9424"/>
            <a:ext cx="6537960" cy="1376680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2249424"/>
            <a:ext cx="41148" cy="1376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14016"/>
            <a:ext cx="6172200" cy="1102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uv run python examples/05_mcp_docs_agent.py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Consolas"/>
              </a:rPr>
              <a:t># question it answers: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Consolas"/>
              </a:rPr>
              <a:t>#  "How do I create an Azure storage account with the az CLI?"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1481328"/>
            <a:ext cx="3952951" cy="35661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9831" y="1719072"/>
            <a:ext cx="34043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0E6FF"/>
                </a:solidFill>
                <a:latin typeface="Segoe UI"/>
              </a:rPr>
              <a:t>WHAT TO POINT 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212140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2103120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No tool schemas anywhere in the file — they came from the server.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268833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2670048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The answer contains real commands, not model recall.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325526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3236976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Ask a follow-up about a service the model predates.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3822191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3803904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Note the latency: remote tool + streaming generation.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230368"/>
            <a:ext cx="10765231" cy="86868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5230368"/>
            <a:ext cx="50292" cy="86868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" y="5376672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B7185"/>
                </a:solidFill>
                <a:latin typeface="Segoe UI"/>
              </a:rPr>
              <a:t>IF THE DEMO GODS SAY 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5650992"/>
            <a:ext cx="103080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Requires outbound internet to learn.microsoft.com. Have a screenshot ready, and fall back to walking the nine lines of code.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1371600"/>
            <a:ext cx="3154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1D253A"/>
                </a:solidFill>
                <a:latin typeface="Segoe UI Light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2487168"/>
            <a:ext cx="6675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EDF5"/>
                </a:solidFill>
                <a:latin typeface="Segoe UI Light"/>
              </a:rPr>
              <a:t>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3419856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0E6FF"/>
                </a:solidFill>
                <a:latin typeface="Segoe UI"/>
              </a:rPr>
              <a:t>When one agent in a loop is the wrong shape for the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4133087"/>
            <a:ext cx="149961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functional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3824" y="4133087"/>
            <a:ext cx="95097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4133087"/>
            <a:ext cx="2816351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orchestration patterns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Autonomy versus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783080"/>
            <a:ext cx="5120640" cy="5029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8EDF5"/>
                </a:solidFill>
                <a:latin typeface="Segoe UI"/>
              </a:rPr>
              <a:t>Agent decides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32304"/>
            <a:ext cx="4480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B97AC"/>
                </a:solidFill>
                <a:latin typeface="Segoe UI"/>
              </a:rPr>
              <a:t>The model chooses the next step. Flexible, handles the unexpected, hard to predict or test.
Good for: open-ended research, support triage, anything where the path is not known in advance.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78308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82512" y="1783080"/>
            <a:ext cx="5120640" cy="50292"/>
          </a:xfrm>
          <a:prstGeom prst="rect">
            <a:avLst/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3408" y="2011680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8EDF5"/>
                </a:solidFill>
                <a:latin typeface="Segoe UI"/>
              </a:rPr>
              <a:t>You 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432304"/>
            <a:ext cx="4480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The topology is code. Deterministic, testable, observable — and it will not improvise past what you wrote.
Good for: pipelines, approvals, anything with an SLA or an auditor.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572000"/>
            <a:ext cx="1076523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5"/>
                </a:solidFill>
                <a:latin typeface="Segoe UI Light"/>
              </a:rPr>
              <a:t>Most real systems are both: a deterministic workflow whose nodes happen to be agents.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047488"/>
            <a:ext cx="10765231" cy="834898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5047488"/>
            <a:ext cx="41148" cy="83489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5212079"/>
            <a:ext cx="10399471" cy="5605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FFCE5C"/>
                </a:solidFill>
                <a:latin typeface="Consolas"/>
              </a:rPr>
              <a:t>@workflow</a:t>
            </a:r>
            <a:r>
              <a:rPr sz="1250">
                <a:solidFill>
                  <a:srgbClr val="D6DEEB"/>
                </a:solidFill>
                <a:latin typeface="Consolas"/>
              </a:rPr>
              <a:t>                      </a:t>
            </a:r>
            <a:r>
              <a:rPr sz="1250">
                <a:solidFill>
                  <a:srgbClr val="64748B"/>
                </a:solidFill>
                <a:latin typeface="Consolas"/>
              </a:rPr>
              <a:t># functional — plain async Python, easy to read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50E6FF"/>
                </a:solidFill>
                <a:latin typeface="Consolas"/>
              </a:rPr>
              <a:t>WorkflowBuilder</a:t>
            </a:r>
            <a:r>
              <a:rPr sz="1250">
                <a:solidFill>
                  <a:srgbClr val="D6DEEB"/>
                </a:solidFill>
                <a:latin typeface="Consolas"/>
              </a:rPr>
              <a:t>(...)           </a:t>
            </a:r>
            <a:r>
              <a:rPr sz="1250">
                <a:solidFill>
                  <a:srgbClr val="64748B"/>
                </a:solidFill>
                <a:latin typeface="Consolas"/>
              </a:rPr>
              <a:t># graph — executors + edges, inspectable topology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EXAMPLES/06_FUNCTIONAL_WORKFLOW.PY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Functional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6675120" cy="3765423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41148" cy="3765423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56232"/>
            <a:ext cx="6309359" cy="349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from</a:t>
            </a:r>
            <a:r>
              <a:rPr sz="1250">
                <a:solidFill>
                  <a:srgbClr val="D6DEEB"/>
                </a:solidFill>
                <a:latin typeface="Consolas"/>
              </a:rPr>
              <a:t> agent_framework </a:t>
            </a:r>
            <a:r>
              <a:rPr sz="1250">
                <a:solidFill>
                  <a:srgbClr val="7AA2F7"/>
                </a:solidFill>
                <a:latin typeface="Consolas"/>
              </a:rPr>
              <a:t>import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50E6FF"/>
                </a:solidFill>
                <a:latin typeface="Consolas"/>
              </a:rPr>
              <a:t>Agent</a:t>
            </a:r>
            <a:r>
              <a:rPr sz="1250">
                <a:solidFill>
                  <a:srgbClr val="D6DEEB"/>
                </a:solidFill>
                <a:latin typeface="Consolas"/>
              </a:rPr>
              <a:t>, workflow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writer = </a:t>
            </a:r>
            <a:r>
              <a:rPr sz="1250">
                <a:solidFill>
                  <a:srgbClr val="50E6FF"/>
                </a:solidFill>
                <a:latin typeface="Consolas"/>
              </a:rPr>
              <a:t>Agent</a:t>
            </a:r>
            <a:r>
              <a:rPr sz="1250">
                <a:solidFill>
                  <a:srgbClr val="D6DEEB"/>
                </a:solidFill>
                <a:latin typeface="Consolas"/>
              </a:rPr>
              <a:t>(name=</a:t>
            </a:r>
            <a:r>
              <a:rPr sz="1250">
                <a:solidFill>
                  <a:srgbClr val="E5A57A"/>
                </a:solidFill>
                <a:latin typeface="Consolas"/>
              </a:rPr>
              <a:t>"WriterAgent"</a:t>
            </a:r>
            <a:r>
              <a:rPr sz="1250">
                <a:solidFill>
                  <a:srgbClr val="D6DEEB"/>
                </a:solidFill>
                <a:latin typeface="Consolas"/>
              </a:rPr>
              <a:t>, client=client,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       instructions=</a:t>
            </a:r>
            <a:r>
              <a:rPr sz="1250">
                <a:solidFill>
                  <a:srgbClr val="E5A57A"/>
                </a:solidFill>
                <a:latin typeface="Consolas"/>
              </a:rPr>
              <a:t>"Write a short poem about the topic."</a:t>
            </a: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reviewer = </a:t>
            </a:r>
            <a:r>
              <a:rPr sz="1250">
                <a:solidFill>
                  <a:srgbClr val="50E6FF"/>
                </a:solidFill>
                <a:latin typeface="Consolas"/>
              </a:rPr>
              <a:t>Agent</a:t>
            </a:r>
            <a:r>
              <a:rPr sz="1250">
                <a:solidFill>
                  <a:srgbClr val="D6DEEB"/>
                </a:solidFill>
                <a:latin typeface="Consolas"/>
              </a:rPr>
              <a:t>(name=</a:t>
            </a:r>
            <a:r>
              <a:rPr sz="1250">
                <a:solidFill>
                  <a:srgbClr val="E5A57A"/>
                </a:solidFill>
                <a:latin typeface="Consolas"/>
              </a:rPr>
              <a:t>"ReviewerAgent"</a:t>
            </a:r>
            <a:r>
              <a:rPr sz="1250">
                <a:solidFill>
                  <a:srgbClr val="D6DEEB"/>
                </a:solidFill>
                <a:latin typeface="Consolas"/>
              </a:rPr>
              <a:t>, client=client,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         instructions=</a:t>
            </a:r>
            <a:r>
              <a:rPr sz="1250">
                <a:solidFill>
                  <a:srgbClr val="E5A57A"/>
                </a:solidFill>
                <a:latin typeface="Consolas"/>
              </a:rPr>
              <a:t>"Review the poem in one sentence."</a:t>
            </a: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FFCE5C"/>
                </a:solidFill>
                <a:latin typeface="Consolas"/>
              </a:rPr>
              <a:t>@workflow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async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7AA2F7"/>
                </a:solidFill>
                <a:latin typeface="Consolas"/>
              </a:rPr>
              <a:t>def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B4C9FF"/>
                </a:solidFill>
                <a:latin typeface="Consolas"/>
              </a:rPr>
              <a:t>poem_workflow</a:t>
            </a:r>
            <a:r>
              <a:rPr sz="1250">
                <a:solidFill>
                  <a:srgbClr val="D6DEEB"/>
                </a:solidFill>
                <a:latin typeface="Consolas"/>
              </a:rPr>
              <a:t>(topic: str) -&gt; str: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poem = (</a:t>
            </a:r>
            <a:r>
              <a:rPr sz="1250">
                <a:solidFill>
                  <a:srgbClr val="7AA2F7"/>
                </a:solidFill>
                <a:latin typeface="Consolas"/>
              </a:rPr>
              <a:t>await</a:t>
            </a:r>
            <a:r>
              <a:rPr sz="1250">
                <a:solidFill>
                  <a:srgbClr val="D6DEEB"/>
                </a:solidFill>
                <a:latin typeface="Consolas"/>
              </a:rPr>
              <a:t> writer.</a:t>
            </a:r>
            <a:r>
              <a:rPr sz="1250">
                <a:solidFill>
                  <a:srgbClr val="B4C9FF"/>
                </a:solidFill>
                <a:latin typeface="Consolas"/>
              </a:rPr>
              <a:t>run</a:t>
            </a:r>
            <a:r>
              <a:rPr sz="1250">
                <a:solidFill>
                  <a:srgbClr val="D6DEEB"/>
                </a:solidFill>
                <a:latin typeface="Consolas"/>
              </a:rPr>
              <a:t>(f</a:t>
            </a:r>
            <a:r>
              <a:rPr sz="1250">
                <a:solidFill>
                  <a:srgbClr val="E5A57A"/>
                </a:solidFill>
                <a:latin typeface="Consolas"/>
              </a:rPr>
              <a:t>"Write about: {topic}"</a:t>
            </a:r>
            <a:r>
              <a:rPr sz="1250">
                <a:solidFill>
                  <a:srgbClr val="D6DEEB"/>
                </a:solidFill>
                <a:latin typeface="Consolas"/>
              </a:rPr>
              <a:t>)).text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review = (</a:t>
            </a:r>
            <a:r>
              <a:rPr sz="1250">
                <a:solidFill>
                  <a:srgbClr val="7AA2F7"/>
                </a:solidFill>
                <a:latin typeface="Consolas"/>
              </a:rPr>
              <a:t>await</a:t>
            </a:r>
            <a:r>
              <a:rPr sz="1250">
                <a:solidFill>
                  <a:srgbClr val="D6DEEB"/>
                </a:solidFill>
                <a:latin typeface="Consolas"/>
              </a:rPr>
              <a:t> reviewer.</a:t>
            </a:r>
            <a:r>
              <a:rPr sz="1250">
                <a:solidFill>
                  <a:srgbClr val="B4C9FF"/>
                </a:solidFill>
                <a:latin typeface="Consolas"/>
              </a:rPr>
              <a:t>run</a:t>
            </a:r>
            <a:r>
              <a:rPr sz="1250">
                <a:solidFill>
                  <a:srgbClr val="D6DEEB"/>
                </a:solidFill>
                <a:latin typeface="Consolas"/>
              </a:rPr>
              <a:t>(f</a:t>
            </a:r>
            <a:r>
              <a:rPr sz="1250">
                <a:solidFill>
                  <a:srgbClr val="E5A57A"/>
                </a:solidFill>
                <a:latin typeface="Consolas"/>
              </a:rPr>
              <a:t>"Review: {poem}"</a:t>
            </a:r>
            <a:r>
              <a:rPr sz="1250">
                <a:solidFill>
                  <a:srgbClr val="D6DEEB"/>
                </a:solidFill>
                <a:latin typeface="Consolas"/>
              </a:rPr>
              <a:t>)).text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7AA2F7"/>
                </a:solidFill>
                <a:latin typeface="Consolas"/>
              </a:rPr>
              <a:t>return</a:t>
            </a:r>
            <a:r>
              <a:rPr sz="1250">
                <a:solidFill>
                  <a:srgbClr val="D6DEEB"/>
                </a:solidFill>
                <a:latin typeface="Consolas"/>
              </a:rPr>
              <a:t> f</a:t>
            </a:r>
            <a:r>
              <a:rPr sz="1250">
                <a:solidFill>
                  <a:srgbClr val="E5A57A"/>
                </a:solidFill>
                <a:latin typeface="Consolas"/>
              </a:rPr>
              <a:t>"{poem}\n\nReview: {review}"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result = </a:t>
            </a:r>
            <a:r>
              <a:rPr sz="1250">
                <a:solidFill>
                  <a:srgbClr val="7AA2F7"/>
                </a:solidFill>
                <a:latin typeface="Consolas"/>
              </a:rPr>
              <a:t>await</a:t>
            </a:r>
            <a:r>
              <a:rPr sz="1250">
                <a:solidFill>
                  <a:srgbClr val="D6DEEB"/>
                </a:solidFill>
                <a:latin typeface="Consolas"/>
              </a:rPr>
              <a:t> poem_workflow.</a:t>
            </a:r>
            <a:r>
              <a:rPr sz="1250">
                <a:solidFill>
                  <a:srgbClr val="B4C9FF"/>
                </a:solidFill>
                <a:latin typeface="Consolas"/>
              </a:rPr>
              <a:t>run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E5A57A"/>
                </a:solidFill>
                <a:latin typeface="Consolas"/>
              </a:rPr>
              <a:t>"a cat learning to code"</a:t>
            </a: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B4C9FF"/>
                </a:solidFill>
                <a:latin typeface="Consolas"/>
              </a:rPr>
              <a:t>print</a:t>
            </a:r>
            <a:r>
              <a:rPr sz="1250">
                <a:solidFill>
                  <a:srgbClr val="D6DEEB"/>
                </a:solidFill>
                <a:latin typeface="Consolas"/>
              </a:rPr>
              <a:t>(result.</a:t>
            </a:r>
            <a:r>
              <a:rPr sz="1250">
                <a:solidFill>
                  <a:srgbClr val="B4C9FF"/>
                </a:solidFill>
                <a:latin typeface="Consolas"/>
              </a:rPr>
              <a:t>get_outputs</a:t>
            </a:r>
            <a:r>
              <a:rPr sz="1250">
                <a:solidFill>
                  <a:srgbClr val="D6DEEB"/>
                </a:solidFill>
                <a:latin typeface="Consolas"/>
              </a:rPr>
              <a:t>()[</a:t>
            </a:r>
            <a:r>
              <a:rPr sz="1250">
                <a:solidFill>
                  <a:srgbClr val="86E1A0"/>
                </a:solidFill>
                <a:latin typeface="Consolas"/>
              </a:rPr>
              <a:t>0</a:t>
            </a:r>
            <a:r>
              <a:rPr sz="1250">
                <a:solidFill>
                  <a:srgbClr val="D6DEEB"/>
                </a:solidFill>
                <a:latin typeface="Consolas"/>
              </a:rPr>
              <a:t>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54112" y="1883664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10144" y="1783080"/>
            <a:ext cx="34930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It reads like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0144" y="2066543"/>
            <a:ext cx="34930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Because it is. Control flow is if/for/await.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4112" y="2743199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0144" y="2642615"/>
            <a:ext cx="34930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Agents are just callables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2926079"/>
            <a:ext cx="34930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Compose them however you compose functions.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54112" y="3602735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10144" y="3502151"/>
            <a:ext cx="34930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Outputs are a collection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3785615"/>
            <a:ext cx="34930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get_outputs() — a run can yield more than 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2" y="4462272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10144" y="4361688"/>
            <a:ext cx="34930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Best first choice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4645151"/>
            <a:ext cx="34930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Reach for graphs when you need topology, not before.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EXAMPLES/07_GRAPH_WORKFLOW.PY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Graph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6675120" cy="3765423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41148" cy="3765423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56232"/>
            <a:ext cx="6309359" cy="349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class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50E6FF"/>
                </a:solidFill>
                <a:latin typeface="Consolas"/>
              </a:rPr>
              <a:t>UpperCase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50E6FF"/>
                </a:solidFill>
                <a:latin typeface="Consolas"/>
              </a:rPr>
              <a:t>Executor</a:t>
            </a:r>
            <a:r>
              <a:rPr sz="1250">
                <a:solidFill>
                  <a:srgbClr val="D6DEEB"/>
                </a:solidFill>
                <a:latin typeface="Consolas"/>
              </a:rPr>
              <a:t>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FFCE5C"/>
                </a:solidFill>
                <a:latin typeface="Consolas"/>
              </a:rPr>
              <a:t>@handler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7AA2F7"/>
                </a:solidFill>
                <a:latin typeface="Consolas"/>
              </a:rPr>
              <a:t>async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7AA2F7"/>
                </a:solidFill>
                <a:latin typeface="Consolas"/>
              </a:rPr>
              <a:t>def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B4C9FF"/>
                </a:solidFill>
                <a:latin typeface="Consolas"/>
              </a:rPr>
              <a:t>to_upper</a:t>
            </a:r>
            <a:r>
              <a:rPr sz="1250">
                <a:solidFill>
                  <a:srgbClr val="D6DEEB"/>
                </a:solidFill>
                <a:latin typeface="Consolas"/>
              </a:rPr>
              <a:t>(self, text: str, ctx: </a:t>
            </a:r>
            <a:r>
              <a:rPr sz="1250">
                <a:solidFill>
                  <a:srgbClr val="50E6FF"/>
                </a:solidFill>
                <a:latin typeface="Consolas"/>
              </a:rPr>
              <a:t>WorkflowContext</a:t>
            </a:r>
            <a:r>
              <a:rPr sz="1250">
                <a:solidFill>
                  <a:srgbClr val="D6DEEB"/>
                </a:solidFill>
                <a:latin typeface="Consolas"/>
              </a:rPr>
              <a:t>[str]):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</a:t>
            </a:r>
            <a:r>
              <a:rPr sz="1250">
                <a:solidFill>
                  <a:srgbClr val="7AA2F7"/>
                </a:solidFill>
                <a:latin typeface="Consolas"/>
              </a:rPr>
              <a:t>await</a:t>
            </a:r>
            <a:r>
              <a:rPr sz="1250">
                <a:solidFill>
                  <a:srgbClr val="D6DEEB"/>
                </a:solidFill>
                <a:latin typeface="Consolas"/>
              </a:rPr>
              <a:t> ctx.</a:t>
            </a:r>
            <a:r>
              <a:rPr sz="1250">
                <a:solidFill>
                  <a:srgbClr val="B4C9FF"/>
                </a:solidFill>
                <a:latin typeface="Consolas"/>
              </a:rPr>
              <a:t>send_message</a:t>
            </a:r>
            <a:r>
              <a:rPr sz="1250">
                <a:solidFill>
                  <a:srgbClr val="D6DEEB"/>
                </a:solidFill>
                <a:latin typeface="Consolas"/>
              </a:rPr>
              <a:t>(text.</a:t>
            </a:r>
            <a:r>
              <a:rPr sz="1250">
                <a:solidFill>
                  <a:srgbClr val="B4C9FF"/>
                </a:solidFill>
                <a:latin typeface="Consolas"/>
              </a:rPr>
              <a:t>upper</a:t>
            </a:r>
            <a:r>
              <a:rPr sz="1250">
                <a:solidFill>
                  <a:srgbClr val="D6DEEB"/>
                </a:solidFill>
                <a:latin typeface="Consolas"/>
              </a:rPr>
              <a:t>())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FFCE5C"/>
                </a:solidFill>
                <a:latin typeface="Consolas"/>
              </a:rPr>
              <a:t>@executor</a:t>
            </a:r>
            <a:r>
              <a:rPr sz="1250">
                <a:solidFill>
                  <a:srgbClr val="D6DEEB"/>
                </a:solidFill>
                <a:latin typeface="Consolas"/>
              </a:rPr>
              <a:t>(id=</a:t>
            </a:r>
            <a:r>
              <a:rPr sz="1250">
                <a:solidFill>
                  <a:srgbClr val="E5A57A"/>
                </a:solidFill>
                <a:latin typeface="Consolas"/>
              </a:rPr>
              <a:t>"reverse_text"</a:t>
            </a: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async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7AA2F7"/>
                </a:solidFill>
                <a:latin typeface="Consolas"/>
              </a:rPr>
              <a:t>def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B4C9FF"/>
                </a:solidFill>
                <a:latin typeface="Consolas"/>
              </a:rPr>
              <a:t>reverse_text</a:t>
            </a:r>
            <a:r>
              <a:rPr sz="1250">
                <a:solidFill>
                  <a:srgbClr val="D6DEEB"/>
                </a:solidFill>
                <a:latin typeface="Consolas"/>
              </a:rPr>
              <a:t>(text: str, ctx: </a:t>
            </a:r>
            <a:r>
              <a:rPr sz="1250">
                <a:solidFill>
                  <a:srgbClr val="50E6FF"/>
                </a:solidFill>
                <a:latin typeface="Consolas"/>
              </a:rPr>
              <a:t>WorkflowContext</a:t>
            </a:r>
            <a:r>
              <a:rPr sz="1250">
                <a:solidFill>
                  <a:srgbClr val="D6DEEB"/>
                </a:solidFill>
                <a:latin typeface="Consolas"/>
              </a:rPr>
              <a:t>[</a:t>
            </a:r>
            <a:r>
              <a:rPr sz="1250">
                <a:solidFill>
                  <a:srgbClr val="50E6FF"/>
                </a:solidFill>
                <a:latin typeface="Consolas"/>
              </a:rPr>
              <a:t>Never</a:t>
            </a:r>
            <a:r>
              <a:rPr sz="1250">
                <a:solidFill>
                  <a:srgbClr val="D6DEEB"/>
                </a:solidFill>
                <a:latin typeface="Consolas"/>
              </a:rPr>
              <a:t>, str]):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7AA2F7"/>
                </a:solidFill>
                <a:latin typeface="Consolas"/>
              </a:rPr>
              <a:t>await</a:t>
            </a:r>
            <a:r>
              <a:rPr sz="1250">
                <a:solidFill>
                  <a:srgbClr val="D6DEEB"/>
                </a:solidFill>
                <a:latin typeface="Consolas"/>
              </a:rPr>
              <a:t> ctx.</a:t>
            </a:r>
            <a:r>
              <a:rPr sz="1250">
                <a:solidFill>
                  <a:srgbClr val="B4C9FF"/>
                </a:solidFill>
                <a:latin typeface="Consolas"/>
              </a:rPr>
              <a:t>yield_output</a:t>
            </a:r>
            <a:r>
              <a:rPr sz="1250">
                <a:solidFill>
                  <a:srgbClr val="D6DEEB"/>
                </a:solidFill>
                <a:latin typeface="Consolas"/>
              </a:rPr>
              <a:t>(text[::-</a:t>
            </a:r>
            <a:r>
              <a:rPr sz="1250">
                <a:solidFill>
                  <a:srgbClr val="86E1A0"/>
                </a:solidFill>
                <a:latin typeface="Consolas"/>
              </a:rPr>
              <a:t>1</a:t>
            </a:r>
            <a:r>
              <a:rPr sz="1250">
                <a:solidFill>
                  <a:srgbClr val="D6DEEB"/>
                </a:solidFill>
                <a:latin typeface="Consolas"/>
              </a:rPr>
              <a:t>])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upper = </a:t>
            </a:r>
            <a:r>
              <a:rPr sz="1250">
                <a:solidFill>
                  <a:srgbClr val="50E6FF"/>
                </a:solidFill>
                <a:latin typeface="Consolas"/>
              </a:rPr>
              <a:t>UpperCase</a:t>
            </a:r>
            <a:r>
              <a:rPr sz="1250">
                <a:solidFill>
                  <a:srgbClr val="D6DEEB"/>
                </a:solidFill>
                <a:latin typeface="Consolas"/>
              </a:rPr>
              <a:t>(id=</a:t>
            </a:r>
            <a:r>
              <a:rPr sz="1250">
                <a:solidFill>
                  <a:srgbClr val="E5A57A"/>
                </a:solidFill>
                <a:latin typeface="Consolas"/>
              </a:rPr>
              <a:t>"upper_case"</a:t>
            </a: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wf = (</a:t>
            </a:r>
            <a:r>
              <a:rPr sz="1250">
                <a:solidFill>
                  <a:srgbClr val="50E6FF"/>
                </a:solidFill>
                <a:latin typeface="Consolas"/>
              </a:rPr>
              <a:t>WorkflowBuilder</a:t>
            </a:r>
            <a:r>
              <a:rPr sz="1250">
                <a:solidFill>
                  <a:srgbClr val="D6DEEB"/>
                </a:solidFill>
                <a:latin typeface="Consolas"/>
              </a:rPr>
              <a:t>(start_executor=upper)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.</a:t>
            </a:r>
            <a:r>
              <a:rPr sz="1250">
                <a:solidFill>
                  <a:srgbClr val="B4C9FF"/>
                </a:solidFill>
                <a:latin typeface="Consolas"/>
              </a:rPr>
              <a:t>add_edge</a:t>
            </a:r>
            <a:r>
              <a:rPr sz="1250">
                <a:solidFill>
                  <a:srgbClr val="D6DEEB"/>
                </a:solidFill>
                <a:latin typeface="Consolas"/>
              </a:rPr>
              <a:t>(upper, reverse_text)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.</a:t>
            </a:r>
            <a:r>
              <a:rPr sz="1250">
                <a:solidFill>
                  <a:srgbClr val="B4C9FF"/>
                </a:solidFill>
                <a:latin typeface="Consolas"/>
              </a:rPr>
              <a:t>build</a:t>
            </a:r>
            <a:r>
              <a:rPr sz="1250">
                <a:solidFill>
                  <a:srgbClr val="D6DEEB"/>
                </a:solidFill>
                <a:latin typeface="Consolas"/>
              </a:rPr>
              <a:t>())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events = </a:t>
            </a:r>
            <a:r>
              <a:rPr sz="1250">
                <a:solidFill>
                  <a:srgbClr val="7AA2F7"/>
                </a:solidFill>
                <a:latin typeface="Consolas"/>
              </a:rPr>
              <a:t>await</a:t>
            </a:r>
            <a:r>
              <a:rPr sz="1250">
                <a:solidFill>
                  <a:srgbClr val="D6DEEB"/>
                </a:solidFill>
                <a:latin typeface="Consolas"/>
              </a:rPr>
              <a:t> wf.</a:t>
            </a:r>
            <a:r>
              <a:rPr sz="1250">
                <a:solidFill>
                  <a:srgbClr val="B4C9FF"/>
                </a:solidFill>
                <a:latin typeface="Consolas"/>
              </a:rPr>
              <a:t>run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E5A57A"/>
                </a:solidFill>
                <a:latin typeface="Consolas"/>
              </a:rPr>
              <a:t>"hello world"</a:t>
            </a:r>
            <a:r>
              <a:rPr sz="1250">
                <a:solidFill>
                  <a:srgbClr val="D6DEEB"/>
                </a:solidFill>
                <a:latin typeface="Consolas"/>
              </a:rPr>
              <a:t>)   </a:t>
            </a:r>
            <a:r>
              <a:rPr sz="1250">
                <a:solidFill>
                  <a:srgbClr val="64748B"/>
                </a:solidFill>
                <a:latin typeface="Consolas"/>
              </a:rPr>
              <a:t># ['DLROW OLLEH']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54112" y="1783080"/>
            <a:ext cx="3749039" cy="713232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E8EDF5"/>
                </a:solidFill>
                <a:latin typeface="Segoe UI"/>
              </a:rPr>
              <a:t>upper_case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7AC"/>
                </a:solidFill>
                <a:latin typeface="Segoe UI"/>
              </a:rPr>
              <a:t>Executor + @handler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491472" y="2578608"/>
            <a:ext cx="274320" cy="365760"/>
          </a:xfrm>
          <a:prstGeom prst="downArrow">
            <a:avLst>
              <a:gd name="adj1" fmla="val 42000"/>
              <a:gd name="adj2" fmla="val 55000"/>
            </a:avLst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54112" y="3017520"/>
            <a:ext cx="3749039" cy="713232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E8EDF5"/>
                </a:solidFill>
                <a:latin typeface="Segoe UI"/>
              </a:rPr>
              <a:t>reverse_text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7AC"/>
                </a:solidFill>
                <a:latin typeface="Segoe UI"/>
              </a:rPr>
              <a:t>@executor → yield_output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931920"/>
            <a:ext cx="374903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Nodes are executors, edges route messages. send_message passes on; yield_output ends the run with a result.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112" y="5029200"/>
            <a:ext cx="27432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4ADE80"/>
                </a:solidFill>
                <a:latin typeface="Segoe UI"/>
              </a:rPr>
              <a:t>runs with no model at all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Orchestration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3456432" cy="129844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783080"/>
            <a:ext cx="3456432" cy="5029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002536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Sequential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5000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0E6FF"/>
                </a:solidFill>
                <a:latin typeface="Consolas"/>
              </a:rPr>
              <a:t>SequentialBuilder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60904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A → B → C. Pipelines, review chains.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56432" cy="129844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56432" cy="50292"/>
          </a:xfrm>
          <a:prstGeom prst="rect">
            <a:avLst/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2002536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Concurrent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5000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7CF6"/>
                </a:solidFill>
                <a:latin typeface="Consolas"/>
              </a:rPr>
              <a:t>ConcurrentBuilder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660904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Fan out, gather, aggregate.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783080"/>
            <a:ext cx="3456432" cy="129844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28431" y="1783080"/>
            <a:ext cx="3456432" cy="5029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2002536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Handoff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35000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BBF24"/>
                </a:solidFill>
                <a:latin typeface="Consolas"/>
              </a:rPr>
              <a:t>HandoffBuilder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660904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Route to the specialist, transfer control.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264408"/>
            <a:ext cx="3456432" cy="129844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3264408"/>
            <a:ext cx="3456432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3483864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Group 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8313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DE80"/>
                </a:solidFill>
                <a:latin typeface="Consolas"/>
              </a:rPr>
              <a:t>GroupChatBuilder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142232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Shared transcript, managed turn-taking.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0832" y="3264408"/>
            <a:ext cx="3456432" cy="129844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70832" y="3264408"/>
            <a:ext cx="3456432" cy="5029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45152" y="3483864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Magentic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38313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B7185"/>
                </a:solidFill>
                <a:latin typeface="Consolas"/>
              </a:rPr>
              <a:t>MagenticBuilder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4142232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A manager plans and delegates dynamically.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1" y="3264408"/>
            <a:ext cx="3456432" cy="1298448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02752" y="34747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0E6FF"/>
                </a:solidFill>
                <a:latin typeface="Segoe UI"/>
              </a:rPr>
              <a:t>PICK THE DULLEST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3803904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B97AC"/>
                </a:solidFill>
                <a:latin typeface="Segoe UI"/>
              </a:rPr>
              <a:t>Cost and unpredictability climb as you go down this list.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029200"/>
            <a:ext cx="10765231" cy="9144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3232" y="5029200"/>
            <a:ext cx="50292" cy="9144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9264" y="5175504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BBF24"/>
                </a:solidFill>
                <a:latin typeface="Segoe UI"/>
              </a:rPr>
              <a:t>SEQUENCING ADVICE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" y="5449824"/>
            <a:ext cx="103080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Start sequential. Move to concurrent when latency hurts. Reach for magentic only when you genuinely cannot enumerate the steps — it is the most capable and the least predictable option here.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EXAMPLES/08_CONCURRENT_ORCHESTRATION.PY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Fan-out, fan-in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6675120" cy="3539998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41148" cy="353999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56232"/>
            <a:ext cx="6309359" cy="326567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from</a:t>
            </a:r>
            <a:r>
              <a:rPr sz="1250">
                <a:solidFill>
                  <a:srgbClr val="D6DEEB"/>
                </a:solidFill>
                <a:latin typeface="Consolas"/>
              </a:rPr>
              <a:t> agent_framework.orchestrations </a:t>
            </a:r>
            <a:r>
              <a:rPr sz="1250">
                <a:solidFill>
                  <a:srgbClr val="7AA2F7"/>
                </a:solidFill>
                <a:latin typeface="Consolas"/>
              </a:rPr>
              <a:t>import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50E6FF"/>
                </a:solidFill>
                <a:latin typeface="Consolas"/>
              </a:rPr>
              <a:t>ConcurrentBuilder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researcher = </a:t>
            </a:r>
            <a:r>
              <a:rPr sz="1250">
                <a:solidFill>
                  <a:srgbClr val="50E6FF"/>
                </a:solidFill>
                <a:latin typeface="Consolas"/>
              </a:rPr>
              <a:t>Agent</a:t>
            </a:r>
            <a:r>
              <a:rPr sz="1250">
                <a:solidFill>
                  <a:srgbClr val="D6DEEB"/>
                </a:solidFill>
                <a:latin typeface="Consolas"/>
              </a:rPr>
              <a:t>(client=client, name=</a:t>
            </a:r>
            <a:r>
              <a:rPr sz="1250">
                <a:solidFill>
                  <a:srgbClr val="E5A57A"/>
                </a:solidFill>
                <a:latin typeface="Consolas"/>
              </a:rPr>
              <a:t>"researcher"</a:t>
            </a:r>
            <a:r>
              <a:rPr sz="125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           instructions=</a:t>
            </a:r>
            <a:r>
              <a:rPr sz="1250">
                <a:solidFill>
                  <a:srgbClr val="E5A57A"/>
                </a:solidFill>
                <a:latin typeface="Consolas"/>
              </a:rPr>
              <a:t>"Concise, factual market insights."</a:t>
            </a:r>
            <a:r>
              <a:rPr sz="125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           default_options={</a:t>
            </a:r>
            <a:r>
              <a:rPr sz="1250">
                <a:solidFill>
                  <a:srgbClr val="E5A57A"/>
                </a:solidFill>
                <a:latin typeface="Consolas"/>
              </a:rPr>
              <a:t>"max_tokens"</a:t>
            </a:r>
            <a:r>
              <a:rPr sz="1250">
                <a:solidFill>
                  <a:srgbClr val="D6DEEB"/>
                </a:solidFill>
                <a:latin typeface="Consolas"/>
              </a:rPr>
              <a:t>: </a:t>
            </a:r>
            <a:r>
              <a:rPr sz="1250">
                <a:solidFill>
                  <a:srgbClr val="86E1A0"/>
                </a:solidFill>
                <a:latin typeface="Consolas"/>
              </a:rPr>
              <a:t>500</a:t>
            </a:r>
            <a:r>
              <a:rPr sz="1250">
                <a:solidFill>
                  <a:srgbClr val="D6DEEB"/>
                </a:solidFill>
                <a:latin typeface="Consolas"/>
              </a:rPr>
              <a:t>})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marketer   = </a:t>
            </a:r>
            <a:r>
              <a:rPr sz="1250">
                <a:solidFill>
                  <a:srgbClr val="50E6FF"/>
                </a:solidFill>
                <a:latin typeface="Consolas"/>
              </a:rPr>
              <a:t>Agent</a:t>
            </a:r>
            <a:r>
              <a:rPr sz="1250">
                <a:solidFill>
                  <a:srgbClr val="D6DEEB"/>
                </a:solidFill>
                <a:latin typeface="Consolas"/>
              </a:rPr>
              <a:t>(..., name=</a:t>
            </a:r>
            <a:r>
              <a:rPr sz="1250">
                <a:solidFill>
                  <a:srgbClr val="E5A57A"/>
                </a:solidFill>
                <a:latin typeface="Consolas"/>
              </a:rPr>
              <a:t>"marketer"</a:t>
            </a: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legal      = </a:t>
            </a:r>
            <a:r>
              <a:rPr sz="1250">
                <a:solidFill>
                  <a:srgbClr val="50E6FF"/>
                </a:solidFill>
                <a:latin typeface="Consolas"/>
              </a:rPr>
              <a:t>Agent</a:t>
            </a:r>
            <a:r>
              <a:rPr sz="1250">
                <a:solidFill>
                  <a:srgbClr val="D6DEEB"/>
                </a:solidFill>
                <a:latin typeface="Consolas"/>
              </a:rPr>
              <a:t>(..., name=</a:t>
            </a:r>
            <a:r>
              <a:rPr sz="1250">
                <a:solidFill>
                  <a:srgbClr val="E5A57A"/>
                </a:solidFill>
                <a:latin typeface="Consolas"/>
              </a:rPr>
              <a:t>"legal"</a:t>
            </a: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workflow = </a:t>
            </a:r>
            <a:r>
              <a:rPr sz="1250">
                <a:solidFill>
                  <a:srgbClr val="50E6FF"/>
                </a:solidFill>
                <a:latin typeface="Consolas"/>
              </a:rPr>
              <a:t>ConcurrentBuilder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participants=[researcher, marketer, legal]).</a:t>
            </a:r>
            <a:r>
              <a:rPr sz="1250">
                <a:solidFill>
                  <a:srgbClr val="B4C9FF"/>
                </a:solidFill>
                <a:latin typeface="Consolas"/>
              </a:rPr>
              <a:t>build</a:t>
            </a:r>
            <a:r>
              <a:rPr sz="1250">
                <a:solidFill>
                  <a:srgbClr val="D6DEEB"/>
                </a:solidFill>
                <a:latin typeface="Consolas"/>
              </a:rPr>
              <a:t>()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events = </a:t>
            </a:r>
            <a:r>
              <a:rPr sz="1250">
                <a:solidFill>
                  <a:srgbClr val="7AA2F7"/>
                </a:solidFill>
                <a:latin typeface="Consolas"/>
              </a:rPr>
              <a:t>await</a:t>
            </a:r>
            <a:r>
              <a:rPr sz="1250">
                <a:solidFill>
                  <a:srgbClr val="D6DEEB"/>
                </a:solidFill>
                <a:latin typeface="Consolas"/>
              </a:rPr>
              <a:t> workflow.</a:t>
            </a:r>
            <a:r>
              <a:rPr sz="1250">
                <a:solidFill>
                  <a:srgbClr val="B4C9FF"/>
                </a:solidFill>
                <a:latin typeface="Consolas"/>
              </a:rPr>
              <a:t>run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E5A57A"/>
                </a:solidFill>
                <a:latin typeface="Consolas"/>
              </a:rPr>
              <a:t>"We are launching a budget e-bike."</a:t>
            </a: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for</a:t>
            </a:r>
            <a:r>
              <a:rPr sz="1250">
                <a:solidFill>
                  <a:srgbClr val="D6DEEB"/>
                </a:solidFill>
                <a:latin typeface="Consolas"/>
              </a:rPr>
              <a:t> msg </a:t>
            </a:r>
            <a:r>
              <a:rPr sz="1250">
                <a:solidFill>
                  <a:srgbClr val="7AA2F7"/>
                </a:solidFill>
                <a:latin typeface="Consolas"/>
              </a:rPr>
              <a:t>in</a:t>
            </a:r>
            <a:r>
              <a:rPr sz="1250">
                <a:solidFill>
                  <a:srgbClr val="D6DEEB"/>
                </a:solidFill>
                <a:latin typeface="Consolas"/>
              </a:rPr>
              <a:t> events.</a:t>
            </a:r>
            <a:r>
              <a:rPr sz="1250">
                <a:solidFill>
                  <a:srgbClr val="B4C9FF"/>
                </a:solidFill>
                <a:latin typeface="Consolas"/>
              </a:rPr>
              <a:t>get_outputs</a:t>
            </a:r>
            <a:r>
              <a:rPr sz="1250">
                <a:solidFill>
                  <a:srgbClr val="D6DEEB"/>
                </a:solidFill>
                <a:latin typeface="Consolas"/>
              </a:rPr>
              <a:t>()[</a:t>
            </a:r>
            <a:r>
              <a:rPr sz="1250">
                <a:solidFill>
                  <a:srgbClr val="86E1A0"/>
                </a:solidFill>
                <a:latin typeface="Consolas"/>
              </a:rPr>
              <a:t>0</a:t>
            </a:r>
            <a:r>
              <a:rPr sz="1250">
                <a:solidFill>
                  <a:srgbClr val="D6DEEB"/>
                </a:solidFill>
                <a:latin typeface="Consolas"/>
              </a:rPr>
              <a:t>].messages: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B4C9FF"/>
                </a:solidFill>
                <a:latin typeface="Consolas"/>
              </a:rPr>
              <a:t>print</a:t>
            </a:r>
            <a:r>
              <a:rPr sz="1250">
                <a:solidFill>
                  <a:srgbClr val="D6DEEB"/>
                </a:solidFill>
                <a:latin typeface="Consolas"/>
              </a:rPr>
              <a:t>(msg.author_name, msg.text)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05672" y="1828800"/>
            <a:ext cx="1645920" cy="548640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E8EDF5"/>
                </a:solidFill>
                <a:latin typeface="Segoe UI"/>
              </a:rPr>
              <a:t>prompt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238744" y="2487168"/>
            <a:ext cx="201168" cy="347472"/>
          </a:xfrm>
          <a:prstGeom prst="downArrow">
            <a:avLst>
              <a:gd name="adj1" fmla="val 42000"/>
              <a:gd name="adj2" fmla="val 55000"/>
            </a:avLst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54112" y="2944368"/>
            <a:ext cx="1170432" cy="7315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E8EDF5"/>
                </a:solidFill>
                <a:latin typeface="Segoe UI"/>
              </a:rPr>
              <a:t>researcher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238744" y="3767328"/>
            <a:ext cx="201168" cy="347472"/>
          </a:xfrm>
          <a:prstGeom prst="downArrow">
            <a:avLst>
              <a:gd name="adj1" fmla="val 42000"/>
              <a:gd name="adj2" fmla="val 55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9528048" y="2487168"/>
            <a:ext cx="201168" cy="347472"/>
          </a:xfrm>
          <a:prstGeom prst="downArrow">
            <a:avLst>
              <a:gd name="adj1" fmla="val 42000"/>
              <a:gd name="adj2" fmla="val 55000"/>
            </a:avLst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43416" y="2944368"/>
            <a:ext cx="1170432" cy="7315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E8EDF5"/>
                </a:solidFill>
                <a:latin typeface="Segoe UI"/>
              </a:rPr>
              <a:t>marketer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528048" y="3767328"/>
            <a:ext cx="201168" cy="347472"/>
          </a:xfrm>
          <a:prstGeom prst="downArrow">
            <a:avLst>
              <a:gd name="adj1" fmla="val 42000"/>
              <a:gd name="adj2" fmla="val 55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10817352" y="2487168"/>
            <a:ext cx="201168" cy="347472"/>
          </a:xfrm>
          <a:prstGeom prst="downArrow">
            <a:avLst>
              <a:gd name="adj1" fmla="val 42000"/>
              <a:gd name="adj2" fmla="val 55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332720" y="2944368"/>
            <a:ext cx="1170432" cy="7315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E8EDF5"/>
                </a:solidFill>
                <a:latin typeface="Segoe UI"/>
              </a:rPr>
              <a:t>legal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0817352" y="3767328"/>
            <a:ext cx="201168" cy="347472"/>
          </a:xfrm>
          <a:prstGeom prst="downArrow">
            <a:avLst>
              <a:gd name="adj1" fmla="val 42000"/>
              <a:gd name="adj2" fmla="val 55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805672" y="4224528"/>
            <a:ext cx="1645920" cy="548640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E8EDF5"/>
                </a:solidFill>
                <a:latin typeface="Segoe UI"/>
              </a:rPr>
              <a:t>aggregated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4956048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C"/>
                </a:solidFill>
                <a:latin typeface="Segoe UI"/>
              </a:rPr>
              <a:t>Wall clock = the slowest participant.
author_name tells you who said what.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Demo — workflows, three 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0B0F19"/>
                </a:solidFill>
                <a:latin typeface="Segoe UI"/>
              </a:rPr>
              <a:t>▶ 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75104"/>
            <a:ext cx="6537960" cy="310896"/>
          </a:xfrm>
          <a:prstGeom prst="roundRect">
            <a:avLst>
              <a:gd name="adj" fmla="val 12000"/>
            </a:avLst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Ins="146304" bIns="36576" rtlCol="0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terminal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9424"/>
            <a:ext cx="6537960" cy="1142238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2249424"/>
            <a:ext cx="41148" cy="114223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14016"/>
            <a:ext cx="6172200" cy="8679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uv run python examples/07_graph_workflow.py     </a:t>
            </a:r>
            <a:r>
              <a:rPr sz="1300">
                <a:solidFill>
                  <a:srgbClr val="64748B"/>
                </a:solidFill>
                <a:latin typeface="Consolas"/>
              </a:rPr>
              <a:t># no model needed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uv run python examples/06_functional_workflow.py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uv run python examples/08_concurrent_orchestration.py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1481328"/>
            <a:ext cx="3952951" cy="35661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9831" y="1719072"/>
            <a:ext cx="34043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0E6FF"/>
                </a:solidFill>
                <a:latin typeface="Segoe UI"/>
              </a:rPr>
              <a:t>WHAT TO POINT 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212140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2103120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07: pure topology — executors and one edge, instant.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268833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2670048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06: two agents chained; read the code beside the output.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325526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3236976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08: three named perspectives, printed with author_name.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3822191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3803904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Add a third agent to 06 live — an editor that applies the review.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230368"/>
            <a:ext cx="10765231" cy="86868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5230368"/>
            <a:ext cx="50292" cy="86868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" y="5376672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B7185"/>
                </a:solidFill>
                <a:latin typeface="Segoe UI"/>
              </a:rPr>
              <a:t>IF THE DEMO GODS SAY 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5650992"/>
            <a:ext cx="103080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07 always runs. If the model server is struggling, do 07, then read 06 and 08 as code with the diagrams on screen.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1371600"/>
            <a:ext cx="3154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1D253A"/>
                </a:solidFill>
                <a:latin typeface="Segoe UI Light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2487168"/>
            <a:ext cx="6675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EDF5"/>
                </a:solidFill>
                <a:latin typeface="Segoe UI Light"/>
              </a:rPr>
              <a:t>Middleware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3419856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0E6FF"/>
                </a:solidFill>
                <a:latin typeface="Segoe UI"/>
              </a:rPr>
              <a:t>Cross-cutting concerns that do not belong in your agent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4133087"/>
            <a:ext cx="226771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agent vs 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4133087"/>
            <a:ext cx="1938528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three flavours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16752" y="4133087"/>
            <a:ext cx="18288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short-circuit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MIDDLEWARE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Two pipelines, two scopes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10058400" cy="2606040"/>
          </a:xfrm>
          <a:prstGeom prst="roundRect">
            <a:avLst>
              <a:gd name="adj" fmla="val 4000"/>
            </a:avLst>
          </a:prstGeom>
          <a:noFill/>
          <a:ln w="2032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938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B7CF6"/>
                </a:solidFill>
                <a:latin typeface="Segoe UI"/>
              </a:rPr>
              <a:t>AGENT MIDDLEWARE  ·  once per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6152" y="2377440"/>
            <a:ext cx="9052560" cy="1783080"/>
          </a:xfrm>
          <a:prstGeom prst="roundRect">
            <a:avLst>
              <a:gd name="adj" fmla="val 5000"/>
            </a:avLst>
          </a:prstGeom>
          <a:noFill/>
          <a:ln w="2032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90472" y="25420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BBF24"/>
                </a:solidFill>
                <a:latin typeface="Segoe UI"/>
              </a:rPr>
              <a:t>FUNCTION MIDDLEWARE  ·  once per tool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0512" y="2852928"/>
            <a:ext cx="2834640" cy="1051560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E8EDF5"/>
                </a:solidFill>
                <a:latin typeface="Segoe UI"/>
              </a:rPr>
              <a:t>model call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8B97AC"/>
                </a:solidFill>
                <a:latin typeface="Segoe UI"/>
              </a:rPr>
              <a:t>+ tool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303580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One agent middleware wraps the entire exchange — including every tool round trip inside it.
One function middleware fires per individual tool invocation.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773168"/>
            <a:ext cx="2615184" cy="10515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4773168"/>
            <a:ext cx="2615184" cy="45720"/>
          </a:xfrm>
          <a:prstGeom prst="rect">
            <a:avLst/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974336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285232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block unsafe input before it reaches the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38144" y="4773168"/>
            <a:ext cx="2615184" cy="10515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38144" y="4773168"/>
            <a:ext cx="2615184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0" y="4974336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Auth &amp; tenancy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285232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attach identity, enforce scope per tool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4773168"/>
            <a:ext cx="2615184" cy="10515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63056" y="4773168"/>
            <a:ext cx="2615184" cy="4572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4974336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Telemetry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285232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spans, timings, token accounting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87968" y="4773168"/>
            <a:ext cx="2615184" cy="10515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87968" y="4773168"/>
            <a:ext cx="2615184" cy="45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07424" y="4974336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Caching &amp; retries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5285232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short-circuit repeats, wrap flaky tools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MIDDLEWARE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Three ways to write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3456432" cy="31089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783080"/>
            <a:ext cx="3456432" cy="5029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01168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5"/>
                </a:solidFill>
                <a:latin typeface="Segoe UI"/>
              </a:rPr>
              <a:t>Class-based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432304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0E6FF"/>
                </a:solidFill>
                <a:latin typeface="Consolas"/>
              </a:rPr>
              <a:t>AgentMiddleware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883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0E6FF"/>
                </a:solidFill>
                <a:latin typeface="Consolas"/>
              </a:rPr>
              <a:t>FunctionMiddleware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10896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Stateful, testable, injectable. Reach for it when the middleware has dependencies or configuration.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4407408"/>
            <a:ext cx="146304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A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5A6780"/>
                </a:solidFill>
                <a:latin typeface="Segoe UI"/>
              </a:rPr>
              <a:t>examples/12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3456432" cy="31089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3456432" cy="50292"/>
          </a:xfrm>
          <a:prstGeom prst="rect">
            <a:avLst/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2" y="201168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5"/>
                </a:solidFill>
                <a:latin typeface="Segoe UI"/>
              </a:rPr>
              <a:t>Function-based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432304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7CF6"/>
                </a:solidFill>
                <a:latin typeface="Consolas"/>
              </a:rPr>
              <a:t>async def mw(context, call_next)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852928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Detected from the context type hint. Lightest option for stateless concerns.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5152" y="4407408"/>
            <a:ext cx="146304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A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5A6780"/>
                </a:solidFill>
                <a:latin typeface="Segoe UI"/>
              </a:rPr>
              <a:t>examples/13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1783080"/>
            <a:ext cx="3456432" cy="31089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28431" y="1783080"/>
            <a:ext cx="3456432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2752" y="201168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5"/>
                </a:solidFill>
                <a:latin typeface="Segoe UI"/>
              </a:rPr>
              <a:t>Decorator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432304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DE80"/>
                </a:solidFill>
                <a:latin typeface="Consolas"/>
              </a:rPr>
              <a:t>@agent_middleware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6883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DE80"/>
                </a:solidFill>
                <a:latin typeface="Consolas"/>
              </a:rPr>
              <a:t>@function_middleware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10896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7AC"/>
                </a:solidFill>
                <a:latin typeface="Segoe UI"/>
              </a:rPr>
              <a:t>Explicit intent, no type annotations needed. Mismatches are caught at registration.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2752" y="4407408"/>
            <a:ext cx="146304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A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5A6780"/>
                </a:solidFill>
                <a:latin typeface="Segoe UI"/>
              </a:rPr>
              <a:t>examples/14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138928"/>
            <a:ext cx="10765231" cy="834898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3232" y="5138928"/>
            <a:ext cx="41148" cy="83489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976" y="5303520"/>
            <a:ext cx="10399471" cy="5605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agent = </a:t>
            </a:r>
            <a:r>
              <a:rPr sz="1250">
                <a:solidFill>
                  <a:srgbClr val="50E6FF"/>
                </a:solidFill>
                <a:latin typeface="Consolas"/>
              </a:rPr>
              <a:t>Agent</a:t>
            </a:r>
            <a:r>
              <a:rPr sz="1250">
                <a:solidFill>
                  <a:srgbClr val="D6DEEB"/>
                </a:solidFill>
                <a:latin typeface="Consolas"/>
              </a:rPr>
              <a:t>(..., middleware=[</a:t>
            </a:r>
            <a:r>
              <a:rPr sz="1250">
                <a:solidFill>
                  <a:srgbClr val="50E6FF"/>
                </a:solidFill>
                <a:latin typeface="Consolas"/>
              </a:rPr>
              <a:t>SecurityAgentMiddleware</a:t>
            </a:r>
            <a:r>
              <a:rPr sz="1250">
                <a:solidFill>
                  <a:srgbClr val="D6DEEB"/>
                </a:solidFill>
                <a:latin typeface="Consolas"/>
              </a:rPr>
              <a:t>(), </a:t>
            </a:r>
            <a:r>
              <a:rPr sz="1250">
                <a:solidFill>
                  <a:srgbClr val="50E6FF"/>
                </a:solidFill>
                <a:latin typeface="Consolas"/>
              </a:rPr>
              <a:t>LoggingFunctionMiddleware</a:t>
            </a:r>
            <a:r>
              <a:rPr sz="1250">
                <a:solidFill>
                  <a:srgbClr val="D6DEEB"/>
                </a:solidFill>
                <a:latin typeface="Consolas"/>
              </a:rPr>
              <a:t>()])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64748B"/>
                </a:solidFill>
                <a:latin typeface="Consolas"/>
              </a:rPr>
              <a:t># both pipelines registered in one list — the framework sorts them by type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EXAMPLES/12_CLASS_BASED_MIDDLEWARE.PY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Short-circuiting: a guardrail in twelve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6949440" cy="3539998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41148" cy="353999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56232"/>
            <a:ext cx="6583679" cy="326567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class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50E6FF"/>
                </a:solidFill>
                <a:latin typeface="Consolas"/>
              </a:rPr>
              <a:t>SecurityAgentMiddleware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50E6FF"/>
                </a:solidFill>
                <a:latin typeface="Consolas"/>
              </a:rPr>
              <a:t>AgentMiddleware</a:t>
            </a:r>
            <a:r>
              <a:rPr sz="1250">
                <a:solidFill>
                  <a:srgbClr val="D6DEEB"/>
                </a:solidFill>
                <a:latin typeface="Consolas"/>
              </a:rPr>
              <a:t>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7AA2F7"/>
                </a:solidFill>
                <a:latin typeface="Consolas"/>
              </a:rPr>
              <a:t>async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7AA2F7"/>
                </a:solidFill>
                <a:latin typeface="Consolas"/>
              </a:rPr>
              <a:t>def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B4C9FF"/>
                </a:solidFill>
                <a:latin typeface="Consolas"/>
              </a:rPr>
              <a:t>process</a:t>
            </a:r>
            <a:r>
              <a:rPr sz="1250">
                <a:solidFill>
                  <a:srgbClr val="D6DEEB"/>
                </a:solidFill>
                <a:latin typeface="Consolas"/>
              </a:rPr>
              <a:t>(self, context, call_next):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last = context.messages[-</a:t>
            </a:r>
            <a:r>
              <a:rPr sz="1250">
                <a:solidFill>
                  <a:srgbClr val="86E1A0"/>
                </a:solidFill>
                <a:latin typeface="Consolas"/>
              </a:rPr>
              <a:t>1</a:t>
            </a:r>
            <a:r>
              <a:rPr sz="1250">
                <a:solidFill>
                  <a:srgbClr val="D6DEEB"/>
                </a:solidFill>
                <a:latin typeface="Consolas"/>
              </a:rPr>
              <a:t>] </a:t>
            </a:r>
            <a:r>
              <a:rPr sz="1250">
                <a:solidFill>
                  <a:srgbClr val="7AA2F7"/>
                </a:solidFill>
                <a:latin typeface="Consolas"/>
              </a:rPr>
              <a:t>if</a:t>
            </a:r>
            <a:r>
              <a:rPr sz="1250">
                <a:solidFill>
                  <a:srgbClr val="D6DEEB"/>
                </a:solidFill>
                <a:latin typeface="Consolas"/>
              </a:rPr>
              <a:t> context.messages </a:t>
            </a:r>
            <a:r>
              <a:rPr sz="1250">
                <a:solidFill>
                  <a:srgbClr val="7AA2F7"/>
                </a:solidFill>
                <a:latin typeface="Consolas"/>
              </a:rPr>
              <a:t>else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7AA2F7"/>
                </a:solidFill>
                <a:latin typeface="Consolas"/>
              </a:rPr>
              <a:t>None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</a:t>
            </a:r>
            <a:r>
              <a:rPr sz="1250">
                <a:solidFill>
                  <a:srgbClr val="7AA2F7"/>
                </a:solidFill>
                <a:latin typeface="Consolas"/>
              </a:rPr>
              <a:t>if</a:t>
            </a:r>
            <a:r>
              <a:rPr sz="1250">
                <a:solidFill>
                  <a:srgbClr val="D6DEEB"/>
                </a:solidFill>
                <a:latin typeface="Consolas"/>
              </a:rPr>
              <a:t> last </a:t>
            </a:r>
            <a:r>
              <a:rPr sz="1250">
                <a:solidFill>
                  <a:srgbClr val="7AA2F7"/>
                </a:solidFill>
                <a:latin typeface="Consolas"/>
              </a:rPr>
              <a:t>and</a:t>
            </a:r>
            <a:r>
              <a:rPr sz="1250">
                <a:solidFill>
                  <a:srgbClr val="D6DEEB"/>
                </a:solidFill>
                <a:latin typeface="Consolas"/>
              </a:rPr>
              <a:t> last.text </a:t>
            </a:r>
            <a:r>
              <a:rPr sz="1250">
                <a:solidFill>
                  <a:srgbClr val="7AA2F7"/>
                </a:solidFill>
                <a:latin typeface="Consolas"/>
              </a:rPr>
              <a:t>and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B4C9FF"/>
                </a:solidFill>
                <a:latin typeface="Consolas"/>
              </a:rPr>
              <a:t>risky</a:t>
            </a:r>
            <a:r>
              <a:rPr sz="1250">
                <a:solidFill>
                  <a:srgbClr val="D6DEEB"/>
                </a:solidFill>
                <a:latin typeface="Consolas"/>
              </a:rPr>
              <a:t>(last.text):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    context.result = </a:t>
            </a:r>
            <a:r>
              <a:rPr sz="1250">
                <a:solidFill>
                  <a:srgbClr val="50E6FF"/>
                </a:solidFill>
                <a:latin typeface="Consolas"/>
              </a:rPr>
              <a:t>AgentResponse</a:t>
            </a:r>
            <a:r>
              <a:rPr sz="1250">
                <a:solidFill>
                  <a:srgbClr val="D6DEEB"/>
                </a:solidFill>
                <a:latin typeface="Consolas"/>
              </a:rPr>
              <a:t>(messages=[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        </a:t>
            </a:r>
            <a:r>
              <a:rPr sz="1250">
                <a:solidFill>
                  <a:srgbClr val="50E6FF"/>
                </a:solidFill>
                <a:latin typeface="Consolas"/>
              </a:rPr>
              <a:t>Message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E5A57A"/>
                </a:solidFill>
                <a:latin typeface="Consolas"/>
              </a:rPr>
              <a:t>"assistant"</a:t>
            </a:r>
            <a:r>
              <a:rPr sz="1250">
                <a:solidFill>
                  <a:srgbClr val="D6DEEB"/>
                </a:solidFill>
                <a:latin typeface="Consolas"/>
              </a:rPr>
              <a:t>, [</a:t>
            </a:r>
            <a:r>
              <a:rPr sz="1250">
                <a:solidFill>
                  <a:srgbClr val="E5A57A"/>
                </a:solidFill>
                <a:latin typeface="Consolas"/>
              </a:rPr>
              <a:t>"Request blocked."</a:t>
            </a:r>
            <a:r>
              <a:rPr sz="1250">
                <a:solidFill>
                  <a:srgbClr val="D6DEEB"/>
                </a:solidFill>
                <a:latin typeface="Consolas"/>
              </a:rPr>
              <a:t>])])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    </a:t>
            </a:r>
            <a:r>
              <a:rPr sz="1250">
                <a:solidFill>
                  <a:srgbClr val="7AA2F7"/>
                </a:solidFill>
                <a:latin typeface="Consolas"/>
              </a:rPr>
              <a:t>return</a:t>
            </a:r>
            <a:r>
              <a:rPr sz="1250">
                <a:solidFill>
                  <a:srgbClr val="D6DEEB"/>
                </a:solidFill>
                <a:latin typeface="Consolas"/>
              </a:rPr>
              <a:t>          </a:t>
            </a:r>
            <a:r>
              <a:rPr sz="1250">
                <a:solidFill>
                  <a:srgbClr val="64748B"/>
                </a:solidFill>
                <a:latin typeface="Consolas"/>
              </a:rPr>
              <a:t># never call call_next → model never runs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</a:t>
            </a:r>
            <a:r>
              <a:rPr sz="1250">
                <a:solidFill>
                  <a:srgbClr val="7AA2F7"/>
                </a:solidFill>
                <a:latin typeface="Consolas"/>
              </a:rPr>
              <a:t>await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B4C9FF"/>
                </a:solidFill>
                <a:latin typeface="Consolas"/>
              </a:rPr>
              <a:t>call_next</a:t>
            </a:r>
            <a:r>
              <a:rPr sz="1250">
                <a:solidFill>
                  <a:srgbClr val="D6DEEB"/>
                </a:solidFill>
                <a:latin typeface="Consolas"/>
              </a:rPr>
              <a:t>()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class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50E6FF"/>
                </a:solidFill>
                <a:latin typeface="Consolas"/>
              </a:rPr>
              <a:t>LoggingFunctionMiddleware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50E6FF"/>
                </a:solidFill>
                <a:latin typeface="Consolas"/>
              </a:rPr>
              <a:t>FunctionMiddleware</a:t>
            </a:r>
            <a:r>
              <a:rPr sz="1250">
                <a:solidFill>
                  <a:srgbClr val="D6DEEB"/>
                </a:solidFill>
                <a:latin typeface="Consolas"/>
              </a:rPr>
              <a:t>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7AA2F7"/>
                </a:solidFill>
                <a:latin typeface="Consolas"/>
              </a:rPr>
              <a:t>async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7AA2F7"/>
                </a:solidFill>
                <a:latin typeface="Consolas"/>
              </a:rPr>
              <a:t>def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B4C9FF"/>
                </a:solidFill>
                <a:latin typeface="Consolas"/>
              </a:rPr>
              <a:t>process</a:t>
            </a:r>
            <a:r>
              <a:rPr sz="1250">
                <a:solidFill>
                  <a:srgbClr val="D6DEEB"/>
                </a:solidFill>
                <a:latin typeface="Consolas"/>
              </a:rPr>
              <a:t>(self, context, call_next):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start = time.</a:t>
            </a:r>
            <a:r>
              <a:rPr sz="1250">
                <a:solidFill>
                  <a:srgbClr val="B4C9FF"/>
                </a:solidFill>
                <a:latin typeface="Consolas"/>
              </a:rPr>
              <a:t>time</a:t>
            </a:r>
            <a:r>
              <a:rPr sz="1250">
                <a:solidFill>
                  <a:srgbClr val="D6DEEB"/>
                </a:solidFill>
                <a:latin typeface="Consolas"/>
              </a:rPr>
              <a:t>()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</a:t>
            </a:r>
            <a:r>
              <a:rPr sz="1250">
                <a:solidFill>
                  <a:srgbClr val="7AA2F7"/>
                </a:solidFill>
                <a:latin typeface="Consolas"/>
              </a:rPr>
              <a:t>await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B4C9FF"/>
                </a:solidFill>
                <a:latin typeface="Consolas"/>
              </a:rPr>
              <a:t>call_next</a:t>
            </a:r>
            <a:r>
              <a:rPr sz="1250">
                <a:solidFill>
                  <a:srgbClr val="D6DEEB"/>
                </a:solidFill>
                <a:latin typeface="Consolas"/>
              </a:rPr>
              <a:t>()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</a:t>
            </a:r>
            <a:r>
              <a:rPr sz="1250">
                <a:solidFill>
                  <a:srgbClr val="B4C9FF"/>
                </a:solidFill>
                <a:latin typeface="Consolas"/>
              </a:rPr>
              <a:t>log</a:t>
            </a:r>
            <a:r>
              <a:rPr sz="1250">
                <a:solidFill>
                  <a:srgbClr val="D6DEEB"/>
                </a:solidFill>
                <a:latin typeface="Consolas"/>
              </a:rPr>
              <a:t>(context.function.name, time.</a:t>
            </a:r>
            <a:r>
              <a:rPr sz="1250">
                <a:solidFill>
                  <a:srgbClr val="B4C9FF"/>
                </a:solidFill>
                <a:latin typeface="Consolas"/>
              </a:rPr>
              <a:t>time</a:t>
            </a:r>
            <a:r>
              <a:rPr sz="1250">
                <a:solidFill>
                  <a:srgbClr val="D6DEEB"/>
                </a:solidFill>
                <a:latin typeface="Consolas"/>
              </a:rPr>
              <a:t>() - start)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883664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3" y="178308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Return without call_next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2066543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The model is never invoked. No tokens spent.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2743199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3" y="2642615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Set context.result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2926079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Otherwise the caller gets an empty response.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3602735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3" y="3502151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Time around call_next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3785615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Before/after is where telemetry lives.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992" y="4462272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93023" y="4361688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Order is the list 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4645151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First registered is outermost.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Demo — guardrails and timing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0B0F19"/>
                </a:solidFill>
                <a:latin typeface="Segoe UI"/>
              </a:rPr>
              <a:t>▶ 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75104"/>
            <a:ext cx="6537960" cy="310896"/>
          </a:xfrm>
          <a:prstGeom prst="roundRect">
            <a:avLst>
              <a:gd name="adj" fmla="val 12000"/>
            </a:avLst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Ins="146304" bIns="36576" rtlCol="0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terminal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9424"/>
            <a:ext cx="6537960" cy="1376680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2249424"/>
            <a:ext cx="41148" cy="1376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14016"/>
            <a:ext cx="6172200" cy="1102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uv run python examples/12_class_based_middleware.py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Consolas"/>
              </a:rPr>
              <a:t># same behaviour, different ergonomics:</a:t>
            </a:r>
          </a:p>
          <a:p>
            <a:pPr>
              <a:lnSpc>
                <a:spcPts val="1846"/>
              </a:lnSpc>
              <a:spcAft>
                <a:spcPts val="0"/>
              </a:spcAft>
            </a:pPr>
            <a:r>
              <a:rPr sz="1300">
                <a:solidFill>
                  <a:srgbClr val="D6DEEB"/>
                </a:solidFill>
                <a:latin typeface="Consolas"/>
              </a:rPr>
              <a:t>uv run python examples/14_decorator_middleware.py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1481328"/>
            <a:ext cx="3952951" cy="356616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9831" y="1719072"/>
            <a:ext cx="34043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0E6FF"/>
                </a:solidFill>
                <a:latin typeface="Segoe UI"/>
              </a:rPr>
              <a:t>WHAT TO POINT 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212140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2103120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Normal query: security passes, tool runs, timing logged.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268833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2670048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"What's the password…": blocked before the model is called.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325526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3236976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Note the log ordering — outer in, inner in, inner out, outer 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3822191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078D4"/>
                </a:solidFill>
                <a:latin typeface="Segoe U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3803904"/>
            <a:ext cx="308427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14 shows the decorator form with untyped parameters.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230368"/>
            <a:ext cx="10765231" cy="86868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5230368"/>
            <a:ext cx="50292" cy="86868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" y="5376672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B7185"/>
                </a:solidFill>
                <a:latin typeface="Segoe UI"/>
              </a:rPr>
              <a:t>IF THE DEMO GODS SAY 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5650992"/>
            <a:ext cx="103080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Example 13 uses FoundryChatClient and needs `az login` — use 12 and 14, which run against the local model.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1371600"/>
            <a:ext cx="3154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1D253A"/>
                </a:solidFill>
                <a:latin typeface="Segoe UI Light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2487168"/>
            <a:ext cx="6675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EDF5"/>
                </a:solidFill>
                <a:latin typeface="Segoe UI Light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3419856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0E6FF"/>
                </a:solidFill>
                <a:latin typeface="Segoe UI"/>
              </a:rPr>
              <a:t>Structured output, hosting surfaces, observability, and the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4133087"/>
            <a:ext cx="226771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structured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4133087"/>
            <a:ext cx="117043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hosting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48656" y="4133087"/>
            <a:ext cx="7315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A2A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133087"/>
            <a:ext cx="1389888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telemetry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2672" y="4133087"/>
            <a:ext cx="128016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8B97AC"/>
                </a:solidFill>
                <a:latin typeface="Segoe UI"/>
              </a:rPr>
              <a:t>practice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EXAMPLES/10_RESPONSE_FORMAT.PY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Structured output: stop parsing prose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6766560" cy="3765423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41148" cy="3765423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56232"/>
            <a:ext cx="6400800" cy="349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class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50E6FF"/>
                </a:solidFill>
                <a:latin typeface="Consolas"/>
              </a:rPr>
              <a:t>OutputStruct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50E6FF"/>
                </a:solidFill>
                <a:latin typeface="Consolas"/>
              </a:rPr>
              <a:t>BaseModel</a:t>
            </a:r>
            <a:r>
              <a:rPr sz="1250">
                <a:solidFill>
                  <a:srgbClr val="D6DEEB"/>
                </a:solidFill>
                <a:latin typeface="Consolas"/>
              </a:rPr>
              <a:t>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city: str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description: str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agent = </a:t>
            </a:r>
            <a:r>
              <a:rPr sz="1250">
                <a:solidFill>
                  <a:srgbClr val="50E6FF"/>
                </a:solidFill>
                <a:latin typeface="Consolas"/>
              </a:rPr>
              <a:t>OpenAIChatCompletionClient</a:t>
            </a:r>
            <a:r>
              <a:rPr sz="1250">
                <a:solidFill>
                  <a:srgbClr val="D6DEEB"/>
                </a:solidFill>
                <a:latin typeface="Consolas"/>
              </a:rPr>
              <a:t>().</a:t>
            </a:r>
            <a:r>
              <a:rPr sz="1250">
                <a:solidFill>
                  <a:srgbClr val="B4C9FF"/>
                </a:solidFill>
                <a:latin typeface="Consolas"/>
              </a:rPr>
              <a:t>as_agent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name=</a:t>
            </a:r>
            <a:r>
              <a:rPr sz="1250">
                <a:solidFill>
                  <a:srgbClr val="E5A57A"/>
                </a:solidFill>
                <a:latin typeface="Consolas"/>
              </a:rPr>
              <a:t>"CityAgent"</a:t>
            </a:r>
            <a:r>
              <a:rPr sz="125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instructions=</a:t>
            </a:r>
            <a:r>
              <a:rPr sz="1250">
                <a:solidFill>
                  <a:srgbClr val="E5A57A"/>
                </a:solidFill>
                <a:latin typeface="Consolas"/>
              </a:rPr>
              <a:t>"Describe cities in a structured format."</a:t>
            </a: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result = </a:t>
            </a:r>
            <a:r>
              <a:rPr sz="1250">
                <a:solidFill>
                  <a:srgbClr val="7AA2F7"/>
                </a:solidFill>
                <a:latin typeface="Consolas"/>
              </a:rPr>
              <a:t>await</a:t>
            </a:r>
            <a:r>
              <a:rPr sz="1250">
                <a:solidFill>
                  <a:srgbClr val="D6DEEB"/>
                </a:solidFill>
                <a:latin typeface="Consolas"/>
              </a:rPr>
              <a:t> agent.</a:t>
            </a:r>
            <a:r>
              <a:rPr sz="1250">
                <a:solidFill>
                  <a:srgbClr val="B4C9FF"/>
                </a:solidFill>
                <a:latin typeface="Consolas"/>
              </a:rPr>
              <a:t>run</a:t>
            </a:r>
            <a:r>
              <a:rPr sz="1250">
                <a:solidFill>
                  <a:srgbClr val="D6DEEB"/>
                </a:solidFill>
                <a:latin typeface="Consolas"/>
              </a:rPr>
              <a:t>(query, options={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E5A57A"/>
                </a:solidFill>
                <a:latin typeface="Consolas"/>
              </a:rPr>
              <a:t>"response_format"</a:t>
            </a:r>
            <a:r>
              <a:rPr sz="1250">
                <a:solidFill>
                  <a:srgbClr val="D6DEEB"/>
                </a:solidFill>
                <a:latin typeface="Consolas"/>
              </a:rPr>
              <a:t>: </a:t>
            </a:r>
            <a:r>
              <a:rPr sz="1250">
                <a:solidFill>
                  <a:srgbClr val="50E6FF"/>
                </a:solidFill>
                <a:latin typeface="Consolas"/>
              </a:rPr>
              <a:t>OutputStruct</a:t>
            </a:r>
            <a:r>
              <a:rPr sz="1250">
                <a:solidFill>
                  <a:srgbClr val="D6DEEB"/>
                </a:solidFill>
                <a:latin typeface="Consolas"/>
              </a:rPr>
              <a:t>, </a:t>
            </a:r>
            <a:r>
              <a:rPr sz="1250">
                <a:solidFill>
                  <a:srgbClr val="E5A57A"/>
                </a:solidFill>
                <a:latin typeface="Consolas"/>
              </a:rPr>
              <a:t>"max_tokens"</a:t>
            </a:r>
            <a:r>
              <a:rPr sz="1250">
                <a:solidFill>
                  <a:srgbClr val="D6DEEB"/>
                </a:solidFill>
                <a:latin typeface="Consolas"/>
              </a:rPr>
              <a:t>: </a:t>
            </a:r>
            <a:r>
              <a:rPr sz="1250">
                <a:solidFill>
                  <a:srgbClr val="86E1A0"/>
                </a:solidFill>
                <a:latin typeface="Consolas"/>
              </a:rPr>
              <a:t>500</a:t>
            </a:r>
            <a:r>
              <a:rPr sz="1250">
                <a:solidFill>
                  <a:srgbClr val="D6DEEB"/>
                </a:solidFill>
                <a:latin typeface="Consolas"/>
              </a:rPr>
              <a:t>})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if</a:t>
            </a:r>
            <a:r>
              <a:rPr sz="1250">
                <a:solidFill>
                  <a:srgbClr val="D6DEEB"/>
                </a:solidFill>
                <a:latin typeface="Consolas"/>
              </a:rPr>
              <a:t> data := result.value:            </a:t>
            </a:r>
            <a:r>
              <a:rPr sz="1250">
                <a:solidFill>
                  <a:srgbClr val="64748B"/>
                </a:solidFill>
                <a:latin typeface="Consolas"/>
              </a:rPr>
              <a:t># a parsed OutputStruct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B4C9FF"/>
                </a:solidFill>
                <a:latin typeface="Consolas"/>
              </a:rPr>
              <a:t>print</a:t>
            </a:r>
            <a:r>
              <a:rPr sz="1250">
                <a:solidFill>
                  <a:srgbClr val="D6DEEB"/>
                </a:solidFill>
                <a:latin typeface="Consolas"/>
              </a:rPr>
              <a:t>(data.city, data.description)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else</a:t>
            </a:r>
            <a:r>
              <a:rPr sz="1250">
                <a:solidFill>
                  <a:srgbClr val="D6DEEB"/>
                </a:solidFill>
                <a:latin typeface="Consolas"/>
              </a:rPr>
              <a:t>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B4C9FF"/>
                </a:solidFill>
                <a:latin typeface="Consolas"/>
              </a:rPr>
              <a:t>print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E5A57A"/>
                </a:solidFill>
                <a:latin typeface="Consolas"/>
              </a:rPr>
              <a:t>"Failed to parse:"</a:t>
            </a:r>
            <a:r>
              <a:rPr sz="1250">
                <a:solidFill>
                  <a:srgbClr val="D6DEEB"/>
                </a:solidFill>
                <a:latin typeface="Consolas"/>
              </a:rPr>
              <a:t>, result.text)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5552" y="1883664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01583" y="1783080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result.value is typed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066543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A real Pydantic instance, not a dict.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5552" y="2743199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01583" y="2642615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Always handle the else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2926079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Parsing can fail — especially on small 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45552" y="3602735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01583" y="3502151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Works with streaming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3785615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get_final_response() on the stream gives .value.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5552" y="4462272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01583" y="4361688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Segoe UI"/>
              </a:rPr>
              <a:t>as_agent() shorthand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645151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B97AC"/>
                </a:solidFill>
                <a:latin typeface="Segoe UI"/>
              </a:rPr>
              <a:t>Build an agent straight off a client.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EXAMPLES/09_HARNESS_AGENT.PY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Harness agents: planning built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6766560" cy="3089148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41148" cy="308914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56232"/>
            <a:ext cx="6400800" cy="28148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from</a:t>
            </a:r>
            <a:r>
              <a:rPr sz="1250">
                <a:solidFill>
                  <a:srgbClr val="D6DEEB"/>
                </a:solidFill>
                <a:latin typeface="Consolas"/>
              </a:rPr>
              <a:t> agent_framework </a:t>
            </a:r>
            <a:r>
              <a:rPr sz="1250">
                <a:solidFill>
                  <a:srgbClr val="7AA2F7"/>
                </a:solidFill>
                <a:latin typeface="Consolas"/>
              </a:rPr>
              <a:t>import</a:t>
            </a:r>
            <a:r>
              <a:rPr sz="1250">
                <a:solidFill>
                  <a:srgbClr val="D6DEEB"/>
                </a:solidFill>
                <a:latin typeface="Consolas"/>
              </a:rPr>
              <a:t> create_harness_agent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agent = </a:t>
            </a:r>
            <a:r>
              <a:rPr sz="1250">
                <a:solidFill>
                  <a:srgbClr val="B4C9FF"/>
                </a:solidFill>
                <a:latin typeface="Consolas"/>
              </a:rPr>
              <a:t>create_harness_agent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50E6FF"/>
                </a:solidFill>
                <a:latin typeface="Consolas"/>
              </a:rPr>
              <a:t>OpenAIChatCompletionClient</a:t>
            </a:r>
            <a:r>
              <a:rPr sz="1250">
                <a:solidFill>
                  <a:srgbClr val="D6DEEB"/>
                </a:solidFill>
                <a:latin typeface="Consolas"/>
              </a:rPr>
              <a:t>())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session = agent.</a:t>
            </a:r>
            <a:r>
              <a:rPr sz="1250">
                <a:solidFill>
                  <a:srgbClr val="B4C9FF"/>
                </a:solidFill>
                <a:latin typeface="Consolas"/>
              </a:rPr>
              <a:t>create_session</a:t>
            </a:r>
            <a:r>
              <a:rPr sz="1250">
                <a:solidFill>
                  <a:srgbClr val="D6DEEB"/>
                </a:solidFill>
                <a:latin typeface="Consolas"/>
              </a:rPr>
              <a:t>()      </a:t>
            </a:r>
            <a:r>
              <a:rPr sz="1250">
                <a:solidFill>
                  <a:srgbClr val="64748B"/>
                </a:solidFill>
                <a:latin typeface="Consolas"/>
              </a:rPr>
              <a:t># carries plan + todos + history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7AA2F7"/>
                </a:solidFill>
                <a:latin typeface="Consolas"/>
              </a:rPr>
              <a:t>while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7AA2F7"/>
                </a:solidFill>
                <a:latin typeface="Consolas"/>
              </a:rPr>
              <a:t>True</a:t>
            </a:r>
            <a:r>
              <a:rPr sz="1250">
                <a:solidFill>
                  <a:srgbClr val="D6DEEB"/>
                </a:solidFill>
                <a:latin typeface="Consolas"/>
              </a:rPr>
              <a:t>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user_input = </a:t>
            </a:r>
            <a:r>
              <a:rPr sz="1250">
                <a:solidFill>
                  <a:srgbClr val="B4C9FF"/>
                </a:solidFill>
                <a:latin typeface="Consolas"/>
              </a:rPr>
              <a:t>input</a:t>
            </a:r>
            <a:r>
              <a:rPr sz="1250">
                <a:solidFill>
                  <a:srgbClr val="D6DEEB"/>
                </a:solidFill>
                <a:latin typeface="Consolas"/>
              </a:rPr>
              <a:t>(</a:t>
            </a:r>
            <a:r>
              <a:rPr sz="1250">
                <a:solidFill>
                  <a:srgbClr val="E5A57A"/>
                </a:solidFill>
                <a:latin typeface="Consolas"/>
              </a:rPr>
              <a:t>"&gt; "</a:t>
            </a: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</a:t>
            </a:r>
            <a:r>
              <a:rPr sz="1250">
                <a:solidFill>
                  <a:srgbClr val="7AA2F7"/>
                </a:solidFill>
                <a:latin typeface="Consolas"/>
              </a:rPr>
              <a:t>async</a:t>
            </a: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  <a:r>
              <a:rPr sz="1250">
                <a:solidFill>
                  <a:srgbClr val="7AA2F7"/>
                </a:solidFill>
                <a:latin typeface="Consolas"/>
              </a:rPr>
              <a:t>for</a:t>
            </a:r>
            <a:r>
              <a:rPr sz="1250">
                <a:solidFill>
                  <a:srgbClr val="D6DEEB"/>
                </a:solidFill>
                <a:latin typeface="Consolas"/>
              </a:rPr>
              <a:t> chunk </a:t>
            </a:r>
            <a:r>
              <a:rPr sz="1250">
                <a:solidFill>
                  <a:srgbClr val="7AA2F7"/>
                </a:solidFill>
                <a:latin typeface="Consolas"/>
              </a:rPr>
              <a:t>in</a:t>
            </a:r>
            <a:r>
              <a:rPr sz="1250">
                <a:solidFill>
                  <a:srgbClr val="D6DEEB"/>
                </a:solidFill>
                <a:latin typeface="Consolas"/>
              </a:rPr>
              <a:t> agent.</a:t>
            </a:r>
            <a:r>
              <a:rPr sz="1250">
                <a:solidFill>
                  <a:srgbClr val="B4C9FF"/>
                </a:solidFill>
                <a:latin typeface="Consolas"/>
              </a:rPr>
              <a:t>run</a:t>
            </a:r>
            <a:r>
              <a:rPr sz="1250">
                <a:solidFill>
                  <a:srgbClr val="D6DEEB"/>
                </a:solidFill>
                <a:latin typeface="Consolas"/>
              </a:rPr>
              <a:t>(user_input, session=session,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                         stream=</a:t>
            </a:r>
            <a:r>
              <a:rPr sz="1250">
                <a:solidFill>
                  <a:srgbClr val="7AA2F7"/>
                </a:solidFill>
                <a:latin typeface="Consolas"/>
              </a:rPr>
              <a:t>True</a:t>
            </a:r>
            <a:r>
              <a:rPr sz="1250">
                <a:solidFill>
                  <a:srgbClr val="D6DEEB"/>
                </a:solidFill>
                <a:latin typeface="Consolas"/>
              </a:rPr>
              <a:t>):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</a:t>
            </a:r>
            <a:r>
              <a:rPr sz="1250">
                <a:solidFill>
                  <a:srgbClr val="7AA2F7"/>
                </a:solidFill>
                <a:latin typeface="Consolas"/>
              </a:rPr>
              <a:t>if</a:t>
            </a:r>
            <a:r>
              <a:rPr sz="1250">
                <a:solidFill>
                  <a:srgbClr val="D6DEEB"/>
                </a:solidFill>
                <a:latin typeface="Consolas"/>
              </a:rPr>
              <a:t> chunk.text: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          </a:t>
            </a:r>
            <a:r>
              <a:rPr sz="1250">
                <a:solidFill>
                  <a:srgbClr val="B4C9FF"/>
                </a:solidFill>
                <a:latin typeface="Consolas"/>
              </a:rPr>
              <a:t>print</a:t>
            </a:r>
            <a:r>
              <a:rPr sz="1250">
                <a:solidFill>
                  <a:srgbClr val="D6DEEB"/>
                </a:solidFill>
                <a:latin typeface="Consolas"/>
              </a:rPr>
              <a:t>(chunk.text, end=</a:t>
            </a:r>
            <a:r>
              <a:rPr sz="1250">
                <a:solidFill>
                  <a:srgbClr val="E5A57A"/>
                </a:solidFill>
                <a:latin typeface="Consolas"/>
              </a:rPr>
              <a:t>""</a:t>
            </a:r>
            <a:r>
              <a:rPr sz="1250">
                <a:solidFill>
                  <a:srgbClr val="D6DEEB"/>
                </a:solidFill>
                <a:latin typeface="Consolas"/>
              </a:rPr>
              <a:t>, flush=</a:t>
            </a:r>
            <a:r>
              <a:rPr sz="1250">
                <a:solidFill>
                  <a:srgbClr val="7AA2F7"/>
                </a:solidFill>
                <a:latin typeface="Consolas"/>
              </a:rPr>
              <a:t>True</a:t>
            </a:r>
            <a:r>
              <a:rPr sz="1250">
                <a:solidFill>
                  <a:srgbClr val="D6DEEB"/>
                </a:solidFill>
                <a:latin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5552" y="178308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9871" y="1993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0E6FF"/>
                </a:solidFill>
                <a:latin typeface="Segoe UI"/>
              </a:rPr>
              <a:t>WHAT THE HARNESS ADDS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2359152"/>
            <a:ext cx="31089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8EDF5"/>
                </a:solidFill>
                <a:latin typeface="Segoe UI"/>
              </a:rPr>
              <a:t>A planning loop over the base agent: it decomposes the request, tracks todos, and works through them across turns — all carried in session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919472"/>
            <a:ext cx="10765231" cy="102412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4919472"/>
            <a:ext cx="50292" cy="10241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5065776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BBF24"/>
                </a:solidFill>
                <a:latin typeface="Segoe UI"/>
              </a:rPr>
              <a:t>WHEN TO USE IT — AND WHEN NOT 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5340096"/>
            <a:ext cx="10308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Good for open-ended, multi-step requests where you cannot enumerate the steps up front.
Costly and hard to bound for anything you could have written as a workflow. If you can draw the flowchart, draw the flowchart.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Getting it out of your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783080"/>
            <a:ext cx="50292" cy="13716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5"/>
                </a:solidFill>
                <a:latin typeface="Segoe UI"/>
              </a:rPr>
              <a:t>DevUI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984248"/>
            <a:ext cx="114300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50E6FF"/>
                </a:solidFill>
                <a:latin typeface="Segoe UI"/>
              </a:rPr>
              <a:t>:8080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000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0E6FF"/>
                </a:solidFill>
                <a:latin typeface="Consolas"/>
              </a:rPr>
              <a:t>dev_ui/agent.py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79191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7AC"/>
                </a:solidFill>
                <a:latin typeface="Segoe UI"/>
              </a:rPr>
              <a:t>serve(entities=[agent]) — browser chat for local iteration.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78308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91072" y="1783080"/>
            <a:ext cx="50292" cy="1371600"/>
          </a:xfrm>
          <a:prstGeom prst="rect">
            <a:avLst/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9659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5"/>
                </a:solidFill>
                <a:latin typeface="Segoe UI"/>
              </a:rPr>
              <a:t>AG-UI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31552" y="1984248"/>
            <a:ext cx="114300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9B7CF6"/>
                </a:solidFill>
                <a:latin typeface="Segoe UI"/>
              </a:rPr>
              <a:t>:8888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5000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7CF6"/>
                </a:solidFill>
                <a:latin typeface="Consolas"/>
              </a:rPr>
              <a:t>agent_ui/server.py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79191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7AC"/>
                </a:solidFill>
                <a:latin typeface="Segoe UI"/>
              </a:rPr>
              <a:t>FastAPI endpoint speaking the AG-UI protocol to any front end.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355848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" y="3355848"/>
            <a:ext cx="50292" cy="13716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53872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5"/>
                </a:solidFill>
                <a:latin typeface="Segoe UI"/>
              </a:rPr>
              <a:t>A2A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3557016"/>
            <a:ext cx="114300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FBBF24"/>
                </a:solidFill>
                <a:latin typeface="Segoe UI"/>
              </a:rPr>
              <a:t>:9999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922776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BBF24"/>
                </a:solidFill>
                <a:latin typeface="Consolas"/>
              </a:rPr>
              <a:t>others/02_run_agent_on_a2a.py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51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7AC"/>
                </a:solidFill>
                <a:latin typeface="Segoe UI"/>
              </a:rPr>
              <a:t>Publish an agent card; other agents discover and call you.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1072" y="3355848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91072" y="3355848"/>
            <a:ext cx="50292" cy="13716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353872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5"/>
                </a:solidFill>
                <a:latin typeface="Segoe UI"/>
              </a:rPr>
              <a:t>Azure Functions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31552" y="3557016"/>
            <a:ext cx="114300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4ADE80"/>
                </a:solidFill>
                <a:latin typeface="Segoe UI"/>
              </a:rPr>
              <a:t>serverless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922776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DE80"/>
                </a:solidFill>
                <a:latin typeface="Consolas"/>
              </a:rPr>
              <a:t>others/01_app_run.py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251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7AC"/>
                </a:solidFill>
                <a:latin typeface="Segoe UI"/>
              </a:rPr>
              <a:t>AgentFunctionApp — HTTP endpoints plus durable thread state.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5029200"/>
            <a:ext cx="10765231" cy="834898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13232" y="5029200"/>
            <a:ext cx="41148" cy="83489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0976" y="5193792"/>
            <a:ext cx="10399471" cy="5605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B4C9FF"/>
                </a:solidFill>
                <a:latin typeface="Consolas"/>
              </a:rPr>
              <a:t>serve</a:t>
            </a:r>
            <a:r>
              <a:rPr sz="1250">
                <a:solidFill>
                  <a:srgbClr val="D6DEEB"/>
                </a:solidFill>
                <a:latin typeface="Consolas"/>
              </a:rPr>
              <a:t>(entities=[agent], auto_open=</a:t>
            </a:r>
            <a:r>
              <a:rPr sz="1250">
                <a:solidFill>
                  <a:srgbClr val="7AA2F7"/>
                </a:solidFill>
                <a:latin typeface="Consolas"/>
              </a:rPr>
              <a:t>True</a:t>
            </a:r>
            <a:r>
              <a:rPr sz="1250">
                <a:solidFill>
                  <a:srgbClr val="D6DEEB"/>
                </a:solidFill>
                <a:latin typeface="Consolas"/>
              </a:rPr>
              <a:t>, auth_enabled=</a:t>
            </a:r>
            <a:r>
              <a:rPr sz="1250">
                <a:solidFill>
                  <a:srgbClr val="7AA2F7"/>
                </a:solidFill>
                <a:latin typeface="Consolas"/>
              </a:rPr>
              <a:t>False</a:t>
            </a:r>
            <a:r>
              <a:rPr sz="1250">
                <a:solidFill>
                  <a:srgbClr val="D6DEEB"/>
                </a:solidFill>
                <a:latin typeface="Consolas"/>
              </a:rPr>
              <a:t>)   </a:t>
            </a:r>
            <a:r>
              <a:rPr sz="1250">
                <a:solidFill>
                  <a:srgbClr val="64748B"/>
                </a:solidFill>
                <a:latin typeface="Consolas"/>
              </a:rPr>
              <a:t># DevUI in one line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B4C9FF"/>
                </a:solidFill>
                <a:latin typeface="Consolas"/>
              </a:rPr>
              <a:t>add_agent_framework_fastapi_endpoint</a:t>
            </a:r>
            <a:r>
              <a:rPr sz="1250">
                <a:solidFill>
                  <a:srgbClr val="D6DEEB"/>
                </a:solidFill>
                <a:latin typeface="Consolas"/>
              </a:rPr>
              <a:t>(app, agent, </a:t>
            </a:r>
            <a:r>
              <a:rPr sz="1250">
                <a:solidFill>
                  <a:srgbClr val="E5A57A"/>
                </a:solidFill>
                <a:latin typeface="Consolas"/>
              </a:rPr>
              <a:t>"/"</a:t>
            </a:r>
            <a:r>
              <a:rPr sz="1250">
                <a:solidFill>
                  <a:srgbClr val="D6DEEB"/>
                </a:solidFill>
                <a:latin typeface="Consolas"/>
              </a:rPr>
              <a:t>)         </a:t>
            </a:r>
            <a:r>
              <a:rPr sz="1250">
                <a:solidFill>
                  <a:srgbClr val="64748B"/>
                </a:solidFill>
                <a:latin typeface="Consolas"/>
              </a:rPr>
              <a:t># AG-UI in one line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OTHERS/02 · OTHERS/03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A2A: agents as network citizens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6400800" cy="3197352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41148" cy="31973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56232"/>
            <a:ext cx="6035040" cy="2923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64748B"/>
                </a:solidFill>
                <a:latin typeface="Consolas"/>
              </a:rPr>
              <a:t># server — publish a card describing what this agent can do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D6DEEB"/>
                </a:solidFill>
                <a:latin typeface="Consolas"/>
              </a:rPr>
              <a:t>card = </a:t>
            </a:r>
            <a:r>
              <a:rPr sz="1200">
                <a:solidFill>
                  <a:srgbClr val="50E6FF"/>
                </a:solidFill>
                <a:latin typeface="Consolas"/>
              </a:rPr>
              <a:t>AgentCard</a:t>
            </a:r>
            <a:r>
              <a:rPr sz="1200">
                <a:solidFill>
                  <a:srgbClr val="D6DEEB"/>
                </a:solidFill>
                <a:latin typeface="Consolas"/>
              </a:rPr>
              <a:t>(name=</a:t>
            </a:r>
            <a:r>
              <a:rPr sz="1200">
                <a:solidFill>
                  <a:srgbClr val="E5A57A"/>
                </a:solidFill>
                <a:latin typeface="Consolas"/>
              </a:rPr>
              <a:t>"Europe Travel Agent"</a:t>
            </a:r>
            <a:r>
              <a:rPr sz="1200">
                <a:solidFill>
                  <a:srgbClr val="D6DEEB"/>
                </a:solidFill>
                <a:latin typeface="Consolas"/>
              </a:rPr>
              <a:t>, version=</a:t>
            </a:r>
            <a:r>
              <a:rPr sz="1200">
                <a:solidFill>
                  <a:srgbClr val="E5A57A"/>
                </a:solidFill>
                <a:latin typeface="Consolas"/>
              </a:rPr>
              <a:t>"1.0.0"</a:t>
            </a:r>
            <a:r>
              <a:rPr sz="1200">
                <a:solidFill>
                  <a:srgbClr val="D6DEEB"/>
                </a:solidFill>
                <a:latin typeface="Consolas"/>
              </a:rPr>
              <a:t>,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D6DEEB"/>
                </a:solidFill>
                <a:latin typeface="Consolas"/>
              </a:rPr>
              <a:t>                 skills=[flight_skill],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D6DEEB"/>
                </a:solidFill>
                <a:latin typeface="Consolas"/>
              </a:rPr>
              <a:t>                 capabilities=</a:t>
            </a:r>
            <a:r>
              <a:rPr sz="1200">
                <a:solidFill>
                  <a:srgbClr val="50E6FF"/>
                </a:solidFill>
                <a:latin typeface="Consolas"/>
              </a:rPr>
              <a:t>AgentCapabilities</a:t>
            </a:r>
            <a:r>
              <a:rPr sz="1200">
                <a:solidFill>
                  <a:srgbClr val="D6DEEB"/>
                </a:solidFill>
                <a:latin typeface="Consolas"/>
              </a:rPr>
              <a:t>(streaming=</a:t>
            </a:r>
            <a:r>
              <a:rPr sz="1200">
                <a:solidFill>
                  <a:srgbClr val="7AA2F7"/>
                </a:solidFill>
                <a:latin typeface="Consolas"/>
              </a:rPr>
              <a:t>True</a:t>
            </a:r>
            <a:r>
              <a:rPr sz="1200">
                <a:solidFill>
                  <a:srgbClr val="D6DEEB"/>
                </a:solidFill>
                <a:latin typeface="Consolas"/>
              </a:rPr>
              <a:t>))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D6DEEB"/>
                </a:solidFill>
                <a:latin typeface="Consolas"/>
              </a:rPr>
              <a:t>handler = </a:t>
            </a:r>
            <a:r>
              <a:rPr sz="1200">
                <a:solidFill>
                  <a:srgbClr val="50E6FF"/>
                </a:solidFill>
                <a:latin typeface="Consolas"/>
              </a:rPr>
              <a:t>DefaultRequestHandler</a:t>
            </a:r>
            <a:r>
              <a:rPr sz="1200">
                <a:solidFill>
                  <a:srgbClr val="D6DEEB"/>
                </a:solidFill>
                <a:latin typeface="Consolas"/>
              </a:rPr>
              <a:t>(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D6DEEB"/>
                </a:solidFill>
                <a:latin typeface="Consolas"/>
              </a:rPr>
              <a:t>    agent_executor=</a:t>
            </a:r>
            <a:r>
              <a:rPr sz="1200">
                <a:solidFill>
                  <a:srgbClr val="50E6FF"/>
                </a:solidFill>
                <a:latin typeface="Consolas"/>
              </a:rPr>
              <a:t>A2AExecutor</a:t>
            </a:r>
            <a:r>
              <a:rPr sz="1200">
                <a:solidFill>
                  <a:srgbClr val="D6DEEB"/>
                </a:solidFill>
                <a:latin typeface="Consolas"/>
              </a:rPr>
              <a:t>(agent, stream=</a:t>
            </a:r>
            <a:r>
              <a:rPr sz="1200">
                <a:solidFill>
                  <a:srgbClr val="7AA2F7"/>
                </a:solidFill>
                <a:latin typeface="Consolas"/>
              </a:rPr>
              <a:t>True</a:t>
            </a:r>
            <a:r>
              <a:rPr sz="1200">
                <a:solidFill>
                  <a:srgbClr val="D6DEEB"/>
                </a:solidFill>
                <a:latin typeface="Consolas"/>
              </a:rPr>
              <a:t>),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D6DEEB"/>
                </a:solidFill>
                <a:latin typeface="Consolas"/>
              </a:rPr>
              <a:t>    task_store=</a:t>
            </a:r>
            <a:r>
              <a:rPr sz="1200">
                <a:solidFill>
                  <a:srgbClr val="50E6FF"/>
                </a:solidFill>
                <a:latin typeface="Consolas"/>
              </a:rPr>
              <a:t>InMemoryTaskStore</a:t>
            </a:r>
            <a:r>
              <a:rPr sz="1200">
                <a:solidFill>
                  <a:srgbClr val="D6DEEB"/>
                </a:solidFill>
                <a:latin typeface="Consolas"/>
              </a:rPr>
              <a:t>(), agent_card=card)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64748B"/>
                </a:solidFill>
                <a:latin typeface="Consolas"/>
              </a:rPr>
              <a:t># client — discover, then call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D6DEEB"/>
                </a:solidFill>
                <a:latin typeface="Consolas"/>
              </a:rPr>
              <a:t>card = </a:t>
            </a:r>
            <a:r>
              <a:rPr sz="1200">
                <a:solidFill>
                  <a:srgbClr val="7AA2F7"/>
                </a:solidFill>
                <a:latin typeface="Consolas"/>
              </a:rPr>
              <a:t>await</a:t>
            </a:r>
            <a:r>
              <a:rPr sz="1200">
                <a:solidFill>
                  <a:srgbClr val="D6DEEB"/>
                </a:solidFill>
                <a:latin typeface="Consolas"/>
              </a:rPr>
              <a:t> </a:t>
            </a:r>
            <a:r>
              <a:rPr sz="1200">
                <a:solidFill>
                  <a:srgbClr val="50E6FF"/>
                </a:solidFill>
                <a:latin typeface="Consolas"/>
              </a:rPr>
              <a:t>A2ACardResolver</a:t>
            </a:r>
            <a:r>
              <a:rPr sz="1200">
                <a:solidFill>
                  <a:srgbClr val="D6DEEB"/>
                </a:solidFill>
                <a:latin typeface="Consolas"/>
              </a:rPr>
              <a:t>(...).</a:t>
            </a:r>
            <a:r>
              <a:rPr sz="1200">
                <a:solidFill>
                  <a:srgbClr val="B4C9FF"/>
                </a:solidFill>
                <a:latin typeface="Consolas"/>
              </a:rPr>
              <a:t>get_agent_card</a:t>
            </a:r>
            <a:r>
              <a:rPr sz="1200">
                <a:solidFill>
                  <a:srgbClr val="D6DEEB"/>
                </a:solidFill>
                <a:latin typeface="Consolas"/>
              </a:rPr>
              <a:t>()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7AA2F7"/>
                </a:solidFill>
                <a:latin typeface="Consolas"/>
              </a:rPr>
              <a:t>async</a:t>
            </a:r>
            <a:r>
              <a:rPr sz="1200">
                <a:solidFill>
                  <a:srgbClr val="D6DEEB"/>
                </a:solidFill>
                <a:latin typeface="Consolas"/>
              </a:rPr>
              <a:t> </a:t>
            </a:r>
            <a:r>
              <a:rPr sz="1200">
                <a:solidFill>
                  <a:srgbClr val="7AA2F7"/>
                </a:solidFill>
                <a:latin typeface="Consolas"/>
              </a:rPr>
              <a:t>with</a:t>
            </a:r>
            <a:r>
              <a:rPr sz="1200">
                <a:solidFill>
                  <a:srgbClr val="D6DEEB"/>
                </a:solidFill>
                <a:latin typeface="Consolas"/>
              </a:rPr>
              <a:t> </a:t>
            </a:r>
            <a:r>
              <a:rPr sz="1200">
                <a:solidFill>
                  <a:srgbClr val="50E6FF"/>
                </a:solidFill>
                <a:latin typeface="Consolas"/>
              </a:rPr>
              <a:t>A2AAgent</a:t>
            </a:r>
            <a:r>
              <a:rPr sz="1200">
                <a:solidFill>
                  <a:srgbClr val="D6DEEB"/>
                </a:solidFill>
                <a:latin typeface="Consolas"/>
              </a:rPr>
              <a:t>(name=card.name, agent_card=card,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D6DEEB"/>
                </a:solidFill>
                <a:latin typeface="Consolas"/>
              </a:rPr>
              <a:t>                    url=host) </a:t>
            </a:r>
            <a:r>
              <a:rPr sz="1200">
                <a:solidFill>
                  <a:srgbClr val="7AA2F7"/>
                </a:solidFill>
                <a:latin typeface="Consolas"/>
              </a:rPr>
              <a:t>as</a:t>
            </a:r>
            <a:r>
              <a:rPr sz="1200">
                <a:solidFill>
                  <a:srgbClr val="D6DEEB"/>
                </a:solidFill>
                <a:latin typeface="Consolas"/>
              </a:rPr>
              <a:t> remote:</a:t>
            </a:r>
          </a:p>
          <a:p>
            <a:pPr>
              <a:lnSpc>
                <a:spcPts val="1704"/>
              </a:lnSpc>
              <a:spcAft>
                <a:spcPts val="0"/>
              </a:spcAft>
            </a:pPr>
            <a:r>
              <a:rPr sz="1200">
                <a:solidFill>
                  <a:srgbClr val="D6DEEB"/>
                </a:solidFill>
                <a:latin typeface="Consolas"/>
              </a:rPr>
              <a:t>    response = </a:t>
            </a:r>
            <a:r>
              <a:rPr sz="1200">
                <a:solidFill>
                  <a:srgbClr val="7AA2F7"/>
                </a:solidFill>
                <a:latin typeface="Consolas"/>
              </a:rPr>
              <a:t>await</a:t>
            </a:r>
            <a:r>
              <a:rPr sz="1200">
                <a:solidFill>
                  <a:srgbClr val="D6DEEB"/>
                </a:solidFill>
                <a:latin typeface="Consolas"/>
              </a:rPr>
              <a:t> remote.</a:t>
            </a:r>
            <a:r>
              <a:rPr sz="1200">
                <a:solidFill>
                  <a:srgbClr val="B4C9FF"/>
                </a:solidFill>
                <a:latin typeface="Consolas"/>
              </a:rPr>
              <a:t>run</a:t>
            </a:r>
            <a:r>
              <a:rPr sz="1200">
                <a:solidFill>
                  <a:srgbClr val="D6DEEB"/>
                </a:solidFill>
                <a:latin typeface="Consolas"/>
              </a:rPr>
              <a:t>(</a:t>
            </a:r>
            <a:r>
              <a:rPr sz="1200">
                <a:solidFill>
                  <a:srgbClr val="E5A57A"/>
                </a:solidFill>
                <a:latin typeface="Consolas"/>
              </a:rPr>
              <a:t>"search flights for Europe"</a:t>
            </a:r>
            <a:r>
              <a:rPr sz="1200">
                <a:solidFill>
                  <a:srgbClr val="D6DEEB"/>
                </a:solidFill>
                <a:latin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88352" y="1783080"/>
            <a:ext cx="4114800" cy="77724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E8EDF5"/>
                </a:solidFill>
                <a:latin typeface="Segoe UI"/>
              </a:rPr>
              <a:t>your agent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7AC"/>
                </a:solidFill>
                <a:latin typeface="Segoe UI"/>
              </a:rPr>
              <a:t>A2AAgent client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308592" y="2651760"/>
            <a:ext cx="256032" cy="310896"/>
          </a:xfrm>
          <a:prstGeom prst="downArrow">
            <a:avLst>
              <a:gd name="adj1" fmla="val 42000"/>
              <a:gd name="adj2" fmla="val 55000"/>
            </a:avLst>
          </a:prstGeom>
          <a:solidFill>
            <a:srgbClr val="5A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88352" y="3035808"/>
            <a:ext cx="4114800" cy="777240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agent card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7AC"/>
                </a:solidFill>
                <a:latin typeface="Segoe UI"/>
              </a:rPr>
              <a:t>name · skills · capabilities · url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308592" y="3904487"/>
            <a:ext cx="256032" cy="310896"/>
          </a:xfrm>
          <a:prstGeom prst="downArrow">
            <a:avLst>
              <a:gd name="adj1" fmla="val 42000"/>
              <a:gd name="adj2" fmla="val 55000"/>
            </a:avLst>
          </a:prstGeom>
          <a:solidFill>
            <a:srgbClr val="5A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88352" y="4288536"/>
            <a:ext cx="4114800" cy="77724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E8EDF5"/>
                </a:solidFill>
                <a:latin typeface="Segoe UI"/>
              </a:rPr>
              <a:t>remote agent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7AC"/>
                </a:solidFill>
                <a:latin typeface="Segoe UI"/>
              </a:rPr>
              <a:t>owned by another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5230368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B97AC"/>
                </a:solidFill>
                <a:latin typeface="Segoe UI"/>
              </a:rPr>
              <a:t>Discovery, not hard-coded endpoints — the card is the contract.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You cannot operate what you cannot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5852160" cy="86868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783080"/>
            <a:ext cx="50292" cy="86868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8EDF5"/>
                </a:solidFill>
                <a:latin typeface="Segoe UI"/>
              </a:rPr>
              <a:t>Traces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7685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one span per run, per tool call, per model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70632"/>
            <a:ext cx="5852160" cy="86868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" y="2770632"/>
            <a:ext cx="50292" cy="868680"/>
          </a:xfrm>
          <a:prstGeom prst="rect">
            <a:avLst/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8EDF5"/>
                </a:solidFill>
                <a:latin typeface="Segoe UI"/>
              </a:rPr>
              <a:t>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6440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latency, tokens, tool error rates, cost per request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758184"/>
            <a:ext cx="5852160" cy="86868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3758184"/>
            <a:ext cx="50292" cy="8686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8EDF5"/>
                </a:solidFill>
                <a:latin typeface="Segoe UI"/>
              </a:rPr>
              <a:t>Transcripts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519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the actual messages — the only real debugging artifact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39712" y="1783080"/>
            <a:ext cx="4663440" cy="2843784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14032" y="199339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0E6FF"/>
                </a:solidFill>
                <a:latin typeface="Segoe UI"/>
              </a:rPr>
              <a:t>WHAT MAKES AGENTS DIFFERENT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377440"/>
            <a:ext cx="41148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A failed request has one stack trace. A failed agent run has a conversation — seven model calls, four tool invocations, and a decision at step three that made everything after it wrong.
Without the transcript you are guessing.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919472"/>
            <a:ext cx="10765231" cy="987552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4919472"/>
            <a:ext cx="50292" cy="9875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" y="5065776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ADE80"/>
                </a:solidFill>
                <a:latin typeface="Segoe UI"/>
              </a:rPr>
              <a:t>MAKE IT BORING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5340096"/>
            <a:ext cx="1030803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The framework emits OpenTelemetry. Send it to the same collector as the rest of your services. Agent observability should be a dashboard your SRE team already knows how to read — not a bespoke tool nobody opens.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THE WORKSHOP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Running against a local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6583680" cy="2863723"/>
          </a:xfrm>
          <a:prstGeom prst="roundRect">
            <a:avLst>
              <a:gd name="adj" fmla="val 3000"/>
            </a:avLst>
          </a:prstGeom>
          <a:solidFill>
            <a:srgbClr val="080C14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41148" cy="2863723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56232"/>
            <a:ext cx="6217920" cy="25894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64748B"/>
                </a:solidFill>
                <a:latin typeface="Consolas"/>
              </a:rPr>
              <a:t># vllm-run.sh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vllm serve </a:t>
            </a:r>
            <a:r>
              <a:rPr sz="1250">
                <a:solidFill>
                  <a:srgbClr val="50E6FF"/>
                </a:solidFill>
                <a:latin typeface="Consolas"/>
              </a:rPr>
              <a:t>Qwen</a:t>
            </a:r>
            <a:r>
              <a:rPr sz="1250">
                <a:solidFill>
                  <a:srgbClr val="D6DEEB"/>
                </a:solidFill>
                <a:latin typeface="Consolas"/>
              </a:rPr>
              <a:t>/</a:t>
            </a:r>
            <a:r>
              <a:rPr sz="1250">
                <a:solidFill>
                  <a:srgbClr val="50E6FF"/>
                </a:solidFill>
                <a:latin typeface="Consolas"/>
              </a:rPr>
              <a:t>Qwen3</a:t>
            </a:r>
            <a:r>
              <a:rPr sz="1250">
                <a:solidFill>
                  <a:srgbClr val="D6DEEB"/>
                </a:solidFill>
                <a:latin typeface="Consolas"/>
              </a:rPr>
              <a:t>.</a:t>
            </a:r>
            <a:r>
              <a:rPr sz="1250">
                <a:solidFill>
                  <a:srgbClr val="86E1A0"/>
                </a:solidFill>
                <a:latin typeface="Consolas"/>
              </a:rPr>
              <a:t>5</a:t>
            </a:r>
            <a:r>
              <a:rPr sz="1250">
                <a:solidFill>
                  <a:srgbClr val="D6DEEB"/>
                </a:solidFill>
                <a:latin typeface="Consolas"/>
              </a:rPr>
              <a:t>-4B \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--max-model-len=</a:t>
            </a:r>
            <a:r>
              <a:rPr sz="1250">
                <a:solidFill>
                  <a:srgbClr val="86E1A0"/>
                </a:solidFill>
                <a:latin typeface="Consolas"/>
              </a:rPr>
              <a:t>8192</a:t>
            </a:r>
            <a:r>
              <a:rPr sz="1250">
                <a:solidFill>
                  <a:srgbClr val="D6DEEB"/>
                </a:solidFill>
                <a:latin typeface="Consolas"/>
              </a:rPr>
              <a:t> \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--enable-prefix-caching \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--enable-auto-tool-choice \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 --tool-call-parser qwen3_coder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D6DEEB"/>
                </a:solidFill>
                <a:latin typeface="Consolas"/>
              </a:rPr>
              <a:t> 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64748B"/>
                </a:solidFill>
                <a:latin typeface="Consolas"/>
              </a:rPr>
              <a:t># .env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50E6FF"/>
                </a:solidFill>
                <a:latin typeface="Consolas"/>
              </a:rPr>
              <a:t>OPENAI_API_KEY</a:t>
            </a:r>
            <a:r>
              <a:rPr sz="1250">
                <a:solidFill>
                  <a:srgbClr val="D6DEEB"/>
                </a:solidFill>
                <a:latin typeface="Consolas"/>
              </a:rPr>
              <a:t>=test-key                    </a:t>
            </a:r>
            <a:r>
              <a:rPr sz="1250">
                <a:solidFill>
                  <a:srgbClr val="64748B"/>
                </a:solidFill>
                <a:latin typeface="Consolas"/>
              </a:rPr>
              <a:t># placeholder, unused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50E6FF"/>
                </a:solidFill>
                <a:latin typeface="Consolas"/>
              </a:rPr>
              <a:t>OPENAI_MODEL</a:t>
            </a:r>
            <a:r>
              <a:rPr sz="1250">
                <a:solidFill>
                  <a:srgbClr val="D6DEEB"/>
                </a:solidFill>
                <a:latin typeface="Consolas"/>
              </a:rPr>
              <a:t>=</a:t>
            </a:r>
            <a:r>
              <a:rPr sz="1250">
                <a:solidFill>
                  <a:srgbClr val="50E6FF"/>
                </a:solidFill>
                <a:latin typeface="Consolas"/>
              </a:rPr>
              <a:t>Qwen</a:t>
            </a:r>
            <a:r>
              <a:rPr sz="1250">
                <a:solidFill>
                  <a:srgbClr val="D6DEEB"/>
                </a:solidFill>
                <a:latin typeface="Consolas"/>
              </a:rPr>
              <a:t>/</a:t>
            </a:r>
            <a:r>
              <a:rPr sz="1250">
                <a:solidFill>
                  <a:srgbClr val="50E6FF"/>
                </a:solidFill>
                <a:latin typeface="Consolas"/>
              </a:rPr>
              <a:t>Qwen3</a:t>
            </a:r>
            <a:r>
              <a:rPr sz="1250">
                <a:solidFill>
                  <a:srgbClr val="D6DEEB"/>
                </a:solidFill>
                <a:latin typeface="Consolas"/>
              </a:rPr>
              <a:t>.</a:t>
            </a:r>
            <a:r>
              <a:rPr sz="1250">
                <a:solidFill>
                  <a:srgbClr val="86E1A0"/>
                </a:solidFill>
                <a:latin typeface="Consolas"/>
              </a:rPr>
              <a:t>5</a:t>
            </a:r>
            <a:r>
              <a:rPr sz="1250">
                <a:solidFill>
                  <a:srgbClr val="D6DEEB"/>
                </a:solidFill>
                <a:latin typeface="Consolas"/>
              </a:rPr>
              <a:t>-4B</a:t>
            </a:r>
          </a:p>
          <a:p>
            <a:pPr>
              <a:lnSpc>
                <a:spcPts val="1775"/>
              </a:lnSpc>
              <a:spcAft>
                <a:spcPts val="0"/>
              </a:spcAft>
            </a:pPr>
            <a:r>
              <a:rPr sz="1250">
                <a:solidFill>
                  <a:srgbClr val="50E6FF"/>
                </a:solidFill>
                <a:latin typeface="Consolas"/>
              </a:rPr>
              <a:t>OPENAI_BASE_URL</a:t>
            </a:r>
            <a:r>
              <a:rPr sz="1250">
                <a:solidFill>
                  <a:srgbClr val="D6DEEB"/>
                </a:solidFill>
                <a:latin typeface="Consolas"/>
              </a:rPr>
              <a:t>=http://localhost:</a:t>
            </a:r>
            <a:r>
              <a:rPr sz="1250">
                <a:solidFill>
                  <a:srgbClr val="86E1A0"/>
                </a:solidFill>
                <a:latin typeface="Consolas"/>
              </a:rPr>
              <a:t>8000</a:t>
            </a:r>
            <a:r>
              <a:rPr sz="1250">
                <a:solidFill>
                  <a:srgbClr val="D6DEEB"/>
                </a:solidFill>
                <a:latin typeface="Consolas"/>
              </a:rPr>
              <a:t>/v1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2671" y="1883664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18703" y="1783080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EDF5"/>
                </a:solidFill>
                <a:latin typeface="Segoe UI"/>
              </a:rPr>
              <a:t>Tool calling needs flags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8703" y="2066543"/>
            <a:ext cx="35844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B97AC"/>
                </a:solidFill>
                <a:latin typeface="Segoe UI"/>
              </a:rPr>
              <a:t>--enable-auto-tool-choice and a matching parser.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62671" y="2706624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18703" y="2606040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EDF5"/>
                </a:solidFill>
                <a:latin typeface="Segoe UI"/>
              </a:rPr>
              <a:t>8k window is the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3" y="2889504"/>
            <a:ext cx="35844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B97AC"/>
                </a:solidFill>
                <a:latin typeface="Segoe UI"/>
              </a:rPr>
              <a:t>Hence max_tokens everywhere in the examples.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62671" y="3529584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18703" y="3429000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EDF5"/>
                </a:solidFill>
                <a:latin typeface="Segoe UI"/>
              </a:rPr>
              <a:t>Chat Completions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3" y="3712463"/>
            <a:ext cx="35844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B97AC"/>
                </a:solidFill>
                <a:latin typeface="Segoe UI"/>
              </a:rPr>
              <a:t>OpenAIChatCompletionClient, not OpenAIChatClient.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62671" y="4352544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18703" y="4251960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EDF5"/>
                </a:solidFill>
                <a:latin typeface="Segoe UI"/>
              </a:rPr>
              <a:t>Same code, any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18703" y="4535424"/>
            <a:ext cx="35844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B97AC"/>
                </a:solidFill>
                <a:latin typeface="Segoe UI"/>
              </a:rPr>
              <a:t>Point OPENAI_BASE_URL elsewhere and nothing changes.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138928"/>
            <a:ext cx="10765231" cy="9601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5138928"/>
            <a:ext cx="50292" cy="96012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" y="5285232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0E6FF"/>
                </a:solidFill>
                <a:latin typeface="Segoe UI"/>
              </a:rPr>
              <a:t>WHY BOTHER WITH A LOCAL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5559552"/>
            <a:ext cx="103080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Free iteration, no rate limits, no data leaving the machine — and a small model is an honest test. Prompts and tool descriptions that only work on a frontier model are prompts that will surprise you later.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Putting it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8EDF5"/>
                </a:solidFill>
                <a:latin typeface="Segoe UI"/>
              </a:rPr>
              <a:t>client / front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3113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AG-UI · HTTP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63824" y="2048256"/>
            <a:ext cx="329184" cy="219456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85032" y="1691640"/>
            <a:ext cx="5029200" cy="338328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13632" y="182880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A6780"/>
                </a:solidFill>
                <a:latin typeface="Segoe UI"/>
              </a:rPr>
              <a:t>YOUR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13632" y="2157984"/>
            <a:ext cx="4572000" cy="56692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E8EDF5"/>
                </a:solidFill>
                <a:latin typeface="Segoe UI"/>
              </a:rPr>
              <a:t>middleware · authn, guardrails, budgets, telemetry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13632" y="2816352"/>
            <a:ext cx="4572000" cy="786384"/>
          </a:xfrm>
          <a:prstGeom prst="roundRect">
            <a:avLst>
              <a:gd name="adj" fmla="val 6000"/>
            </a:avLst>
          </a:prstGeom>
          <a:solidFill>
            <a:srgbClr val="1D253A"/>
          </a:solidFill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50E6FF"/>
                </a:solidFill>
                <a:latin typeface="Segoe UI"/>
              </a:rPr>
              <a:t>workflow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7AC"/>
                </a:solidFill>
                <a:latin typeface="Segoe UI"/>
              </a:rPr>
              <a:t>agents as nodes · deterministic topology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13632" y="3694176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E8EDF5"/>
                </a:solidFill>
                <a:latin typeface="Segoe UI"/>
              </a:rPr>
              <a:t>context providers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3694176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E8EDF5"/>
                </a:solidFill>
                <a:latin typeface="Segoe UI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44074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780"/>
                </a:solidFill>
                <a:latin typeface="Segoe UI"/>
              </a:rPr>
              <a:t>compaction · approvals · structured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91640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E8EDF5"/>
                </a:solidFill>
                <a:latin typeface="Segoe UI"/>
              </a:rPr>
              <a:t>model provider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51392" y="1911095"/>
            <a:ext cx="384048" cy="219456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400032" y="2487168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E8EDF5"/>
                </a:solidFill>
                <a:latin typeface="Segoe UI"/>
              </a:rPr>
              <a:t>memory store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51392" y="2706624"/>
            <a:ext cx="384048" cy="219456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400032" y="3282696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E8EDF5"/>
                </a:solidFill>
                <a:latin typeface="Segoe UI"/>
              </a:rPr>
              <a:t>MCP servers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51392" y="3502152"/>
            <a:ext cx="384048" cy="219456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00032" y="4078224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9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E8EDF5"/>
                </a:solidFill>
                <a:latin typeface="Segoe UI"/>
              </a:rPr>
              <a:t>other agents (A2A)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51392" y="4297680"/>
            <a:ext cx="384048" cy="219456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400032" y="4873752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E8EDF5"/>
                </a:solidFill>
                <a:latin typeface="Segoe UI"/>
              </a:rPr>
              <a:t>OTel collector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851392" y="5093208"/>
            <a:ext cx="384048" cy="219456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553212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 Light"/>
              </a:rPr>
              <a:t>Deterministic skeleton, agentic joints, governed edges.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Practices that hold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37943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737360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Name things properly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020824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Agent names surface in traces and transcripts.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551175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2450591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Docstrings are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734056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Tool selection quality lives or dies 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264408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3163824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Bound every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447288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Max iterations, token budget, timeouts. Always.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977640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3877056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always_require for effects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160520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Anything that writes, spends, or sends.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690872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4590288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One session per conversation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873752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Never module-scope, never shared.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404104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9264" y="5303520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Structured output at boundaries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5586984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Typed data leaves; prose stays inside.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1837943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55664" y="1737360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Compact before you overflow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020824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Design the budget before turn thirty.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2551175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55664" y="2450591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Middleware for cross-cutting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2734056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Not copy-pasted into every agent.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264408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55664" y="3163824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Workflow if you can draw 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3447288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Autonomy is for genuinely unknown paths.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3977640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55664" y="3877056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Small model in 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4160520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Cheap, fast, and honest about weak prompts.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2" y="4690872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55664" y="4590288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Trace from day 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4873752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Retrofitting observability into agents is misery.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9632" y="5404104"/>
            <a:ext cx="82296" cy="822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55664" y="5303520"/>
            <a:ext cx="4773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Evaluate, don't eyeball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5586984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C"/>
                </a:solidFill>
                <a:latin typeface="Segoe UI"/>
              </a:rPr>
              <a:t>A fixture suite beats a vibe check.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Failure modes to recognise early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37360"/>
            <a:ext cx="5212080" cy="111556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737360"/>
            <a:ext cx="50292" cy="111556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8366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The 2,000-word 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9456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Numbered steps in prose. That's a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05456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ADE80"/>
                </a:solidFill>
                <a:latin typeface="Segoe UI"/>
              </a:rPr>
              <a:t>→ WorkflowBuilder or @workflow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37360"/>
            <a:ext cx="5212080" cy="111556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37360"/>
            <a:ext cx="50292" cy="111556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88366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The thirty-tool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Selection accuracy collapses as the catalogue grows.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05456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ADE80"/>
                </a:solidFill>
                <a:latin typeface="Segoe UI"/>
              </a:rPr>
              <a:t>→ split by domain, route with handoff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035808"/>
            <a:ext cx="5212080" cy="111556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3035808"/>
            <a:ext cx="50292" cy="111556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18211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The shared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9300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One session at module scope, every user in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803904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ADE80"/>
                </a:solidFill>
                <a:latin typeface="Segoe UI"/>
              </a:rPr>
              <a:t>→ one session per conversation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035808"/>
            <a:ext cx="5212080" cy="111556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91072" y="3035808"/>
            <a:ext cx="50292" cy="111556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318211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The unbounded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49300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No iteration cap, no budget, no timeout.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03904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ADE80"/>
                </a:solidFill>
                <a:latin typeface="Segoe UI"/>
              </a:rPr>
              <a:t>→ limits in middleware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334256"/>
            <a:ext cx="5212080" cy="111556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3232" y="4334256"/>
            <a:ext cx="50292" cy="111556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448056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The silent truncation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79145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Oldest messages dropped, system prompt with them.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102352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ADE80"/>
                </a:solidFill>
                <a:latin typeface="Segoe UI"/>
              </a:rPr>
              <a:t>→ a real compaction strategy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91072" y="4334256"/>
            <a:ext cx="5212080" cy="1115568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91072" y="4334256"/>
            <a:ext cx="50292" cy="111556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48056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5"/>
                </a:solidFill>
                <a:latin typeface="Segoe UI"/>
              </a:rPr>
              <a:t>The vibe-check rollout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79145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Tried five prompts, looked fine, shipped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102352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ADE80"/>
                </a:solidFill>
                <a:latin typeface="Segoe UI"/>
              </a:rPr>
              <a:t>→ fixtures and evaluation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The lab,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12080" cy="512064"/>
          </a:xfrm>
          <a:prstGeom prst="roundRect">
            <a:avLst>
              <a:gd name="adj" fmla="val 10000"/>
            </a:avLst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2880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0E6FF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1965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Consolas"/>
              </a:rPr>
              <a:t>hello_agent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82880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agent, streaming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95144"/>
            <a:ext cx="5212080" cy="512064"/>
          </a:xfrm>
          <a:prstGeom prst="roundRect">
            <a:avLst>
              <a:gd name="adj" fmla="val 10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4323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0E6FF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231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Consolas"/>
              </a:rPr>
              <a:t>add_tools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43230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typed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898648"/>
            <a:ext cx="5212080" cy="512064"/>
          </a:xfrm>
          <a:prstGeom prst="roundRect">
            <a:avLst>
              <a:gd name="adj" fmla="val 10000"/>
            </a:avLst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03580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0E6FF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2666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Consolas"/>
              </a:rPr>
              <a:t>multi_turn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035808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sessions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502152"/>
            <a:ext cx="5212080" cy="512064"/>
          </a:xfrm>
          <a:prstGeom prst="roundRect">
            <a:avLst>
              <a:gd name="adj" fmla="val 10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6393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0E6FF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6301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Consolas"/>
              </a:rP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63931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ContextProvider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105656"/>
            <a:ext cx="5212080" cy="512064"/>
          </a:xfrm>
          <a:prstGeom prst="roundRect">
            <a:avLst>
              <a:gd name="adj" fmla="val 10000"/>
            </a:avLst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424281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B7CF6"/>
                </a:solidFill>
                <a:latin typeface="Consola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2336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Consolas"/>
              </a:rPr>
              <a:t>mcp_docs_agent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24281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MCP over HTTP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709160"/>
            <a:ext cx="5212080" cy="512064"/>
          </a:xfrm>
          <a:prstGeom prst="roundRect">
            <a:avLst>
              <a:gd name="adj" fmla="val 10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48463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B7CF6"/>
                </a:solidFill>
                <a:latin typeface="Consola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8371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Consolas"/>
              </a:rPr>
              <a:t>functional_workflow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84632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@workflow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5312664"/>
            <a:ext cx="5212080" cy="512064"/>
          </a:xfrm>
          <a:prstGeom prst="roundRect">
            <a:avLst>
              <a:gd name="adj" fmla="val 10000"/>
            </a:avLst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54498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B7CF6"/>
                </a:solidFill>
                <a:latin typeface="Consola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4406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Consolas"/>
              </a:rPr>
              <a:t>graph_workflow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44982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executors + edges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1072" y="1691640"/>
            <a:ext cx="5212080" cy="512064"/>
          </a:xfrm>
          <a:prstGeom prst="roundRect">
            <a:avLst>
              <a:gd name="adj" fmla="val 10000"/>
            </a:avLst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73952" y="182880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B7CF6"/>
                </a:solidFill>
                <a:latin typeface="Consolas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181965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Consolas"/>
              </a:rPr>
              <a:t>concurrent_orchestration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182880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fan-out / fan-in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91072" y="2295144"/>
            <a:ext cx="5212080" cy="512064"/>
          </a:xfrm>
          <a:prstGeom prst="roundRect">
            <a:avLst>
              <a:gd name="adj" fmla="val 10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24323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ADE80"/>
                </a:solidFill>
                <a:latin typeface="Consolas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24231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Consolas"/>
              </a:rPr>
              <a:t>harness_agent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43230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planning loop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91072" y="2898648"/>
            <a:ext cx="5212080" cy="512064"/>
          </a:xfrm>
          <a:prstGeom prst="roundRect">
            <a:avLst>
              <a:gd name="adj" fmla="val 10000"/>
            </a:avLst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73952" y="303580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ADE80"/>
                </a:solidFill>
                <a:latin typeface="Consolas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302666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Consolas"/>
              </a:rPr>
              <a:t>response_format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3035808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structured output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91072" y="3502152"/>
            <a:ext cx="5212080" cy="512064"/>
          </a:xfrm>
          <a:prstGeom prst="roundRect">
            <a:avLst>
              <a:gd name="adj" fmla="val 10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73952" y="36393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ADE80"/>
                </a:solidFill>
                <a:latin typeface="Consolas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36301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Consolas"/>
              </a:rPr>
              <a:t>context_compaction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363931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history budget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91072" y="4105656"/>
            <a:ext cx="5212080" cy="512064"/>
          </a:xfrm>
          <a:prstGeom prst="roundRect">
            <a:avLst>
              <a:gd name="adj" fmla="val 10000"/>
            </a:avLst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73952" y="424281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BBF24"/>
                </a:solidFill>
                <a:latin typeface="Consolas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2336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Consolas"/>
              </a:rPr>
              <a:t>class_based_middleware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424281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guardrail + timing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91072" y="4709160"/>
            <a:ext cx="5212080" cy="512064"/>
          </a:xfrm>
          <a:prstGeom prst="roundRect">
            <a:avLst>
              <a:gd name="adj" fmla="val 10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73952" y="48463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BBF24"/>
                </a:solidFill>
                <a:latin typeface="Consolas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48371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Consolas"/>
              </a:rPr>
              <a:t>function_based_middleware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484632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async fn (Foundry)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91072" y="5312664"/>
            <a:ext cx="5212080" cy="512064"/>
          </a:xfrm>
          <a:prstGeom prst="roundRect">
            <a:avLst>
              <a:gd name="adj" fmla="val 10000"/>
            </a:avLst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73952" y="54498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BBF24"/>
                </a:solidFill>
                <a:latin typeface="Consolas"/>
              </a:rP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54406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Consolas"/>
              </a:rPr>
              <a:t>decorator_middleware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92640" y="544982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C"/>
                </a:solidFill>
                <a:latin typeface="Segoe UI"/>
              </a:rPr>
              <a:t>@agent_middleware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" y="5943600"/>
            <a:ext cx="107652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780"/>
                </a:solidFill>
                <a:latin typeface="Segoe UI"/>
              </a:rPr>
              <a:t>plus  dev_ui/  ·  agent_ui/  ·  others/   for DevUI, AG-UI, A2A and Azure Functions hosting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E6FF"/>
                </a:solidFill>
                <a:latin typeface="Segoe UI"/>
              </a:rPr>
              <a:t>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5"/>
                </a:solidFill>
                <a:latin typeface="Segoe UI Light"/>
              </a:rPr>
              <a:t>Where to go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051560" cy="502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1D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Microsoft Agent Framework  ·  Production-Ready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780"/>
                </a:solidFill>
                <a:latin typeface="Segoe UI"/>
              </a:rPr>
              <a:t>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783080"/>
            <a:ext cx="50292" cy="13716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500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0E6FF"/>
                </a:solidFill>
                <a:latin typeface="Consolas"/>
              </a:rPr>
              <a:t>learn.microsoft.com/agent-framework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Concepts, API reference, migration guidance from AutoGen and 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8308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83080"/>
            <a:ext cx="50292" cy="1371600"/>
          </a:xfrm>
          <a:prstGeom prst="rect">
            <a:avLst/>
          </a:prstGeom>
          <a:solidFill>
            <a:srgbClr val="9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9842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Source &amp; samples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500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B7CF6"/>
                </a:solidFill>
                <a:latin typeface="Consolas"/>
              </a:rPr>
              <a:t>github.com/microsoft/agent-framework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97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python/samples is far broader than this lab — read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38328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3383280"/>
            <a:ext cx="50292" cy="13716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5844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Model Context Protocol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502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BBF24"/>
                </a:solidFill>
                <a:latin typeface="Consolas"/>
              </a:rPr>
              <a:t>modelcontextprotocol.io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The spec, plus a directory of existing servers.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38328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91072" y="3383280"/>
            <a:ext cx="50292" cy="13716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35844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This workshop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9502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DE80"/>
                </a:solidFill>
                <a:latin typeface="Consolas"/>
              </a:rPr>
              <a:t>examples/README.md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976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8B97AC"/>
                </a:solidFill>
                <a:latin typeface="Segoe UI"/>
              </a:rPr>
              <a:t>Setup, the ordered lab, and stretch goals.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138928"/>
            <a:ext cx="10765231" cy="960120"/>
          </a:xfrm>
          <a:prstGeom prst="roundRect">
            <a:avLst>
              <a:gd name="adj" fmla="val 6000"/>
            </a:avLst>
          </a:prstGeom>
          <a:solidFill>
            <a:srgbClr val="151B2B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3232" y="5138928"/>
            <a:ext cx="50292" cy="96012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9264" y="5285232"/>
            <a:ext cx="103080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0E6FF"/>
                </a:solidFill>
                <a:latin typeface="Segoe UI"/>
              </a:rPr>
              <a:t>STRETCH GOALS FROM THE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" y="5559552"/>
            <a:ext cx="103080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8EDF5"/>
                </a:solidFill>
                <a:latin typeface="Segoe UI"/>
              </a:rPr>
              <a:t>Rebuild example 06 with SequentialBuilder or HandoffBuilder · add approval_mode="always_require" to a tool and watch the flow · launch DevUI against the examples directory.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82296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8288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E8EDF5"/>
                </a:solidFill>
                <a:latin typeface="Segoe UI Light"/>
              </a:rPr>
              <a:t>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852928"/>
            <a:ext cx="146304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320040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0078D4"/>
                </a:solidFill>
                <a:latin typeface="Segoe UI Light"/>
              </a:rPr>
              <a:t>Deterministic skeleton. Agentic joints. Governed edges.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160520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B97AC"/>
                </a:solidFill>
                <a:latin typeface="Segoe UI"/>
              </a:rPr>
              <a:t>The framework is not the interesting part — what you can now safely put in production 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5029200"/>
            <a:ext cx="1175918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50E6FF"/>
                </a:solidFill>
                <a:latin typeface="Segoe UI"/>
              </a:rPr>
              <a:t>uv 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3742" y="5029200"/>
            <a:ext cx="1713585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50E6FF"/>
                </a:solidFill>
                <a:latin typeface="Segoe UI"/>
              </a:rPr>
              <a:t>./vllm-run.sh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5029200"/>
            <a:ext cx="4133087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4ADE80"/>
                </a:solidFill>
                <a:latin typeface="Segoe UI"/>
              </a:rPr>
              <a:t>uv run python examples/01_hello_agent.py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705856"/>
            <a:ext cx="45720" cy="548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568756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Segoe UI"/>
              </a:rPr>
              <a:t>Satendra Kumar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598017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780"/>
                </a:solidFill>
                <a:latin typeface="Segoe UI"/>
              </a:rPr>
              <a:t>Everything in this deck is in the repo — examples/README.md is the lab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16050</Words>
  <Application>Microsoft Macintosh PowerPoint</Application>
  <PresentationFormat>Widescreen</PresentationFormat>
  <Paragraphs>2080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Calibri</vt:lpstr>
      <vt:lpstr>Consolas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Satendra Kumar</cp:lastModifiedBy>
  <cp:revision>2</cp:revision>
  <dcterms:created xsi:type="dcterms:W3CDTF">2013-01-27T09:14:16Z</dcterms:created>
  <dcterms:modified xsi:type="dcterms:W3CDTF">2026-08-03T07:29:57Z</dcterms:modified>
  <cp:category/>
</cp:coreProperties>
</file>