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C5B6"/>
                </a:solidFill>
                <a:latin typeface="Calibri"/>
              </a:rPr>
              <a:t>HANDS-ON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Microsoft Agent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8ECF4"/>
                </a:solidFill>
                <a:latin typeface="Calibri"/>
              </a:rPr>
              <a:t>Building production AI agents &amp; multi-agent workflows in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9AA4B8"/>
                </a:solidFill>
                <a:latin typeface="Calibri"/>
              </a:rPr>
              <a:t>Junior Engineer Onboarding  •  Python (agent-framework v1.11)  •  Concepts + Live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What we'll cover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4937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Part 1 — Foundations: what agents are &amp; why a framework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Part 2 — Core building blocks: chat clients, agents, tools, sessions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Part 3 — Hands-on: your first agent, tools, streaming, memory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Part 4 — Tools &amp; MCP: extending agents with real capabilities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Part 5 — Workflows: functional &amp; graph-based orchestration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Part 6 — Multi-agent patterns: sequential, concurrent, handoff, group chat, Magentic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Part 7 — Production: middleware, observability, DevUI, hosting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Part 8 — Best practices, pitfalls, and a lab exercise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0" b="1" i="0">
                <a:solidFill>
                  <a:srgbClr val="8FC9F5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1EEFB"/>
                </a:solidFill>
                <a:latin typeface="Calibri"/>
              </a:rPr>
              <a:t>What is an agent, and why do we need a framework?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What is an AI Agent?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The mental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An LLM that can decide and act — not just chat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Reason about a goal, then choose the next step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Call tools (functions, APIs, databases) to get real work done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Observe results and loop until the goal is met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The core loop: Perceive → Reason → Act → Observe → repeat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Contrast with a plain chatbot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Chatbot: text in → text out, no side effects, no memory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Agent: maintains context, uses tools, produces outcomes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Why use a framework (not raw API calls)?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The framework removes boilerplate so you focus on behavior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440680" cy="502920"/>
          </a:xfrm>
          <a:prstGeom prst="rect">
            <a:avLst/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078D4"/>
                </a:solidFill>
                <a:latin typeface="Calibri"/>
              </a:rPr>
              <a:t>Doing it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You re-implement the tool-calling loop every time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Manual JSON schema wiring for each function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Conversation state is your problem to track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No standard way to add memory, retries, logging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Multi-agent coordination = lots of glue code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Hard to swap model providers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5440680" cy="502920"/>
          </a:xfrm>
          <a:prstGeom prst="rect">
            <a:avLst/>
          </a:prstGeom>
          <a:solidFill>
            <a:srgbClr val="EA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E80"/>
                </a:solidFill>
                <a:latin typeface="Calibri"/>
              </a:rPr>
              <a:t>With Agent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Tool loop, schema generation &amp; routing handled for you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Sessions manage conversation history automatically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Pluggable memory via context providers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Middleware for logging, retries, guardrails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Built-in orchestration patterns for many agents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Same code across OpenAI, Azure, Foundry, local models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0" b="1" i="0">
                <a:solidFill>
                  <a:srgbClr val="8FC9F5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Meet the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1EEFB"/>
                </a:solidFill>
                <a:latin typeface="Calibri"/>
              </a:rPr>
              <a:t>One framework, born from two proven 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What is Microsoft Agent Framework?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AutoGen's simplicity + Semantic Kernel's enterprise muscle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An open-source SDK + runtime for building AI agents and multi-agent workflows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Multi-language: Python and .NET, with matching concepts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The successor that unifies two Microsoft projects: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AutoGen — simple, powerful multi-agent abstractions (research heritage)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Semantic Kernel — enterprise features: state, type-safety, telemetry, connectors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Adds graph-based Workflows for explicit, reliable orchestration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Designed for production: observability, checkpointing, human-in-the-loop, hosting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Capabilities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Everything a production agent needs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5623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Model-backed agents with instructions, tools, and memory.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60020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0020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85623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37744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Plain Python functions become callable tools automatically.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60020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60020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185623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Sessions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37744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Multi-turn conversation state managed for you.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7764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97764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Workflows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5488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Functional (async fns) or graph (executors + edges).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97764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397764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23367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75488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Sequential, concurrent, handoff, group chat, Magentic.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397764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97764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8" y="423367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MCP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475488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Connect to Model Context Protocol tool servers.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35508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35508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61111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Middleware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713232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Intercept runs &amp; tool calls for logging/guardrails.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35508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43400" y="635508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4568" y="661111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Observability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4568" y="713232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OpenTelemetry traces, metrics, and logs built in.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635508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38160" y="635508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9328" y="661111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Hosting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8" y="713232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Deploy to Azure Functions / Durable Task; DevUI locally.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Core building blocks (the vocabulary)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Learn these nine words and the docs make sense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5623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Chat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Talks to a model provider (OpenAI, Azure, Foundry).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60020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0020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85623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37744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A chat client + instructions + tools + memory.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60020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60020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185623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37744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A function the model may call, via @tool.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7764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97764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5488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Holds the conversation history across turns.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97764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397764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23367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Context Provider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75488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Injects memory/context before each run.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397764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97764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8" y="423367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475488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Orchestrates multiple steps or agents.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35508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35508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661111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Executor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713232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A node in a graph workflow (a unit of work).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35508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43400" y="635508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4568" y="661111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Orchestration Builder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4568" y="713232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Prebuilt multi-agent topologies.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635508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38160" y="635508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9328" y="661111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Middleware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8" y="713232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A hook around runs and tool calls.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0" b="1" i="0">
                <a:solidFill>
                  <a:srgbClr val="8FC9F5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Setup &amp; Your First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1EEFB"/>
                </a:solidFill>
                <a:latin typeface="Calibri"/>
              </a:rPr>
              <a:t>From install to a running agent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Setup &amp; installation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Three steps: install, choose a provider, set credentials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Requires Python 3.10+  (this repo uses 3.13)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Install the full framework:   pip install agent-framework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Or lean:  agent-framework-core, agent-framework-foundry, ...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This repo uses uv:   uv add agent-framework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Pick a model provider and set credentials in a .env file: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OpenAI:  OPENAI_API_KEY, OPENAI_CHAT_MODEL_ID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Azure OpenAI:  AZURE_OPENAI_ENDPOINT + Entra ID / key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Azure AI Foundry:  FOUNDRY_PROJECT_ENDPOINT + `az login`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Everything is async — run with asyncio.run(main())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Chat clients: one API, many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The chat client is the only provider-specific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440680" cy="502920"/>
          </a:xfrm>
          <a:prstGeom prst="rect">
            <a:avLst/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078D4"/>
                </a:solidFill>
                <a:latin typeface="Calibri"/>
              </a:rPr>
              <a:t>Available clients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OpenAIChatClient  /  OpenAIChatCompletionClient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AzureOpenAIChatClient — Azure-hosted OpenAI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FoundryChatClient — Azure AI Foundry agent service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Also: Anthropic, local (Ollama), custom clients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import from  agent_framework.openai / .azure / .foundry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5440680" cy="502920"/>
          </a:xfrm>
          <a:prstGeom prst="rect">
            <a:avLst/>
          </a:prstGeom>
          <a:solidFill>
            <a:srgbClr val="EA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E80"/>
                </a:solidFill>
                <a:latin typeface="Calibri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Your agent code stays the same across providers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Swap a client to change the backing model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Auth handled per provider (keys or Entra ID credential)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You can also call a client directly (no agent) for one-shots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Start on OpenAI locally, move to Foundry in production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Hands-on 1 — Hello,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C5B6"/>
                </a:solidFill>
                <a:latin typeface="Calibri"/>
              </a:rPr>
              <a:t>Create an agent, run it, and stream a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201400" cy="5212080"/>
          </a:xfrm>
          <a:prstGeom prst="rect">
            <a:avLst/>
          </a:prstGeom>
          <a:solidFill>
            <a:srgbClr val="242A38"/>
          </a:solidFill>
          <a:ln w="12700">
            <a:solidFill>
              <a:srgbClr val="3A4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90472"/>
            <a:ext cx="10698480" cy="4892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openai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def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 -&gt; </a:t>
            </a:r>
            <a:r>
              <a:rPr sz="1300">
                <a:solidFill>
                  <a:srgbClr val="6FB3F2"/>
                </a:solidFill>
                <a:latin typeface="Consolas"/>
              </a:rPr>
              <a:t>None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    # 1. A chat client points at a model provider (reads OPENAI_API_KEY)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  <a:r>
              <a:rPr sz="1300">
                <a:solidFill>
                  <a:srgbClr val="E6E6E6"/>
                </a:solidFill>
                <a:latin typeface="Consolas"/>
              </a:rPr>
              <a:t>(),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name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HelloAgent</a:t>
            </a:r>
            <a:r>
              <a:rPr sz="1300">
                <a:solidFill>
                  <a:srgbClr val="F2B13B"/>
                </a:solidFill>
                <a:latin typeface="Consolas"/>
              </a:rPr>
              <a:t>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instructions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You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are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friendly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assistant</a:t>
            </a:r>
            <a:r>
              <a:rPr sz="1300">
                <a:solidFill>
                  <a:srgbClr val="E6E6E6"/>
                </a:solidFill>
                <a:latin typeface="Consolas"/>
              </a:rPr>
              <a:t>. </a:t>
            </a:r>
            <a:r>
              <a:rPr sz="1300">
                <a:solidFill>
                  <a:srgbClr val="E6E6E6"/>
                </a:solidFill>
                <a:latin typeface="Consolas"/>
              </a:rPr>
              <a:t>Keep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answers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brief</a:t>
            </a:r>
            <a:r>
              <a:rPr sz="1300">
                <a:solidFill>
                  <a:srgbClr val="E6E6E6"/>
                </a:solidFill>
                <a:latin typeface="Consolas"/>
              </a:rPr>
              <a:t>.",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    # 2. Non-streaming: get the whole response at once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result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("</a:t>
            </a:r>
            <a:r>
              <a:rPr sz="1300">
                <a:solidFill>
                  <a:srgbClr val="E6E6E6"/>
                </a:solidFill>
                <a:latin typeface="Consolas"/>
              </a:rPr>
              <a:t>What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is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the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capital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of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France</a:t>
            </a:r>
            <a:r>
              <a:rPr sz="1300">
                <a:solidFill>
                  <a:srgbClr val="E6E6E6"/>
                </a:solidFill>
                <a:latin typeface="Consolas"/>
              </a:rPr>
              <a:t>?")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print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f</a:t>
            </a:r>
            <a:r>
              <a:rPr sz="1300">
                <a:solidFill>
                  <a:srgbClr val="F2B13B"/>
                </a:solidFill>
                <a:latin typeface="Consolas"/>
              </a:rPr>
              <a:t>"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: {</a:t>
            </a:r>
            <a:r>
              <a:rPr sz="1300">
                <a:solidFill>
                  <a:srgbClr val="E6E6E6"/>
                </a:solidFill>
                <a:latin typeface="Consolas"/>
              </a:rPr>
              <a:t>result</a:t>
            </a:r>
            <a:r>
              <a:rPr sz="1300">
                <a:solidFill>
                  <a:srgbClr val="E6E6E6"/>
                </a:solidFill>
                <a:latin typeface="Consolas"/>
              </a:rPr>
              <a:t>}")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    # 3. Streaming: receive tokens as they are generated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print</a:t>
            </a:r>
            <a:r>
              <a:rPr sz="1300">
                <a:solidFill>
                  <a:srgbClr val="E6E6E6"/>
                </a:solidFill>
                <a:latin typeface="Consolas"/>
              </a:rPr>
              <a:t>("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 (</a:t>
            </a:r>
            <a:r>
              <a:rPr sz="1300">
                <a:solidFill>
                  <a:srgbClr val="E6E6E6"/>
                </a:solidFill>
                <a:latin typeface="Consolas"/>
              </a:rPr>
              <a:t>streaming</a:t>
            </a:r>
            <a:r>
              <a:rPr sz="1300">
                <a:solidFill>
                  <a:srgbClr val="E6E6E6"/>
                </a:solidFill>
                <a:latin typeface="Consolas"/>
              </a:rPr>
              <a:t>): ", </a:t>
            </a:r>
            <a:r>
              <a:rPr sz="1300">
                <a:solidFill>
                  <a:srgbClr val="E6E6E6"/>
                </a:solidFill>
                <a:latin typeface="Consolas"/>
              </a:rPr>
              <a:t>end</a:t>
            </a:r>
            <a:r>
              <a:rPr sz="1300">
                <a:solidFill>
                  <a:srgbClr val="E6E6E6"/>
                </a:solidFill>
                <a:latin typeface="Consolas"/>
              </a:rPr>
              <a:t>="", </a:t>
            </a:r>
            <a:r>
              <a:rPr sz="1300">
                <a:solidFill>
                  <a:srgbClr val="E6E6E6"/>
                </a:solidFill>
                <a:latin typeface="Consolas"/>
              </a:rPr>
              <a:t>flush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6FB3F2"/>
                </a:solidFill>
                <a:latin typeface="Consolas"/>
              </a:rPr>
              <a:t>True</a:t>
            </a:r>
            <a:r>
              <a:rPr sz="1300">
                <a:solidFill>
                  <a:srgbClr val="E6E6E6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for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chunk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("</a:t>
            </a:r>
            <a:r>
              <a:rPr sz="1300">
                <a:solidFill>
                  <a:srgbClr val="E6E6E6"/>
                </a:solidFill>
                <a:latin typeface="Consolas"/>
              </a:rPr>
              <a:t>Give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one</a:t>
            </a:r>
            <a:r>
              <a:rPr sz="1300">
                <a:solidFill>
                  <a:srgbClr val="E6E6E6"/>
                </a:solidFill>
                <a:latin typeface="Consolas"/>
              </a:rPr>
              <a:t>-</a:t>
            </a:r>
            <a:r>
              <a:rPr sz="1300">
                <a:solidFill>
                  <a:srgbClr val="E6E6E6"/>
                </a:solidFill>
                <a:latin typeface="Consolas"/>
              </a:rPr>
              <a:t>sentence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fun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fact</a:t>
            </a:r>
            <a:r>
              <a:rPr sz="1300">
                <a:solidFill>
                  <a:srgbClr val="E6E6E6"/>
                </a:solidFill>
                <a:latin typeface="Consolas"/>
              </a:rPr>
              <a:t>.", </a:t>
            </a:r>
            <a:r>
              <a:rPr sz="1300">
                <a:solidFill>
                  <a:srgbClr val="E6E6E6"/>
                </a:solidFill>
                <a:latin typeface="Consolas"/>
              </a:rPr>
              <a:t>stream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6FB3F2"/>
                </a:solidFill>
                <a:latin typeface="Consolas"/>
              </a:rPr>
              <a:t>True</a:t>
            </a:r>
            <a:r>
              <a:rPr sz="1300">
                <a:solidFill>
                  <a:srgbClr val="E6E6E6"/>
                </a:solidFill>
                <a:latin typeface="Consolas"/>
              </a:rPr>
              <a:t>):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6FB3F2"/>
                </a:solidFill>
                <a:latin typeface="Consolas"/>
              </a:rPr>
              <a:t>if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chunk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text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</a:t>
            </a:r>
            <a:r>
              <a:rPr sz="1300">
                <a:solidFill>
                  <a:srgbClr val="E6E6E6"/>
                </a:solidFill>
                <a:latin typeface="Consolas"/>
              </a:rPr>
              <a:t>print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chunk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text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end</a:t>
            </a:r>
            <a:r>
              <a:rPr sz="1300">
                <a:solidFill>
                  <a:srgbClr val="E6E6E6"/>
                </a:solidFill>
                <a:latin typeface="Consolas"/>
              </a:rPr>
              <a:t>="", </a:t>
            </a:r>
            <a:r>
              <a:rPr sz="1300">
                <a:solidFill>
                  <a:srgbClr val="E6E6E6"/>
                </a:solidFill>
                <a:latin typeface="Consolas"/>
              </a:rPr>
              <a:t>flush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6FB3F2"/>
                </a:solidFill>
                <a:latin typeface="Consolas"/>
              </a:rPr>
              <a:t>True</a:t>
            </a:r>
            <a:r>
              <a:rPr sz="1300">
                <a:solidFill>
                  <a:srgbClr val="E6E6E6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0" b="1" i="0">
                <a:solidFill>
                  <a:srgbClr val="8FC9F5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Tools &amp;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1EEFB"/>
                </a:solidFill>
                <a:latin typeface="Calibri"/>
              </a:rPr>
              <a:t>Give agents real capabilities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Tools = functions your agent can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No manual schema wiring — your signature IS the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A tool is just a Python function decorated with @tool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The framework auto-generates the JSON schema from your type hints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Use typing.Annotated + pydantic.Field to describe each parameter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The docstring becomes the tool description the model reads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The model decides when to call the tool; the framework runs it and feeds the result back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approval_mode controls human-in-the-loop before execution: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"never_require" — run freely (fine for demos / read-only tools)</a:t>
            </a:r>
          </a:p>
          <a:p>
            <a:pPr marL="320040" indent="0">
              <a:lnSpc>
                <a:spcPct val="105000"/>
              </a:lnSpc>
              <a:spcAft>
                <a:spcPts val="1100"/>
              </a:spcAft>
            </a:pPr>
            <a:r>
              <a:rPr sz="1800" b="0">
                <a:solidFill>
                  <a:srgbClr val="9AA4B8"/>
                </a:solidFill>
                <a:latin typeface="Calibri"/>
              </a:rPr>
              <a:t>–  </a:t>
            </a:r>
            <a:r>
              <a:rPr sz="1600">
                <a:solidFill>
                  <a:srgbClr val="1B2233"/>
                </a:solidFill>
                <a:latin typeface="Calibri"/>
              </a:rPr>
              <a:t>"always_require" — ask a human first (use for writes/spend in production)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Hands-on 2 — An agent with a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C5B6"/>
                </a:solidFill>
                <a:latin typeface="Calibri"/>
              </a:rPr>
              <a:t>Define → decorate → register. The model does the rest.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201400" cy="5212080"/>
          </a:xfrm>
          <a:prstGeom prst="rect">
            <a:avLst/>
          </a:prstGeom>
          <a:solidFill>
            <a:srgbClr val="242A38"/>
          </a:solidFill>
          <a:ln w="12700">
            <a:solidFill>
              <a:srgbClr val="3A4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90472"/>
            <a:ext cx="10698480" cy="4892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random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randint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typing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Annotated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tool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openai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pydantic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Field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@</a:t>
            </a:r>
            <a:r>
              <a:rPr sz="1300">
                <a:solidFill>
                  <a:srgbClr val="E6E6E6"/>
                </a:solidFill>
                <a:latin typeface="Consolas"/>
              </a:rPr>
              <a:t>tool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approval_mode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never_require</a:t>
            </a:r>
            <a:r>
              <a:rPr sz="1300">
                <a:solidFill>
                  <a:srgbClr val="F2B13B"/>
                </a:solidFill>
                <a:latin typeface="Consolas"/>
              </a:rPr>
              <a:t>")  # </a:t>
            </a:r>
            <a:r>
              <a:rPr sz="1300">
                <a:solidFill>
                  <a:srgbClr val="E6E6E6"/>
                </a:solidFill>
                <a:latin typeface="Consolas"/>
              </a:rPr>
              <a:t>use</a:t>
            </a:r>
            <a:r>
              <a:rPr sz="1300">
                <a:solidFill>
                  <a:srgbClr val="E6E6E6"/>
                </a:solidFill>
                <a:latin typeface="Consolas"/>
              </a:rPr>
              <a:t> "</a:t>
            </a:r>
            <a:r>
              <a:rPr sz="1300">
                <a:solidFill>
                  <a:srgbClr val="E6E6E6"/>
                </a:solidFill>
                <a:latin typeface="Consolas"/>
              </a:rPr>
              <a:t>always_require</a:t>
            </a:r>
            <a:r>
              <a:rPr sz="1300">
                <a:solidFill>
                  <a:srgbClr val="F2B13B"/>
                </a:solidFill>
                <a:latin typeface="Consolas"/>
              </a:rPr>
              <a:t>" </a:t>
            </a:r>
            <a:r>
              <a:rPr sz="1300">
                <a:solidFill>
                  <a:srgbClr val="6FB3F2"/>
                </a:solidFill>
                <a:latin typeface="Consolas"/>
              </a:rPr>
              <a:t>in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production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def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get_weather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location</a:t>
            </a:r>
            <a:r>
              <a:rPr sz="1300">
                <a:solidFill>
                  <a:srgbClr val="E6E6E6"/>
                </a:solidFill>
                <a:latin typeface="Consolas"/>
              </a:rPr>
              <a:t>: </a:t>
            </a:r>
            <a:r>
              <a:rPr sz="1300">
                <a:solidFill>
                  <a:srgbClr val="E6E6E6"/>
                </a:solidFill>
                <a:latin typeface="Consolas"/>
              </a:rPr>
              <a:t>Annotated</a:t>
            </a:r>
            <a:r>
              <a:rPr sz="1300">
                <a:solidFill>
                  <a:srgbClr val="E6E6E6"/>
                </a:solidFill>
                <a:latin typeface="Consolas"/>
              </a:rPr>
              <a:t>[</a:t>
            </a:r>
            <a:r>
              <a:rPr sz="1300">
                <a:solidFill>
                  <a:srgbClr val="E6E6E6"/>
                </a:solidFill>
                <a:latin typeface="Consolas"/>
              </a:rPr>
              <a:t>str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Field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description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The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location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to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get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weather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for</a:t>
            </a:r>
            <a:r>
              <a:rPr sz="1300">
                <a:solidFill>
                  <a:srgbClr val="E6E6E6"/>
                </a:solidFill>
                <a:latin typeface="Consolas"/>
              </a:rPr>
              <a:t>.")],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) -&gt; </a:t>
            </a:r>
            <a:r>
              <a:rPr sz="1300">
                <a:solidFill>
                  <a:srgbClr val="E6E6E6"/>
                </a:solidFill>
                <a:latin typeface="Consolas"/>
              </a:rPr>
              <a:t>str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"""</a:t>
            </a:r>
            <a:r>
              <a:rPr sz="1300">
                <a:solidFill>
                  <a:srgbClr val="E6E6E6"/>
                </a:solidFill>
                <a:latin typeface="Consolas"/>
              </a:rPr>
              <a:t>Get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the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weather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for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given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location</a:t>
            </a:r>
            <a:r>
              <a:rPr sz="1300">
                <a:solidFill>
                  <a:srgbClr val="E6E6E6"/>
                </a:solidFill>
                <a:latin typeface="Consolas"/>
              </a:rPr>
              <a:t>."""   # &lt;- </a:t>
            </a:r>
            <a:r>
              <a:rPr sz="1300">
                <a:solidFill>
                  <a:srgbClr val="E6E6E6"/>
                </a:solidFill>
                <a:latin typeface="Consolas"/>
              </a:rPr>
              <a:t>becomes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the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tool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description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conditions</a:t>
            </a:r>
            <a:r>
              <a:rPr sz="1300">
                <a:solidFill>
                  <a:srgbClr val="E6E6E6"/>
                </a:solidFill>
                <a:latin typeface="Consolas"/>
              </a:rPr>
              <a:t> = ["</a:t>
            </a:r>
            <a:r>
              <a:rPr sz="1300">
                <a:solidFill>
                  <a:srgbClr val="E6E6E6"/>
                </a:solidFill>
                <a:latin typeface="Consolas"/>
              </a:rPr>
              <a:t>sunny</a:t>
            </a:r>
            <a:r>
              <a:rPr sz="1300">
                <a:solidFill>
                  <a:srgbClr val="F2B13B"/>
                </a:solidFill>
                <a:latin typeface="Consolas"/>
              </a:rPr>
              <a:t>", "</a:t>
            </a:r>
            <a:r>
              <a:rPr sz="1300">
                <a:solidFill>
                  <a:srgbClr val="E6E6E6"/>
                </a:solidFill>
                <a:latin typeface="Consolas"/>
              </a:rPr>
              <a:t>cloudy</a:t>
            </a:r>
            <a:r>
              <a:rPr sz="1300">
                <a:solidFill>
                  <a:srgbClr val="F2B13B"/>
                </a:solidFill>
                <a:latin typeface="Consolas"/>
              </a:rPr>
              <a:t>", "</a:t>
            </a:r>
            <a:r>
              <a:rPr sz="1300">
                <a:solidFill>
                  <a:srgbClr val="E6E6E6"/>
                </a:solidFill>
                <a:latin typeface="Consolas"/>
              </a:rPr>
              <a:t>rainy</a:t>
            </a:r>
            <a:r>
              <a:rPr sz="1300">
                <a:solidFill>
                  <a:srgbClr val="F2B13B"/>
                </a:solidFill>
                <a:latin typeface="Consolas"/>
              </a:rPr>
              <a:t>", "</a:t>
            </a:r>
            <a:r>
              <a:rPr sz="1300">
                <a:solidFill>
                  <a:srgbClr val="E6E6E6"/>
                </a:solidFill>
                <a:latin typeface="Consolas"/>
              </a:rPr>
              <a:t>stormy</a:t>
            </a:r>
            <a:r>
              <a:rPr sz="1300">
                <a:solidFill>
                  <a:srgbClr val="F2B13B"/>
                </a:solidFill>
                <a:latin typeface="Consolas"/>
              </a:rPr>
              <a:t>"]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6FB3F2"/>
                </a:solidFill>
                <a:latin typeface="Consolas"/>
              </a:rPr>
              <a:t>return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f</a:t>
            </a:r>
            <a:r>
              <a:rPr sz="1300">
                <a:solidFill>
                  <a:srgbClr val="F2B13B"/>
                </a:solidFill>
                <a:latin typeface="Consolas"/>
              </a:rPr>
              <a:t>"</a:t>
            </a:r>
            <a:r>
              <a:rPr sz="1300">
                <a:solidFill>
                  <a:srgbClr val="E6E6E6"/>
                </a:solidFill>
                <a:latin typeface="Consolas"/>
              </a:rPr>
              <a:t>The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weather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in</a:t>
            </a:r>
            <a:r>
              <a:rPr sz="1300">
                <a:solidFill>
                  <a:srgbClr val="E6E6E6"/>
                </a:solidFill>
                <a:latin typeface="Consolas"/>
              </a:rPr>
              <a:t> {</a:t>
            </a:r>
            <a:r>
              <a:rPr sz="1300">
                <a:solidFill>
                  <a:srgbClr val="E6E6E6"/>
                </a:solidFill>
                <a:latin typeface="Consolas"/>
              </a:rPr>
              <a:t>location</a:t>
            </a:r>
            <a:r>
              <a:rPr sz="1300">
                <a:solidFill>
                  <a:srgbClr val="E6E6E6"/>
                </a:solidFill>
                <a:latin typeface="Consolas"/>
              </a:rPr>
              <a:t>} </a:t>
            </a:r>
            <a:r>
              <a:rPr sz="1300">
                <a:solidFill>
                  <a:srgbClr val="E6E6E6"/>
                </a:solidFill>
                <a:latin typeface="Consolas"/>
              </a:rPr>
              <a:t>is</a:t>
            </a:r>
            <a:r>
              <a:rPr sz="1300">
                <a:solidFill>
                  <a:srgbClr val="E6E6E6"/>
                </a:solidFill>
                <a:latin typeface="Consolas"/>
              </a:rPr>
              <a:t> {</a:t>
            </a:r>
            <a:r>
              <a:rPr sz="1300">
                <a:solidFill>
                  <a:srgbClr val="E6E6E6"/>
                </a:solidFill>
                <a:latin typeface="Consolas"/>
              </a:rPr>
              <a:t>conditions</a:t>
            </a:r>
            <a:r>
              <a:rPr sz="1300">
                <a:solidFill>
                  <a:srgbClr val="E6E6E6"/>
                </a:solidFill>
                <a:latin typeface="Consolas"/>
              </a:rPr>
              <a:t>[</a:t>
            </a:r>
            <a:r>
              <a:rPr sz="1300">
                <a:solidFill>
                  <a:srgbClr val="E6E6E6"/>
                </a:solidFill>
                <a:latin typeface="Consolas"/>
              </a:rPr>
              <a:t>randint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0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3</a:t>
            </a:r>
            <a:r>
              <a:rPr sz="1300">
                <a:solidFill>
                  <a:srgbClr val="E6E6E6"/>
                </a:solidFill>
                <a:latin typeface="Consolas"/>
              </a:rPr>
              <a:t>)]}."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def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 -&gt; </a:t>
            </a:r>
            <a:r>
              <a:rPr sz="1300">
                <a:solidFill>
                  <a:srgbClr val="6FB3F2"/>
                </a:solidFill>
                <a:latin typeface="Consolas"/>
              </a:rPr>
              <a:t>None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  <a:r>
              <a:rPr sz="1300">
                <a:solidFill>
                  <a:srgbClr val="E6E6E6"/>
                </a:solidFill>
                <a:latin typeface="Consolas"/>
              </a:rPr>
              <a:t>(),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name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WeatherAgent</a:t>
            </a:r>
            <a:r>
              <a:rPr sz="1300">
                <a:solidFill>
                  <a:srgbClr val="F2B13B"/>
                </a:solidFill>
                <a:latin typeface="Consolas"/>
              </a:rPr>
              <a:t>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instructions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Use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the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get_weather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tool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to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answer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weather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questions</a:t>
            </a:r>
            <a:r>
              <a:rPr sz="1300">
                <a:solidFill>
                  <a:srgbClr val="E6E6E6"/>
                </a:solidFill>
                <a:latin typeface="Consolas"/>
              </a:rPr>
              <a:t>.",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tools</a:t>
            </a:r>
            <a:r>
              <a:rPr sz="1300">
                <a:solidFill>
                  <a:srgbClr val="E6E6E6"/>
                </a:solidFill>
                <a:latin typeface="Consolas"/>
              </a:rPr>
              <a:t>=[</a:t>
            </a:r>
            <a:r>
              <a:rPr sz="1300">
                <a:solidFill>
                  <a:srgbClr val="E6E6E6"/>
                </a:solidFill>
                <a:latin typeface="Consolas"/>
              </a:rPr>
              <a:t>get_weather</a:t>
            </a:r>
            <a:r>
              <a:rPr sz="1300">
                <a:solidFill>
                  <a:srgbClr val="E6E6E6"/>
                </a:solidFill>
                <a:latin typeface="Consolas"/>
              </a:rPr>
              <a:t>],          # </a:t>
            </a:r>
            <a:r>
              <a:rPr sz="1300">
                <a:solidFill>
                  <a:srgbClr val="E6E6E6"/>
                </a:solidFill>
                <a:latin typeface="Consolas"/>
              </a:rPr>
              <a:t>register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one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or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more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tools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result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("</a:t>
            </a:r>
            <a:r>
              <a:rPr sz="1300">
                <a:solidFill>
                  <a:srgbClr val="E6E6E6"/>
                </a:solidFill>
                <a:latin typeface="Consolas"/>
              </a:rPr>
              <a:t>What</a:t>
            </a:r>
            <a:r>
              <a:rPr sz="1300">
                <a:solidFill>
                  <a:srgbClr val="F2B13B"/>
                </a:solidFill>
                <a:latin typeface="Consolas"/>
              </a:rPr>
              <a:t>'</a:t>
            </a:r>
            <a:r>
              <a:rPr sz="1300">
                <a:solidFill>
                  <a:srgbClr val="E6E6E6"/>
                </a:solidFill>
                <a:latin typeface="Consolas"/>
              </a:rPr>
              <a:t>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the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weather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like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Seattle</a:t>
            </a:r>
            <a:r>
              <a:rPr sz="1300">
                <a:solidFill>
                  <a:srgbClr val="E6E6E6"/>
                </a:solidFill>
                <a:latin typeface="Consolas"/>
              </a:rPr>
              <a:t>?")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print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result</a:t>
            </a:r>
            <a:r>
              <a:rPr sz="1300">
                <a:solidFill>
                  <a:srgbClr val="E6E6E6"/>
                </a:solidFill>
                <a:latin typeface="Consolas"/>
              </a:rPr>
              <a:t>)   # </a:t>
            </a:r>
            <a:r>
              <a:rPr sz="1300">
                <a:solidFill>
                  <a:srgbClr val="E6E6E6"/>
                </a:solidFill>
                <a:latin typeface="Consolas"/>
              </a:rPr>
              <a:t>the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model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calls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get_weather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then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answers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MCP — the Model Context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Reuse the world's tools instead of writing your 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440680" cy="502920"/>
          </a:xfrm>
          <a:prstGeom prst="rect">
            <a:avLst/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078D4"/>
                </a:solidFill>
                <a:latin typeface="Calibri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An open standard for exposing tools/data to LLMs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A growing ecosystem of ready-made 'MCP servers'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Connect once; the agent gets many tools at once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Local (stdio) or remote (HTTP) servers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5440680" cy="502920"/>
          </a:xfrm>
          <a:prstGeom prst="rect">
            <a:avLst/>
          </a:prstGeom>
          <a:solidFill>
            <a:srgbClr val="EA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E80"/>
                </a:solidFill>
                <a:latin typeface="Calibri"/>
              </a:rPr>
              <a:t>In Agent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MCPStreamableHTTPTool(name=..., url=...) for HTTP servers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MCPStdioTool(...) for local process servers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Pass it in tools=[...] like any other tool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Great for docs search, GitHub, databases, filesystems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Hands-on — Connect an MCP tool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C5B6"/>
                </a:solidFill>
                <a:latin typeface="Calibri"/>
              </a:rPr>
              <a:t>One connection exposes an entire toolset to your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201400" cy="5212080"/>
          </a:xfrm>
          <a:prstGeom prst="rect">
            <a:avLst/>
          </a:prstGeom>
          <a:solidFill>
            <a:srgbClr val="242A38"/>
          </a:solidFill>
          <a:ln w="12700">
            <a:solidFill>
              <a:srgbClr val="3A4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90472"/>
            <a:ext cx="10698480" cy="4892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MCPStreamableHTTPTool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openai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def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 -&gt; </a:t>
            </a:r>
            <a:r>
              <a:rPr sz="1300">
                <a:solidFill>
                  <a:srgbClr val="6FB3F2"/>
                </a:solidFill>
                <a:latin typeface="Consolas"/>
              </a:rPr>
              <a:t>None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    # `async with` manages the MCP connection lifecycle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with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  <a:r>
              <a:rPr sz="1300">
                <a:solidFill>
                  <a:srgbClr val="E6E6E6"/>
                </a:solidFill>
                <a:latin typeface="Consolas"/>
              </a:rPr>
              <a:t>(),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name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DocsAgent</a:t>
            </a:r>
            <a:r>
              <a:rPr sz="1300">
                <a:solidFill>
                  <a:srgbClr val="F2B13B"/>
                </a:solidFill>
                <a:latin typeface="Consolas"/>
              </a:rPr>
              <a:t>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instructions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Answer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Microsoft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documentation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questions</a:t>
            </a:r>
            <a:r>
              <a:rPr sz="1300">
                <a:solidFill>
                  <a:srgbClr val="E6E6E6"/>
                </a:solidFill>
                <a:latin typeface="Consolas"/>
              </a:rPr>
              <a:t>.",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tools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MCPStreamableHTTPTool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</a:t>
            </a:r>
            <a:r>
              <a:rPr sz="1300">
                <a:solidFill>
                  <a:srgbClr val="E6E6E6"/>
                </a:solidFill>
                <a:latin typeface="Consolas"/>
              </a:rPr>
              <a:t>name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Microsoft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Learn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MCP</a:t>
            </a:r>
            <a:r>
              <a:rPr sz="1300">
                <a:solidFill>
                  <a:srgbClr val="F2B13B"/>
                </a:solidFill>
                <a:latin typeface="Consolas"/>
              </a:rPr>
              <a:t>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</a:t>
            </a:r>
            <a:r>
              <a:rPr sz="1300">
                <a:solidFill>
                  <a:srgbClr val="E6E6E6"/>
                </a:solidFill>
                <a:latin typeface="Consolas"/>
              </a:rPr>
              <a:t>url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https</a:t>
            </a:r>
            <a:r>
              <a:rPr sz="1300">
                <a:solidFill>
                  <a:srgbClr val="E6E6E6"/>
                </a:solidFill>
                <a:latin typeface="Consolas"/>
              </a:rPr>
              <a:t>://</a:t>
            </a:r>
            <a:r>
              <a:rPr sz="1300">
                <a:solidFill>
                  <a:srgbClr val="E6E6E6"/>
                </a:solidFill>
                <a:latin typeface="Consolas"/>
              </a:rPr>
              <a:t>learn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microsoft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com</a:t>
            </a:r>
            <a:r>
              <a:rPr sz="1300">
                <a:solidFill>
                  <a:srgbClr val="E6E6E6"/>
                </a:solidFill>
                <a:latin typeface="Consolas"/>
              </a:rPr>
              <a:t>/</a:t>
            </a:r>
            <a:r>
              <a:rPr sz="1300">
                <a:solidFill>
                  <a:srgbClr val="E6E6E6"/>
                </a:solidFill>
                <a:latin typeface="Consolas"/>
              </a:rPr>
              <a:t>api</a:t>
            </a:r>
            <a:r>
              <a:rPr sz="1300">
                <a:solidFill>
                  <a:srgbClr val="E6E6E6"/>
                </a:solidFill>
                <a:latin typeface="Consolas"/>
              </a:rPr>
              <a:t>/</a:t>
            </a:r>
            <a:r>
              <a:rPr sz="1300">
                <a:solidFill>
                  <a:srgbClr val="E6E6E6"/>
                </a:solidFill>
                <a:latin typeface="Consolas"/>
              </a:rPr>
              <a:t>mcp</a:t>
            </a:r>
            <a:r>
              <a:rPr sz="1300">
                <a:solidFill>
                  <a:srgbClr val="F2B13B"/>
                </a:solidFill>
                <a:latin typeface="Consolas"/>
              </a:rPr>
              <a:t>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),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) </a:t>
            </a:r>
            <a:r>
              <a:rPr sz="1300">
                <a:solidFill>
                  <a:srgbClr val="6FB3F2"/>
                </a:solidFill>
                <a:latin typeface="Consolas"/>
              </a:rPr>
              <a:t>as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query</a:t>
            </a:r>
            <a:r>
              <a:rPr sz="1300">
                <a:solidFill>
                  <a:srgbClr val="E6E6E6"/>
                </a:solidFill>
                <a:latin typeface="Consolas"/>
              </a:rPr>
              <a:t> = "</a:t>
            </a:r>
            <a:r>
              <a:rPr sz="1300">
                <a:solidFill>
                  <a:srgbClr val="E6E6E6"/>
                </a:solidFill>
                <a:latin typeface="Consolas"/>
              </a:rPr>
              <a:t>How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do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I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create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Azure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storage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account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with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the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az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CLI</a:t>
            </a:r>
            <a:r>
              <a:rPr sz="1300">
                <a:solidFill>
                  <a:srgbClr val="E6E6E6"/>
                </a:solidFill>
                <a:latin typeface="Consolas"/>
              </a:rPr>
              <a:t>?"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for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chunk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query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stream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6FB3F2"/>
                </a:solidFill>
                <a:latin typeface="Consolas"/>
              </a:rPr>
              <a:t>True</a:t>
            </a:r>
            <a:r>
              <a:rPr sz="1300">
                <a:solidFill>
                  <a:srgbClr val="E6E6E6"/>
                </a:solidFill>
                <a:latin typeface="Consolas"/>
              </a:rPr>
              <a:t>):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</a:t>
            </a:r>
            <a:r>
              <a:rPr sz="1300">
                <a:solidFill>
                  <a:srgbClr val="6FB3F2"/>
                </a:solidFill>
                <a:latin typeface="Consolas"/>
              </a:rPr>
              <a:t>if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chunk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text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300">
                <a:solidFill>
                  <a:srgbClr val="E6E6E6"/>
                </a:solidFill>
                <a:latin typeface="Consolas"/>
              </a:rPr>
              <a:t>print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chunk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text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end</a:t>
            </a:r>
            <a:r>
              <a:rPr sz="1300">
                <a:solidFill>
                  <a:srgbClr val="E6E6E6"/>
                </a:solidFill>
                <a:latin typeface="Consolas"/>
              </a:rPr>
              <a:t>="")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0" b="1" i="0">
                <a:solidFill>
                  <a:srgbClr val="8FC9F5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Memory &amp; Sessions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1EEFB"/>
                </a:solidFill>
                <a:latin typeface="Calibri"/>
              </a:rPr>
              <a:t>Making conversations stateful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Sessions vs. Context Providers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Session = this conversation; Provider = knowledge that outlives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440680" cy="502920"/>
          </a:xfrm>
          <a:prstGeom prst="rect">
            <a:avLst/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078D4"/>
                </a:solidFill>
                <a:latin typeface="Calibri"/>
              </a:rPr>
              <a:t>Session (short-term)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Holds the running conversation history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Create once:  session = agent.create_session()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Pass it to every run to keep context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Without it, each run() is stateless / independent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Can be persisted &amp; resumed (Redis, Cosmos, file, ...)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5440680" cy="502920"/>
          </a:xfrm>
          <a:prstGeom prst="rect">
            <a:avLst/>
          </a:prstGeom>
          <a:solidFill>
            <a:srgbClr val="EA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E80"/>
                </a:solidFill>
                <a:latin typeface="Calibri"/>
              </a:rPr>
              <a:t>Context Provider (long-term)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Injects extra context before each run (before_run)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Captures/updates facts after each run (after_run)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Backs long-term memory (mem0, Redis, Azure AI Search)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Register with  context_providers=[...]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Think: 'what should the agent always remember?'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Hands-on 3 — Multi-turn memory with a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C5B6"/>
                </a:solidFill>
                <a:latin typeface="Calibri"/>
              </a:rPr>
              <a:t>Reuse one session object to keep context between 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201400" cy="5212080"/>
          </a:xfrm>
          <a:prstGeom prst="rect">
            <a:avLst/>
          </a:prstGeom>
          <a:solidFill>
            <a:srgbClr val="242A38"/>
          </a:solidFill>
          <a:ln w="12700">
            <a:solidFill>
              <a:srgbClr val="3A4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90472"/>
            <a:ext cx="10698480" cy="4892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openai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def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 -&gt; </a:t>
            </a:r>
            <a:r>
              <a:rPr sz="1300">
                <a:solidFill>
                  <a:srgbClr val="6FB3F2"/>
                </a:solidFill>
                <a:latin typeface="Consolas"/>
              </a:rPr>
              <a:t>None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  <a:r>
              <a:rPr sz="1300">
                <a:solidFill>
                  <a:srgbClr val="E6E6E6"/>
                </a:solidFill>
                <a:latin typeface="Consolas"/>
              </a:rPr>
              <a:t>(),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name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ConversationAgent</a:t>
            </a:r>
            <a:r>
              <a:rPr sz="1300">
                <a:solidFill>
                  <a:srgbClr val="F2B13B"/>
                </a:solidFill>
                <a:latin typeface="Consolas"/>
              </a:rPr>
              <a:t>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instructions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You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are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friendly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assistant</a:t>
            </a:r>
            <a:r>
              <a:rPr sz="1300">
                <a:solidFill>
                  <a:srgbClr val="E6E6E6"/>
                </a:solidFill>
                <a:latin typeface="Consolas"/>
              </a:rPr>
              <a:t>. </a:t>
            </a:r>
            <a:r>
              <a:rPr sz="1300">
                <a:solidFill>
                  <a:srgbClr val="E6E6E6"/>
                </a:solidFill>
                <a:latin typeface="Consolas"/>
              </a:rPr>
              <a:t>Keep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answers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brief</a:t>
            </a:r>
            <a:r>
              <a:rPr sz="1300">
                <a:solidFill>
                  <a:srgbClr val="E6E6E6"/>
                </a:solidFill>
                <a:latin typeface="Consolas"/>
              </a:rPr>
              <a:t>.",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    # A session maintains conversation history across calls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session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create_session</a:t>
            </a:r>
            <a:r>
              <a:rPr sz="1300">
                <a:solidFill>
                  <a:srgbClr val="E6E6E6"/>
                </a:solidFill>
                <a:latin typeface="Consolas"/>
              </a:rPr>
              <a:t>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    # Turn 1 — teach it something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r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("</a:t>
            </a:r>
            <a:r>
              <a:rPr sz="1300">
                <a:solidFill>
                  <a:srgbClr val="E6E6E6"/>
                </a:solidFill>
                <a:latin typeface="Consolas"/>
              </a:rPr>
              <a:t>My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name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is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Alice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and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I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love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hiking</a:t>
            </a:r>
            <a:r>
              <a:rPr sz="1300">
                <a:solidFill>
                  <a:srgbClr val="E6E6E6"/>
                </a:solidFill>
                <a:latin typeface="Consolas"/>
              </a:rPr>
              <a:t>.", </a:t>
            </a:r>
            <a:r>
              <a:rPr sz="1300">
                <a:solidFill>
                  <a:srgbClr val="E6E6E6"/>
                </a:solidFill>
                <a:latin typeface="Consolas"/>
              </a:rPr>
              <a:t>session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session</a:t>
            </a:r>
            <a:r>
              <a:rPr sz="1300">
                <a:solidFill>
                  <a:srgbClr val="E6E6E6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print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f</a:t>
            </a:r>
            <a:r>
              <a:rPr sz="1300">
                <a:solidFill>
                  <a:srgbClr val="F2B13B"/>
                </a:solidFill>
                <a:latin typeface="Consolas"/>
              </a:rPr>
              <a:t>"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: {</a:t>
            </a:r>
            <a:r>
              <a:rPr sz="1300">
                <a:solidFill>
                  <a:srgbClr val="E6E6E6"/>
                </a:solidFill>
                <a:latin typeface="Consolas"/>
              </a:rPr>
              <a:t>r</a:t>
            </a:r>
            <a:r>
              <a:rPr sz="1300">
                <a:solidFill>
                  <a:srgbClr val="E6E6E6"/>
                </a:solidFill>
                <a:latin typeface="Consolas"/>
              </a:rPr>
              <a:t>}\</a:t>
            </a:r>
            <a:r>
              <a:rPr sz="1300">
                <a:solidFill>
                  <a:srgbClr val="E6E6E6"/>
                </a:solidFill>
                <a:latin typeface="Consolas"/>
              </a:rPr>
              <a:t>n</a:t>
            </a:r>
            <a:r>
              <a:rPr sz="1300">
                <a:solidFill>
                  <a:srgbClr val="F2B13B"/>
                </a:solidFill>
                <a:latin typeface="Consolas"/>
              </a:rPr>
              <a:t>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    # Turn 2 — it remembers, because we reuse the same session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r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("</a:t>
            </a:r>
            <a:r>
              <a:rPr sz="1300">
                <a:solidFill>
                  <a:srgbClr val="E6E6E6"/>
                </a:solidFill>
                <a:latin typeface="Consolas"/>
              </a:rPr>
              <a:t>What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do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you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remember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about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me</a:t>
            </a:r>
            <a:r>
              <a:rPr sz="1300">
                <a:solidFill>
                  <a:srgbClr val="E6E6E6"/>
                </a:solidFill>
                <a:latin typeface="Consolas"/>
              </a:rPr>
              <a:t>?", </a:t>
            </a:r>
            <a:r>
              <a:rPr sz="1300">
                <a:solidFill>
                  <a:srgbClr val="E6E6E6"/>
                </a:solidFill>
                <a:latin typeface="Consolas"/>
              </a:rPr>
              <a:t>session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session</a:t>
            </a:r>
            <a:r>
              <a:rPr sz="1300">
                <a:solidFill>
                  <a:srgbClr val="E6E6E6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print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f</a:t>
            </a:r>
            <a:r>
              <a:rPr sz="1300">
                <a:solidFill>
                  <a:srgbClr val="F2B13B"/>
                </a:solidFill>
                <a:latin typeface="Consolas"/>
              </a:rPr>
              <a:t>"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: {</a:t>
            </a:r>
            <a:r>
              <a:rPr sz="1300">
                <a:solidFill>
                  <a:srgbClr val="E6E6E6"/>
                </a:solidFill>
                <a:latin typeface="Consolas"/>
              </a:rPr>
              <a:t>r</a:t>
            </a:r>
            <a:r>
              <a:rPr sz="1300">
                <a:solidFill>
                  <a:srgbClr val="E6E6E6"/>
                </a:solidFill>
                <a:latin typeface="Consolas"/>
              </a:rPr>
              <a:t>}")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Hands-on 4 — Long-term memory via a Context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C5B6"/>
                </a:solidFill>
                <a:latin typeface="Calibri"/>
              </a:rPr>
              <a:t>before_run injects memory; after_run captures new 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201400" cy="5212080"/>
          </a:xfrm>
          <a:prstGeom prst="rect">
            <a:avLst/>
          </a:prstGeom>
          <a:solidFill>
            <a:srgbClr val="242A38"/>
          </a:solidFill>
          <a:ln w="12700">
            <a:solidFill>
              <a:srgbClr val="3A4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90472"/>
            <a:ext cx="10698480" cy="4892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6FB3F2"/>
                </a:solidFill>
                <a:latin typeface="Consolas"/>
              </a:rPr>
              <a:t>from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typing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6FB3F2"/>
                </a:solidFill>
                <a:latin typeface="Consolas"/>
              </a:rPr>
              <a:t>import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Any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6FB3F2"/>
                </a:solidFill>
                <a:latin typeface="Consolas"/>
              </a:rPr>
              <a:t>from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6FB3F2"/>
                </a:solidFill>
                <a:latin typeface="Consolas"/>
              </a:rPr>
              <a:t>import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Agent</a:t>
            </a:r>
            <a:r>
              <a:rPr sz="1200">
                <a:solidFill>
                  <a:srgbClr val="E6E6E6"/>
                </a:solidFill>
                <a:latin typeface="Consolas"/>
              </a:rPr>
              <a:t>, </a:t>
            </a:r>
            <a:r>
              <a:rPr sz="1200">
                <a:solidFill>
                  <a:srgbClr val="E6E6E6"/>
                </a:solidFill>
                <a:latin typeface="Consolas"/>
              </a:rPr>
              <a:t>AgentSession</a:t>
            </a:r>
            <a:r>
              <a:rPr sz="1200">
                <a:solidFill>
                  <a:srgbClr val="E6E6E6"/>
                </a:solidFill>
                <a:latin typeface="Consolas"/>
              </a:rPr>
              <a:t>, </a:t>
            </a:r>
            <a:r>
              <a:rPr sz="1200">
                <a:solidFill>
                  <a:srgbClr val="E6E6E6"/>
                </a:solidFill>
                <a:latin typeface="Consolas"/>
              </a:rPr>
              <a:t>ContextProvider</a:t>
            </a:r>
            <a:r>
              <a:rPr sz="1200">
                <a:solidFill>
                  <a:srgbClr val="E6E6E6"/>
                </a:solidFill>
                <a:latin typeface="Consolas"/>
              </a:rPr>
              <a:t>, </a:t>
            </a:r>
            <a:r>
              <a:rPr sz="1200">
                <a:solidFill>
                  <a:srgbClr val="E6E6E6"/>
                </a:solidFill>
                <a:latin typeface="Consolas"/>
              </a:rPr>
              <a:t>SessionContext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6FB3F2"/>
                </a:solidFill>
                <a:latin typeface="Consolas"/>
              </a:rPr>
              <a:t>class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UserMemoryProvider</a:t>
            </a:r>
            <a:r>
              <a:rPr sz="1200">
                <a:solidFill>
                  <a:srgbClr val="E6E6E6"/>
                </a:solidFill>
                <a:latin typeface="Consolas"/>
              </a:rPr>
              <a:t>(</a:t>
            </a:r>
            <a:r>
              <a:rPr sz="1200">
                <a:solidFill>
                  <a:srgbClr val="E6E6E6"/>
                </a:solidFill>
                <a:latin typeface="Consolas"/>
              </a:rPr>
              <a:t>ContextProvider</a:t>
            </a:r>
            <a:r>
              <a:rPr sz="1200">
                <a:solidFill>
                  <a:srgbClr val="E6E6E6"/>
                </a:solidFill>
                <a:latin typeface="Consolas"/>
              </a:rPr>
              <a:t>):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</a:t>
            </a:r>
            <a:r>
              <a:rPr sz="1200">
                <a:solidFill>
                  <a:srgbClr val="E6E6E6"/>
                </a:solidFill>
                <a:latin typeface="Consolas"/>
              </a:rPr>
              <a:t>DEFAULT_SOURCE_ID</a:t>
            </a:r>
            <a:r>
              <a:rPr sz="1200">
                <a:solidFill>
                  <a:srgbClr val="E6E6E6"/>
                </a:solidFill>
                <a:latin typeface="Consolas"/>
              </a:rPr>
              <a:t> = "</a:t>
            </a:r>
            <a:r>
              <a:rPr sz="1200">
                <a:solidFill>
                  <a:srgbClr val="E6E6E6"/>
                </a:solidFill>
                <a:latin typeface="Consolas"/>
              </a:rPr>
              <a:t>user_memory</a:t>
            </a:r>
            <a:r>
              <a:rPr sz="1200">
                <a:solidFill>
                  <a:srgbClr val="F2B13B"/>
                </a:solidFill>
                <a:latin typeface="Consolas"/>
              </a:rPr>
              <a:t>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</a:t>
            </a:r>
            <a:r>
              <a:rPr sz="1200">
                <a:solidFill>
                  <a:srgbClr val="6FB3F2"/>
                </a:solidFill>
                <a:latin typeface="Consolas"/>
              </a:rPr>
              <a:t>def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__init__</a:t>
            </a:r>
            <a:r>
              <a:rPr sz="1200">
                <a:solidFill>
                  <a:srgbClr val="E6E6E6"/>
                </a:solidFill>
                <a:latin typeface="Consolas"/>
              </a:rPr>
              <a:t>(</a:t>
            </a:r>
            <a:r>
              <a:rPr sz="1200">
                <a:solidFill>
                  <a:srgbClr val="6FB3F2"/>
                </a:solidFill>
                <a:latin typeface="Consolas"/>
              </a:rPr>
              <a:t>self</a:t>
            </a:r>
            <a:r>
              <a:rPr sz="1200">
                <a:solidFill>
                  <a:srgbClr val="E6E6E6"/>
                </a:solidFill>
                <a:latin typeface="Consolas"/>
              </a:rPr>
              <a:t>):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    </a:t>
            </a:r>
            <a:r>
              <a:rPr sz="1200">
                <a:solidFill>
                  <a:srgbClr val="6FB3F2"/>
                </a:solidFill>
                <a:latin typeface="Consolas"/>
              </a:rPr>
              <a:t>super</a:t>
            </a:r>
            <a:r>
              <a:rPr sz="1200">
                <a:solidFill>
                  <a:srgbClr val="E6E6E6"/>
                </a:solidFill>
                <a:latin typeface="Consolas"/>
              </a:rPr>
              <a:t>().</a:t>
            </a:r>
            <a:r>
              <a:rPr sz="1200">
                <a:solidFill>
                  <a:srgbClr val="E6E6E6"/>
                </a:solidFill>
                <a:latin typeface="Consolas"/>
              </a:rPr>
              <a:t>__init__</a:t>
            </a:r>
            <a:r>
              <a:rPr sz="1200">
                <a:solidFill>
                  <a:srgbClr val="E6E6E6"/>
                </a:solidFill>
                <a:latin typeface="Consolas"/>
              </a:rPr>
              <a:t>(</a:t>
            </a:r>
            <a:r>
              <a:rPr sz="1200">
                <a:solidFill>
                  <a:srgbClr val="6FB3F2"/>
                </a:solidFill>
                <a:latin typeface="Consolas"/>
              </a:rPr>
              <a:t>self</a:t>
            </a:r>
            <a:r>
              <a:rPr sz="1200">
                <a:solidFill>
                  <a:srgbClr val="E6E6E6"/>
                </a:solidFill>
                <a:latin typeface="Consolas"/>
              </a:rPr>
              <a:t>.</a:t>
            </a:r>
            <a:r>
              <a:rPr sz="1200">
                <a:solidFill>
                  <a:srgbClr val="E6E6E6"/>
                </a:solidFill>
                <a:latin typeface="Consolas"/>
              </a:rPr>
              <a:t>DEFAULT_SOURCE_ID</a:t>
            </a:r>
            <a:r>
              <a:rPr sz="1200">
                <a:solidFill>
                  <a:srgbClr val="E6E6E6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</a:t>
            </a:r>
            <a:r>
              <a:rPr sz="1200">
                <a:solidFill>
                  <a:srgbClr val="6FB3F2"/>
                </a:solidFill>
                <a:latin typeface="Consolas"/>
              </a:rPr>
              <a:t>async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6FB3F2"/>
                </a:solidFill>
                <a:latin typeface="Consolas"/>
              </a:rPr>
              <a:t>def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before_run</a:t>
            </a:r>
            <a:r>
              <a:rPr sz="1200">
                <a:solidFill>
                  <a:srgbClr val="E6E6E6"/>
                </a:solidFill>
                <a:latin typeface="Consolas"/>
              </a:rPr>
              <a:t>(</a:t>
            </a:r>
            <a:r>
              <a:rPr sz="1200">
                <a:solidFill>
                  <a:srgbClr val="6FB3F2"/>
                </a:solidFill>
                <a:latin typeface="Consolas"/>
              </a:rPr>
              <a:t>self</a:t>
            </a:r>
            <a:r>
              <a:rPr sz="1200">
                <a:solidFill>
                  <a:srgbClr val="E6E6E6"/>
                </a:solidFill>
                <a:latin typeface="Consolas"/>
              </a:rPr>
              <a:t>, *, </a:t>
            </a:r>
            <a:r>
              <a:rPr sz="1200">
                <a:solidFill>
                  <a:srgbClr val="E6E6E6"/>
                </a:solidFill>
                <a:latin typeface="Consolas"/>
              </a:rPr>
              <a:t>agent</a:t>
            </a:r>
            <a:r>
              <a:rPr sz="1200">
                <a:solidFill>
                  <a:srgbClr val="E6E6E6"/>
                </a:solidFill>
                <a:latin typeface="Consolas"/>
              </a:rPr>
              <a:t>, </a:t>
            </a:r>
            <a:r>
              <a:rPr sz="1200">
                <a:solidFill>
                  <a:srgbClr val="E6E6E6"/>
                </a:solidFill>
                <a:latin typeface="Consolas"/>
              </a:rPr>
              <a:t>session</a:t>
            </a:r>
            <a:r>
              <a:rPr sz="1200">
                <a:solidFill>
                  <a:srgbClr val="E6E6E6"/>
                </a:solidFill>
                <a:latin typeface="Consolas"/>
              </a:rPr>
              <a:t>, </a:t>
            </a:r>
            <a:r>
              <a:rPr sz="1200">
                <a:solidFill>
                  <a:srgbClr val="E6E6E6"/>
                </a:solidFill>
                <a:latin typeface="Consolas"/>
              </a:rPr>
              <a:t>context</a:t>
            </a:r>
            <a:r>
              <a:rPr sz="1200">
                <a:solidFill>
                  <a:srgbClr val="E6E6E6"/>
                </a:solidFill>
                <a:latin typeface="Consolas"/>
              </a:rPr>
              <a:t>: </a:t>
            </a:r>
            <a:r>
              <a:rPr sz="1200">
                <a:solidFill>
                  <a:srgbClr val="E6E6E6"/>
                </a:solidFill>
                <a:latin typeface="Consolas"/>
              </a:rPr>
              <a:t>SessionContext</a:t>
            </a:r>
            <a:r>
              <a:rPr sz="1200">
                <a:solidFill>
                  <a:srgbClr val="E6E6E6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            </a:t>
            </a:r>
            <a:r>
              <a:rPr sz="1200">
                <a:solidFill>
                  <a:srgbClr val="E6E6E6"/>
                </a:solidFill>
                <a:latin typeface="Consolas"/>
              </a:rPr>
              <a:t>state</a:t>
            </a:r>
            <a:r>
              <a:rPr sz="1200">
                <a:solidFill>
                  <a:srgbClr val="E6E6E6"/>
                </a:solidFill>
                <a:latin typeface="Consolas"/>
              </a:rPr>
              <a:t>: </a:t>
            </a:r>
            <a:r>
              <a:rPr sz="1200">
                <a:solidFill>
                  <a:srgbClr val="E6E6E6"/>
                </a:solidFill>
                <a:latin typeface="Consolas"/>
              </a:rPr>
              <a:t>dict</a:t>
            </a:r>
            <a:r>
              <a:rPr sz="1200">
                <a:solidFill>
                  <a:srgbClr val="E6E6E6"/>
                </a:solidFill>
                <a:latin typeface="Consolas"/>
              </a:rPr>
              <a:t>[</a:t>
            </a:r>
            <a:r>
              <a:rPr sz="1200">
                <a:solidFill>
                  <a:srgbClr val="E6E6E6"/>
                </a:solidFill>
                <a:latin typeface="Consolas"/>
              </a:rPr>
              <a:t>str</a:t>
            </a:r>
            <a:r>
              <a:rPr sz="1200">
                <a:solidFill>
                  <a:srgbClr val="E6E6E6"/>
                </a:solidFill>
                <a:latin typeface="Consolas"/>
              </a:rPr>
              <a:t>, </a:t>
            </a:r>
            <a:r>
              <a:rPr sz="1200">
                <a:solidFill>
                  <a:srgbClr val="E6E6E6"/>
                </a:solidFill>
                <a:latin typeface="Consolas"/>
              </a:rPr>
              <a:t>Any</a:t>
            </a:r>
            <a:r>
              <a:rPr sz="1200">
                <a:solidFill>
                  <a:srgbClr val="E6E6E6"/>
                </a:solidFill>
                <a:latin typeface="Consolas"/>
              </a:rPr>
              <a:t>]) -&gt; </a:t>
            </a:r>
            <a:r>
              <a:rPr sz="1200">
                <a:solidFill>
                  <a:srgbClr val="6FB3F2"/>
                </a:solidFill>
                <a:latin typeface="Consolas"/>
              </a:rPr>
              <a:t>None</a:t>
            </a:r>
            <a:r>
              <a:rPr sz="12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    </a:t>
            </a:r>
            <a:r>
              <a:rPr sz="1200">
                <a:solidFill>
                  <a:srgbClr val="E6E6E6"/>
                </a:solidFill>
                <a:latin typeface="Consolas"/>
              </a:rPr>
              <a:t>name</a:t>
            </a:r>
            <a:r>
              <a:rPr sz="1200">
                <a:solidFill>
                  <a:srgbClr val="E6E6E6"/>
                </a:solidFill>
                <a:latin typeface="Consolas"/>
              </a:rPr>
              <a:t> = </a:t>
            </a:r>
            <a:r>
              <a:rPr sz="1200">
                <a:solidFill>
                  <a:srgbClr val="E6E6E6"/>
                </a:solidFill>
                <a:latin typeface="Consolas"/>
              </a:rPr>
              <a:t>state</a:t>
            </a:r>
            <a:r>
              <a:rPr sz="1200">
                <a:solidFill>
                  <a:srgbClr val="E6E6E6"/>
                </a:solidFill>
                <a:latin typeface="Consolas"/>
              </a:rPr>
              <a:t>.</a:t>
            </a:r>
            <a:r>
              <a:rPr sz="1200">
                <a:solidFill>
                  <a:srgbClr val="E6E6E6"/>
                </a:solidFill>
                <a:latin typeface="Consolas"/>
              </a:rPr>
              <a:t>get</a:t>
            </a:r>
            <a:r>
              <a:rPr sz="1200">
                <a:solidFill>
                  <a:srgbClr val="E6E6E6"/>
                </a:solidFill>
                <a:latin typeface="Consolas"/>
              </a:rPr>
              <a:t>("</a:t>
            </a:r>
            <a:r>
              <a:rPr sz="1200">
                <a:solidFill>
                  <a:srgbClr val="E6E6E6"/>
                </a:solidFill>
                <a:latin typeface="Consolas"/>
              </a:rPr>
              <a:t>user_name</a:t>
            </a:r>
            <a:r>
              <a:rPr sz="1200">
                <a:solidFill>
                  <a:srgbClr val="F2B13B"/>
                </a:solidFill>
                <a:latin typeface="Consolas"/>
              </a:rPr>
              <a:t>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    </a:t>
            </a:r>
            <a:r>
              <a:rPr sz="1200">
                <a:solidFill>
                  <a:srgbClr val="6FB3F2"/>
                </a:solidFill>
                <a:latin typeface="Consolas"/>
              </a:rPr>
              <a:t>if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name</a:t>
            </a:r>
            <a:r>
              <a:rPr sz="12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        </a:t>
            </a:r>
            <a:r>
              <a:rPr sz="1200">
                <a:solidFill>
                  <a:srgbClr val="E6E6E6"/>
                </a:solidFill>
                <a:latin typeface="Consolas"/>
              </a:rPr>
              <a:t>context</a:t>
            </a:r>
            <a:r>
              <a:rPr sz="1200">
                <a:solidFill>
                  <a:srgbClr val="E6E6E6"/>
                </a:solidFill>
                <a:latin typeface="Consolas"/>
              </a:rPr>
              <a:t>.</a:t>
            </a:r>
            <a:r>
              <a:rPr sz="1200">
                <a:solidFill>
                  <a:srgbClr val="E6E6E6"/>
                </a:solidFill>
                <a:latin typeface="Consolas"/>
              </a:rPr>
              <a:t>extend_instructions</a:t>
            </a:r>
            <a:r>
              <a:rPr sz="1200">
                <a:solidFill>
                  <a:srgbClr val="E6E6E6"/>
                </a:solidFill>
                <a:latin typeface="Consolas"/>
              </a:rPr>
              <a:t>(</a:t>
            </a:r>
            <a:r>
              <a:rPr sz="1200">
                <a:solidFill>
                  <a:srgbClr val="6FB3F2"/>
                </a:solidFill>
                <a:latin typeface="Consolas"/>
              </a:rPr>
              <a:t>self</a:t>
            </a:r>
            <a:r>
              <a:rPr sz="1200">
                <a:solidFill>
                  <a:srgbClr val="E6E6E6"/>
                </a:solidFill>
                <a:latin typeface="Consolas"/>
              </a:rPr>
              <a:t>.</a:t>
            </a:r>
            <a:r>
              <a:rPr sz="1200">
                <a:solidFill>
                  <a:srgbClr val="E6E6E6"/>
                </a:solidFill>
                <a:latin typeface="Consolas"/>
              </a:rPr>
              <a:t>source_id</a:t>
            </a:r>
            <a:r>
              <a:rPr sz="1200">
                <a:solidFill>
                  <a:srgbClr val="E6E6E6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200">
                <a:solidFill>
                  <a:srgbClr val="E6E6E6"/>
                </a:solidFill>
                <a:latin typeface="Consolas"/>
              </a:rPr>
              <a:t>f</a:t>
            </a:r>
            <a:r>
              <a:rPr sz="1200">
                <a:solidFill>
                  <a:srgbClr val="F2B13B"/>
                </a:solidFill>
                <a:latin typeface="Consolas"/>
              </a:rPr>
              <a:t>"</a:t>
            </a:r>
            <a:r>
              <a:rPr sz="1200">
                <a:solidFill>
                  <a:srgbClr val="E6E6E6"/>
                </a:solidFill>
                <a:latin typeface="Consolas"/>
              </a:rPr>
              <a:t>The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user</a:t>
            </a:r>
            <a:r>
              <a:rPr sz="1200">
                <a:solidFill>
                  <a:srgbClr val="F2B13B"/>
                </a:solidFill>
                <a:latin typeface="Consolas"/>
              </a:rPr>
              <a:t>'</a:t>
            </a:r>
            <a:r>
              <a:rPr sz="1200">
                <a:solidFill>
                  <a:srgbClr val="E6E6E6"/>
                </a:solidFill>
                <a:latin typeface="Consolas"/>
              </a:rPr>
              <a:t>s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name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is</a:t>
            </a:r>
            <a:r>
              <a:rPr sz="1200">
                <a:solidFill>
                  <a:srgbClr val="E6E6E6"/>
                </a:solidFill>
                <a:latin typeface="Consolas"/>
              </a:rPr>
              <a:t> {</a:t>
            </a:r>
            <a:r>
              <a:rPr sz="1200">
                <a:solidFill>
                  <a:srgbClr val="E6E6E6"/>
                </a:solidFill>
                <a:latin typeface="Consolas"/>
              </a:rPr>
              <a:t>name</a:t>
            </a:r>
            <a:r>
              <a:rPr sz="1200">
                <a:solidFill>
                  <a:srgbClr val="E6E6E6"/>
                </a:solidFill>
                <a:latin typeface="Consolas"/>
              </a:rPr>
              <a:t>}. </a:t>
            </a:r>
            <a:r>
              <a:rPr sz="1200">
                <a:solidFill>
                  <a:srgbClr val="E6E6E6"/>
                </a:solidFill>
                <a:latin typeface="Consolas"/>
              </a:rPr>
              <a:t>Always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address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them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by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name</a:t>
            </a:r>
            <a:r>
              <a:rPr sz="1200">
                <a:solidFill>
                  <a:srgbClr val="E6E6E6"/>
                </a:solidFill>
                <a:latin typeface="Consolas"/>
              </a:rPr>
              <a:t>.")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</a:t>
            </a:r>
            <a:r>
              <a:rPr sz="1200">
                <a:solidFill>
                  <a:srgbClr val="6FB3F2"/>
                </a:solidFill>
                <a:latin typeface="Consolas"/>
              </a:rPr>
              <a:t>async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6FB3F2"/>
                </a:solidFill>
                <a:latin typeface="Consolas"/>
              </a:rPr>
              <a:t>def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after_run</a:t>
            </a:r>
            <a:r>
              <a:rPr sz="1200">
                <a:solidFill>
                  <a:srgbClr val="E6E6E6"/>
                </a:solidFill>
                <a:latin typeface="Consolas"/>
              </a:rPr>
              <a:t>(</a:t>
            </a:r>
            <a:r>
              <a:rPr sz="1200">
                <a:solidFill>
                  <a:srgbClr val="6FB3F2"/>
                </a:solidFill>
                <a:latin typeface="Consolas"/>
              </a:rPr>
              <a:t>self</a:t>
            </a:r>
            <a:r>
              <a:rPr sz="1200">
                <a:solidFill>
                  <a:srgbClr val="E6E6E6"/>
                </a:solidFill>
                <a:latin typeface="Consolas"/>
              </a:rPr>
              <a:t>, *, </a:t>
            </a:r>
            <a:r>
              <a:rPr sz="1200">
                <a:solidFill>
                  <a:srgbClr val="E6E6E6"/>
                </a:solidFill>
                <a:latin typeface="Consolas"/>
              </a:rPr>
              <a:t>agent</a:t>
            </a:r>
            <a:r>
              <a:rPr sz="1200">
                <a:solidFill>
                  <a:srgbClr val="E6E6E6"/>
                </a:solidFill>
                <a:latin typeface="Consolas"/>
              </a:rPr>
              <a:t>, </a:t>
            </a:r>
            <a:r>
              <a:rPr sz="1200">
                <a:solidFill>
                  <a:srgbClr val="E6E6E6"/>
                </a:solidFill>
                <a:latin typeface="Consolas"/>
              </a:rPr>
              <a:t>session</a:t>
            </a:r>
            <a:r>
              <a:rPr sz="1200">
                <a:solidFill>
                  <a:srgbClr val="E6E6E6"/>
                </a:solidFill>
                <a:latin typeface="Consolas"/>
              </a:rPr>
              <a:t>, </a:t>
            </a:r>
            <a:r>
              <a:rPr sz="1200">
                <a:solidFill>
                  <a:srgbClr val="E6E6E6"/>
                </a:solidFill>
                <a:latin typeface="Consolas"/>
              </a:rPr>
              <a:t>context</a:t>
            </a:r>
            <a:r>
              <a:rPr sz="1200">
                <a:solidFill>
                  <a:srgbClr val="E6E6E6"/>
                </a:solidFill>
                <a:latin typeface="Consolas"/>
              </a:rPr>
              <a:t>: </a:t>
            </a:r>
            <a:r>
              <a:rPr sz="1200">
                <a:solidFill>
                  <a:srgbClr val="E6E6E6"/>
                </a:solidFill>
                <a:latin typeface="Consolas"/>
              </a:rPr>
              <a:t>SessionContext</a:t>
            </a:r>
            <a:r>
              <a:rPr sz="1200">
                <a:solidFill>
                  <a:srgbClr val="E6E6E6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           </a:t>
            </a:r>
            <a:r>
              <a:rPr sz="1200">
                <a:solidFill>
                  <a:srgbClr val="E6E6E6"/>
                </a:solidFill>
                <a:latin typeface="Consolas"/>
              </a:rPr>
              <a:t>state</a:t>
            </a:r>
            <a:r>
              <a:rPr sz="1200">
                <a:solidFill>
                  <a:srgbClr val="E6E6E6"/>
                </a:solidFill>
                <a:latin typeface="Consolas"/>
              </a:rPr>
              <a:t>: </a:t>
            </a:r>
            <a:r>
              <a:rPr sz="1200">
                <a:solidFill>
                  <a:srgbClr val="E6E6E6"/>
                </a:solidFill>
                <a:latin typeface="Consolas"/>
              </a:rPr>
              <a:t>dict</a:t>
            </a:r>
            <a:r>
              <a:rPr sz="1200">
                <a:solidFill>
                  <a:srgbClr val="E6E6E6"/>
                </a:solidFill>
                <a:latin typeface="Consolas"/>
              </a:rPr>
              <a:t>[</a:t>
            </a:r>
            <a:r>
              <a:rPr sz="1200">
                <a:solidFill>
                  <a:srgbClr val="E6E6E6"/>
                </a:solidFill>
                <a:latin typeface="Consolas"/>
              </a:rPr>
              <a:t>str</a:t>
            </a:r>
            <a:r>
              <a:rPr sz="1200">
                <a:solidFill>
                  <a:srgbClr val="E6E6E6"/>
                </a:solidFill>
                <a:latin typeface="Consolas"/>
              </a:rPr>
              <a:t>, </a:t>
            </a:r>
            <a:r>
              <a:rPr sz="1200">
                <a:solidFill>
                  <a:srgbClr val="E6E6E6"/>
                </a:solidFill>
                <a:latin typeface="Consolas"/>
              </a:rPr>
              <a:t>Any</a:t>
            </a:r>
            <a:r>
              <a:rPr sz="1200">
                <a:solidFill>
                  <a:srgbClr val="E6E6E6"/>
                </a:solidFill>
                <a:latin typeface="Consolas"/>
              </a:rPr>
              <a:t>]) -&gt; </a:t>
            </a:r>
            <a:r>
              <a:rPr sz="1200">
                <a:solidFill>
                  <a:srgbClr val="6FB3F2"/>
                </a:solidFill>
                <a:latin typeface="Consolas"/>
              </a:rPr>
              <a:t>None</a:t>
            </a:r>
            <a:r>
              <a:rPr sz="12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    </a:t>
            </a:r>
            <a:r>
              <a:rPr sz="1200">
                <a:solidFill>
                  <a:srgbClr val="6FB3F2"/>
                </a:solidFill>
                <a:latin typeface="Consolas"/>
              </a:rPr>
              <a:t>for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msg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6FB3F2"/>
                </a:solidFill>
                <a:latin typeface="Consolas"/>
              </a:rPr>
              <a:t>in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context</a:t>
            </a:r>
            <a:r>
              <a:rPr sz="1200">
                <a:solidFill>
                  <a:srgbClr val="E6E6E6"/>
                </a:solidFill>
                <a:latin typeface="Consolas"/>
              </a:rPr>
              <a:t>.</a:t>
            </a:r>
            <a:r>
              <a:rPr sz="1200">
                <a:solidFill>
                  <a:srgbClr val="E6E6E6"/>
                </a:solidFill>
                <a:latin typeface="Consolas"/>
              </a:rPr>
              <a:t>input_messages</a:t>
            </a:r>
            <a:r>
              <a:rPr sz="1200">
                <a:solidFill>
                  <a:srgbClr val="E6E6E6"/>
                </a:solidFill>
                <a:latin typeface="Consolas"/>
              </a:rPr>
              <a:t>:               # </a:t>
            </a:r>
            <a:r>
              <a:rPr sz="1200">
                <a:solidFill>
                  <a:srgbClr val="E6E6E6"/>
                </a:solidFill>
                <a:latin typeface="Consolas"/>
              </a:rPr>
              <a:t>learn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6FB3F2"/>
                </a:solidFill>
                <a:latin typeface="Consolas"/>
              </a:rPr>
              <a:t>from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the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turn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        </a:t>
            </a:r>
            <a:r>
              <a:rPr sz="1200">
                <a:solidFill>
                  <a:srgbClr val="6FB3F2"/>
                </a:solidFill>
                <a:latin typeface="Consolas"/>
              </a:rPr>
              <a:t>if</a:t>
            </a:r>
            <a:r>
              <a:rPr sz="1200">
                <a:solidFill>
                  <a:srgbClr val="E6E6E6"/>
                </a:solidFill>
                <a:latin typeface="Consolas"/>
              </a:rPr>
              <a:t> "</a:t>
            </a:r>
            <a:r>
              <a:rPr sz="1200">
                <a:solidFill>
                  <a:srgbClr val="E6E6E6"/>
                </a:solidFill>
                <a:latin typeface="Consolas"/>
              </a:rPr>
              <a:t>my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name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is</a:t>
            </a:r>
            <a:r>
              <a:rPr sz="1200">
                <a:solidFill>
                  <a:srgbClr val="F2B13B"/>
                </a:solidFill>
                <a:latin typeface="Consolas"/>
              </a:rPr>
              <a:t>" </a:t>
            </a:r>
            <a:r>
              <a:rPr sz="1200">
                <a:solidFill>
                  <a:srgbClr val="6FB3F2"/>
                </a:solidFill>
                <a:latin typeface="Consolas"/>
              </a:rPr>
              <a:t>in</a:t>
            </a:r>
            <a:r>
              <a:rPr sz="1200">
                <a:solidFill>
                  <a:srgbClr val="E6E6E6"/>
                </a:solidFill>
                <a:latin typeface="Consolas"/>
              </a:rPr>
              <a:t> (</a:t>
            </a:r>
            <a:r>
              <a:rPr sz="1200">
                <a:solidFill>
                  <a:srgbClr val="E6E6E6"/>
                </a:solidFill>
                <a:latin typeface="Consolas"/>
              </a:rPr>
              <a:t>msg</a:t>
            </a:r>
            <a:r>
              <a:rPr sz="1200">
                <a:solidFill>
                  <a:srgbClr val="E6E6E6"/>
                </a:solidFill>
                <a:latin typeface="Consolas"/>
              </a:rPr>
              <a:t>.</a:t>
            </a:r>
            <a:r>
              <a:rPr sz="1200">
                <a:solidFill>
                  <a:srgbClr val="E6E6E6"/>
                </a:solidFill>
                <a:latin typeface="Consolas"/>
              </a:rPr>
              <a:t>text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6FB3F2"/>
                </a:solidFill>
                <a:latin typeface="Consolas"/>
              </a:rPr>
              <a:t>or</a:t>
            </a:r>
            <a:r>
              <a:rPr sz="1200">
                <a:solidFill>
                  <a:srgbClr val="E6E6E6"/>
                </a:solidFill>
                <a:latin typeface="Consolas"/>
              </a:rPr>
              <a:t> "").</a:t>
            </a:r>
            <a:r>
              <a:rPr sz="1200">
                <a:solidFill>
                  <a:srgbClr val="E6E6E6"/>
                </a:solidFill>
                <a:latin typeface="Consolas"/>
              </a:rPr>
              <a:t>lower</a:t>
            </a:r>
            <a:r>
              <a:rPr sz="1200">
                <a:solidFill>
                  <a:srgbClr val="E6E6E6"/>
                </a:solidFill>
                <a:latin typeface="Consolas"/>
              </a:rPr>
              <a:t>():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200">
                <a:solidFill>
                  <a:srgbClr val="E6E6E6"/>
                </a:solidFill>
                <a:latin typeface="Consolas"/>
              </a:rPr>
              <a:t>state</a:t>
            </a:r>
            <a:r>
              <a:rPr sz="1200">
                <a:solidFill>
                  <a:srgbClr val="E6E6E6"/>
                </a:solidFill>
                <a:latin typeface="Consolas"/>
              </a:rPr>
              <a:t>["</a:t>
            </a:r>
            <a:r>
              <a:rPr sz="1200">
                <a:solidFill>
                  <a:srgbClr val="E6E6E6"/>
                </a:solidFill>
                <a:latin typeface="Consolas"/>
              </a:rPr>
              <a:t>user_name</a:t>
            </a:r>
            <a:r>
              <a:rPr sz="1200">
                <a:solidFill>
                  <a:srgbClr val="F2B13B"/>
                </a:solidFill>
                <a:latin typeface="Consolas"/>
              </a:rPr>
              <a:t>"] = </a:t>
            </a:r>
            <a:r>
              <a:rPr sz="1200">
                <a:solidFill>
                  <a:srgbClr val="E6E6E6"/>
                </a:solidFill>
                <a:latin typeface="Consolas"/>
              </a:rPr>
              <a:t>msg</a:t>
            </a:r>
            <a:r>
              <a:rPr sz="1200">
                <a:solidFill>
                  <a:srgbClr val="E6E6E6"/>
                </a:solidFill>
                <a:latin typeface="Consolas"/>
              </a:rPr>
              <a:t>.</a:t>
            </a:r>
            <a:r>
              <a:rPr sz="1200">
                <a:solidFill>
                  <a:srgbClr val="E6E6E6"/>
                </a:solidFill>
                <a:latin typeface="Consolas"/>
              </a:rPr>
              <a:t>text</a:t>
            </a:r>
            <a:r>
              <a:rPr sz="1200">
                <a:solidFill>
                  <a:srgbClr val="E6E6E6"/>
                </a:solidFill>
                <a:latin typeface="Consolas"/>
              </a:rPr>
              <a:t>.</a:t>
            </a:r>
            <a:r>
              <a:rPr sz="1200">
                <a:solidFill>
                  <a:srgbClr val="E6E6E6"/>
                </a:solidFill>
                <a:latin typeface="Consolas"/>
              </a:rPr>
              <a:t>lower</a:t>
            </a:r>
            <a:r>
              <a:rPr sz="1200">
                <a:solidFill>
                  <a:srgbClr val="E6E6E6"/>
                </a:solidFill>
                <a:latin typeface="Consolas"/>
              </a:rPr>
              <a:t>().</a:t>
            </a:r>
            <a:r>
              <a:rPr sz="1200">
                <a:solidFill>
                  <a:srgbClr val="E6E6E6"/>
                </a:solidFill>
                <a:latin typeface="Consolas"/>
              </a:rPr>
              <a:t>split</a:t>
            </a:r>
            <a:r>
              <a:rPr sz="1200">
                <a:solidFill>
                  <a:srgbClr val="E6E6E6"/>
                </a:solidFill>
                <a:latin typeface="Consolas"/>
              </a:rPr>
              <a:t>("</a:t>
            </a:r>
            <a:r>
              <a:rPr sz="1200">
                <a:solidFill>
                  <a:srgbClr val="E6E6E6"/>
                </a:solidFill>
                <a:latin typeface="Consolas"/>
              </a:rPr>
              <a:t>my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name</a:t>
            </a:r>
            <a:r>
              <a:rPr sz="1200">
                <a:solidFill>
                  <a:srgbClr val="E6E6E6"/>
                </a:solidFill>
                <a:latin typeface="Consolas"/>
              </a:rPr>
              <a:t> </a:t>
            </a:r>
            <a:r>
              <a:rPr sz="1200">
                <a:solidFill>
                  <a:srgbClr val="E6E6E6"/>
                </a:solidFill>
                <a:latin typeface="Consolas"/>
              </a:rPr>
              <a:t>is</a:t>
            </a:r>
            <a:r>
              <a:rPr sz="1200">
                <a:solidFill>
                  <a:srgbClr val="F2B13B"/>
                </a:solidFill>
                <a:latin typeface="Consolas"/>
              </a:rPr>
              <a:t>")[-</a:t>
            </a:r>
            <a:r>
              <a:rPr sz="1200">
                <a:solidFill>
                  <a:srgbClr val="E6E6E6"/>
                </a:solidFill>
                <a:latin typeface="Consolas"/>
              </a:rPr>
              <a:t>1</a:t>
            </a:r>
            <a:r>
              <a:rPr sz="1200">
                <a:solidFill>
                  <a:srgbClr val="E6E6E6"/>
                </a:solidFill>
                <a:latin typeface="Consolas"/>
              </a:rPr>
              <a:t>].</a:t>
            </a:r>
            <a:r>
              <a:rPr sz="1200">
                <a:solidFill>
                  <a:srgbClr val="E6E6E6"/>
                </a:solidFill>
                <a:latin typeface="Consolas"/>
              </a:rPr>
              <a:t>split</a:t>
            </a:r>
            <a:r>
              <a:rPr sz="1200">
                <a:solidFill>
                  <a:srgbClr val="E6E6E6"/>
                </a:solidFill>
                <a:latin typeface="Consolas"/>
              </a:rPr>
              <a:t>()[</a:t>
            </a:r>
            <a:r>
              <a:rPr sz="1200">
                <a:solidFill>
                  <a:srgbClr val="E6E6E6"/>
                </a:solidFill>
                <a:latin typeface="Consolas"/>
              </a:rPr>
              <a:t>0</a:t>
            </a:r>
            <a:r>
              <a:rPr sz="1200">
                <a:solidFill>
                  <a:srgbClr val="E6E6E6"/>
                </a:solidFill>
                <a:latin typeface="Consolas"/>
              </a:rPr>
              <a:t>].</a:t>
            </a:r>
            <a:r>
              <a:rPr sz="1200">
                <a:solidFill>
                  <a:srgbClr val="E6E6E6"/>
                </a:solidFill>
                <a:latin typeface="Consolas"/>
              </a:rPr>
              <a:t>capitalize</a:t>
            </a:r>
            <a:r>
              <a:rPr sz="1200">
                <a:solidFill>
                  <a:srgbClr val="E6E6E6"/>
                </a:solidFill>
                <a:latin typeface="Consolas"/>
              </a:rPr>
              <a:t>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00">
                <a:solidFill>
                  <a:srgbClr val="7FC87A"/>
                </a:solidFill>
                <a:latin typeface="Consolas"/>
              </a:rPr>
              <a:t># agent = Agent(client=..., context_providers=[UserMemoryProvider()])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0" b="1" i="0">
                <a:solidFill>
                  <a:srgbClr val="8FC9F5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1EEFB"/>
                </a:solidFill>
                <a:latin typeface="Calibri"/>
              </a:rPr>
              <a:t>Orchestrating multiple steps reliably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Two ways to build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Start functional; reach for the graph when you need control &amp; durability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440680" cy="502920"/>
          </a:xfrm>
          <a:prstGeom prst="rect">
            <a:avLst/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078D4"/>
                </a:solidFill>
                <a:latin typeface="Calibri"/>
              </a:rPr>
              <a:t>Functional API — @workflow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Write a plain async Python function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Use native control flow: if/else, loops, gather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Call agents/functions directly — no special wrappers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Best for: readable pipelines, quick composition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result.get_outputs() returns the outputs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5440680" cy="502920"/>
          </a:xfrm>
          <a:prstGeom prst="rect">
            <a:avLst/>
          </a:prstGeom>
          <a:solidFill>
            <a:srgbClr val="EA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E80"/>
                </a:solidFill>
                <a:latin typeface="Calibri"/>
              </a:rPr>
              <a:t>Graph API — WorkflowBuilder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Model work as executors (nodes) + edges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Explicit topology: chains, fan-out, fan-in, switch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Type-validated message routing between nodes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Superstep execution → checkpointing &amp; resume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Best for: complex, long-running, reliable flows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Hands-on 5 — Functional workflow with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C5B6"/>
                </a:solidFill>
                <a:latin typeface="Calibri"/>
              </a:rPr>
              <a:t>Agents are just async calls inside a normal Python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201400" cy="5212080"/>
          </a:xfrm>
          <a:prstGeom prst="rect">
            <a:avLst/>
          </a:prstGeom>
          <a:solidFill>
            <a:srgbClr val="242A38"/>
          </a:solidFill>
          <a:ln w="12700">
            <a:solidFill>
              <a:srgbClr val="3A4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90472"/>
            <a:ext cx="10698480" cy="4892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workflow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openai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  <a:r>
              <a:rPr sz="1300">
                <a:solidFill>
                  <a:srgbClr val="E6E6E6"/>
                </a:solidFill>
                <a:latin typeface="Consolas"/>
              </a:rPr>
              <a:t>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writer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name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Writer</a:t>
            </a:r>
            <a:r>
              <a:rPr sz="1300">
                <a:solidFill>
                  <a:srgbClr val="F2B13B"/>
                </a:solidFill>
                <a:latin typeface="Consolas"/>
              </a:rPr>
              <a:t>", 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</a:t>
            </a:r>
            <a:r>
              <a:rPr sz="1300">
                <a:solidFill>
                  <a:srgbClr val="E6E6E6"/>
                </a:solidFill>
                <a:latin typeface="Consolas"/>
              </a:rPr>
              <a:t>instructions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Write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short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poem</a:t>
            </a:r>
            <a:r>
              <a:rPr sz="1300">
                <a:solidFill>
                  <a:srgbClr val="E6E6E6"/>
                </a:solidFill>
                <a:latin typeface="Consolas"/>
              </a:rPr>
              <a:t> (</a:t>
            </a:r>
            <a:r>
              <a:rPr sz="1300">
                <a:solidFill>
                  <a:srgbClr val="E6E6E6"/>
                </a:solidFill>
                <a:latin typeface="Consolas"/>
              </a:rPr>
              <a:t>4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lines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max</a:t>
            </a:r>
            <a:r>
              <a:rPr sz="1300">
                <a:solidFill>
                  <a:srgbClr val="E6E6E6"/>
                </a:solidFill>
                <a:latin typeface="Consolas"/>
              </a:rPr>
              <a:t>) </a:t>
            </a:r>
            <a:r>
              <a:rPr sz="1300">
                <a:solidFill>
                  <a:srgbClr val="E6E6E6"/>
                </a:solidFill>
                <a:latin typeface="Consolas"/>
              </a:rPr>
              <a:t>about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the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topic</a:t>
            </a:r>
            <a:r>
              <a:rPr sz="1300">
                <a:solidFill>
                  <a:srgbClr val="E6E6E6"/>
                </a:solidFill>
                <a:latin typeface="Consolas"/>
              </a:rPr>
              <a:t>.")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reviewer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name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Reviewer</a:t>
            </a:r>
            <a:r>
              <a:rPr sz="1300">
                <a:solidFill>
                  <a:srgbClr val="F2B13B"/>
                </a:solidFill>
                <a:latin typeface="Consolas"/>
              </a:rPr>
              <a:t>", 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 </a:t>
            </a:r>
            <a:r>
              <a:rPr sz="1300">
                <a:solidFill>
                  <a:srgbClr val="E6E6E6"/>
                </a:solidFill>
                <a:latin typeface="Consolas"/>
              </a:rPr>
              <a:t>instructions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Review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the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poem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one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sentence</a:t>
            </a:r>
            <a:r>
              <a:rPr sz="1300">
                <a:solidFill>
                  <a:srgbClr val="E6E6E6"/>
                </a:solidFill>
                <a:latin typeface="Consolas"/>
              </a:rPr>
              <a:t>. </a:t>
            </a:r>
            <a:r>
              <a:rPr sz="1300">
                <a:solidFill>
                  <a:srgbClr val="E6E6E6"/>
                </a:solidFill>
                <a:latin typeface="Consolas"/>
              </a:rPr>
              <a:t>Is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good</a:t>
            </a:r>
            <a:r>
              <a:rPr sz="1300">
                <a:solidFill>
                  <a:srgbClr val="E6E6E6"/>
                </a:solidFill>
                <a:latin typeface="Consolas"/>
              </a:rPr>
              <a:t>?")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@</a:t>
            </a:r>
            <a:r>
              <a:rPr sz="1300">
                <a:solidFill>
                  <a:srgbClr val="E6E6E6"/>
                </a:solidFill>
                <a:latin typeface="Consolas"/>
              </a:rPr>
              <a:t>workflow</a:t>
            </a:r>
            <a:r>
              <a:rPr sz="1300">
                <a:solidFill>
                  <a:srgbClr val="E6E6E6"/>
                </a:solidFill>
                <a:latin typeface="Consolas"/>
              </a:rPr>
              <a:t>                                   # </a:t>
            </a:r>
            <a:r>
              <a:rPr sz="1300">
                <a:solidFill>
                  <a:srgbClr val="E6E6E6"/>
                </a:solidFill>
                <a:latin typeface="Consolas"/>
              </a:rPr>
              <a:t>turns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fn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into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workflow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def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poem_workflow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topic</a:t>
            </a:r>
            <a:r>
              <a:rPr sz="1300">
                <a:solidFill>
                  <a:srgbClr val="E6E6E6"/>
                </a:solidFill>
                <a:latin typeface="Consolas"/>
              </a:rPr>
              <a:t>: </a:t>
            </a:r>
            <a:r>
              <a:rPr sz="1300">
                <a:solidFill>
                  <a:srgbClr val="E6E6E6"/>
                </a:solidFill>
                <a:latin typeface="Consolas"/>
              </a:rPr>
              <a:t>str</a:t>
            </a:r>
            <a:r>
              <a:rPr sz="1300">
                <a:solidFill>
                  <a:srgbClr val="E6E6E6"/>
                </a:solidFill>
                <a:latin typeface="Consolas"/>
              </a:rPr>
              <a:t>) -&gt; </a:t>
            </a:r>
            <a:r>
              <a:rPr sz="1300">
                <a:solidFill>
                  <a:srgbClr val="E6E6E6"/>
                </a:solidFill>
                <a:latin typeface="Consolas"/>
              </a:rPr>
              <a:t>str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poem</a:t>
            </a:r>
            <a:r>
              <a:rPr sz="1300">
                <a:solidFill>
                  <a:srgbClr val="E6E6E6"/>
                </a:solidFill>
                <a:latin typeface="Consolas"/>
              </a:rPr>
              <a:t> = (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writer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f</a:t>
            </a:r>
            <a:r>
              <a:rPr sz="1300">
                <a:solidFill>
                  <a:srgbClr val="F2B13B"/>
                </a:solidFill>
                <a:latin typeface="Consolas"/>
              </a:rPr>
              <a:t>"</a:t>
            </a:r>
            <a:r>
              <a:rPr sz="1300">
                <a:solidFill>
                  <a:srgbClr val="E6E6E6"/>
                </a:solidFill>
                <a:latin typeface="Consolas"/>
              </a:rPr>
              <a:t>Write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poem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about</a:t>
            </a:r>
            <a:r>
              <a:rPr sz="1300">
                <a:solidFill>
                  <a:srgbClr val="E6E6E6"/>
                </a:solidFill>
                <a:latin typeface="Consolas"/>
              </a:rPr>
              <a:t>: {</a:t>
            </a:r>
            <a:r>
              <a:rPr sz="1300">
                <a:solidFill>
                  <a:srgbClr val="E6E6E6"/>
                </a:solidFill>
                <a:latin typeface="Consolas"/>
              </a:rPr>
              <a:t>topic</a:t>
            </a:r>
            <a:r>
              <a:rPr sz="1300">
                <a:solidFill>
                  <a:srgbClr val="E6E6E6"/>
                </a:solidFill>
                <a:latin typeface="Consolas"/>
              </a:rPr>
              <a:t>}")).</a:t>
            </a:r>
            <a:r>
              <a:rPr sz="1300">
                <a:solidFill>
                  <a:srgbClr val="E6E6E6"/>
                </a:solidFill>
                <a:latin typeface="Consolas"/>
              </a:rPr>
              <a:t>text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review</a:t>
            </a:r>
            <a:r>
              <a:rPr sz="1300">
                <a:solidFill>
                  <a:srgbClr val="E6E6E6"/>
                </a:solidFill>
                <a:latin typeface="Consolas"/>
              </a:rPr>
              <a:t> = (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reviewer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f</a:t>
            </a:r>
            <a:r>
              <a:rPr sz="1300">
                <a:solidFill>
                  <a:srgbClr val="F2B13B"/>
                </a:solidFill>
                <a:latin typeface="Consolas"/>
              </a:rPr>
              <a:t>"</a:t>
            </a:r>
            <a:r>
              <a:rPr sz="1300">
                <a:solidFill>
                  <a:srgbClr val="E6E6E6"/>
                </a:solidFill>
                <a:latin typeface="Consolas"/>
              </a:rPr>
              <a:t>Review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this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poem</a:t>
            </a:r>
            <a:r>
              <a:rPr sz="1300">
                <a:solidFill>
                  <a:srgbClr val="E6E6E6"/>
                </a:solidFill>
                <a:latin typeface="Consolas"/>
              </a:rPr>
              <a:t>: {</a:t>
            </a:r>
            <a:r>
              <a:rPr sz="1300">
                <a:solidFill>
                  <a:srgbClr val="E6E6E6"/>
                </a:solidFill>
                <a:latin typeface="Consolas"/>
              </a:rPr>
              <a:t>poem</a:t>
            </a:r>
            <a:r>
              <a:rPr sz="1300">
                <a:solidFill>
                  <a:srgbClr val="E6E6E6"/>
                </a:solidFill>
                <a:latin typeface="Consolas"/>
              </a:rPr>
              <a:t>}")).</a:t>
            </a:r>
            <a:r>
              <a:rPr sz="1300">
                <a:solidFill>
                  <a:srgbClr val="E6E6E6"/>
                </a:solidFill>
                <a:latin typeface="Consolas"/>
              </a:rPr>
              <a:t>text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6FB3F2"/>
                </a:solidFill>
                <a:latin typeface="Consolas"/>
              </a:rPr>
              <a:t>return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f</a:t>
            </a:r>
            <a:r>
              <a:rPr sz="1300">
                <a:solidFill>
                  <a:srgbClr val="F2B13B"/>
                </a:solidFill>
                <a:latin typeface="Consolas"/>
              </a:rPr>
              <a:t>"</a:t>
            </a:r>
            <a:r>
              <a:rPr sz="1300">
                <a:solidFill>
                  <a:srgbClr val="E6E6E6"/>
                </a:solidFill>
                <a:latin typeface="Consolas"/>
              </a:rPr>
              <a:t>Poem</a:t>
            </a:r>
            <a:r>
              <a:rPr sz="1300">
                <a:solidFill>
                  <a:srgbClr val="E6E6E6"/>
                </a:solidFill>
                <a:latin typeface="Consolas"/>
              </a:rPr>
              <a:t>:\</a:t>
            </a:r>
            <a:r>
              <a:rPr sz="1300">
                <a:solidFill>
                  <a:srgbClr val="E6E6E6"/>
                </a:solidFill>
                <a:latin typeface="Consolas"/>
              </a:rPr>
              <a:t>n</a:t>
            </a:r>
            <a:r>
              <a:rPr sz="1300">
                <a:solidFill>
                  <a:srgbClr val="E6E6E6"/>
                </a:solidFill>
                <a:latin typeface="Consolas"/>
              </a:rPr>
              <a:t>{</a:t>
            </a:r>
            <a:r>
              <a:rPr sz="1300">
                <a:solidFill>
                  <a:srgbClr val="E6E6E6"/>
                </a:solidFill>
                <a:latin typeface="Consolas"/>
              </a:rPr>
              <a:t>poem</a:t>
            </a:r>
            <a:r>
              <a:rPr sz="1300">
                <a:solidFill>
                  <a:srgbClr val="E6E6E6"/>
                </a:solidFill>
                <a:latin typeface="Consolas"/>
              </a:rPr>
              <a:t>}\</a:t>
            </a:r>
            <a:r>
              <a:rPr sz="1300">
                <a:solidFill>
                  <a:srgbClr val="E6E6E6"/>
                </a:solidFill>
                <a:latin typeface="Consolas"/>
              </a:rPr>
              <a:t>n</a:t>
            </a:r>
            <a:r>
              <a:rPr sz="1300">
                <a:solidFill>
                  <a:srgbClr val="E6E6E6"/>
                </a:solidFill>
                <a:latin typeface="Consolas"/>
              </a:rPr>
              <a:t>\</a:t>
            </a:r>
            <a:r>
              <a:rPr sz="1300">
                <a:solidFill>
                  <a:srgbClr val="E6E6E6"/>
                </a:solidFill>
                <a:latin typeface="Consolas"/>
              </a:rPr>
              <a:t>nReview</a:t>
            </a:r>
            <a:r>
              <a:rPr sz="1300">
                <a:solidFill>
                  <a:srgbClr val="E6E6E6"/>
                </a:solidFill>
                <a:latin typeface="Consolas"/>
              </a:rPr>
              <a:t>: {</a:t>
            </a:r>
            <a:r>
              <a:rPr sz="1300">
                <a:solidFill>
                  <a:srgbClr val="E6E6E6"/>
                </a:solidFill>
                <a:latin typeface="Consolas"/>
              </a:rPr>
              <a:t>review</a:t>
            </a:r>
            <a:r>
              <a:rPr sz="1300">
                <a:solidFill>
                  <a:srgbClr val="E6E6E6"/>
                </a:solidFill>
                <a:latin typeface="Consolas"/>
              </a:rPr>
              <a:t>}"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def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 -&gt; </a:t>
            </a:r>
            <a:r>
              <a:rPr sz="1300">
                <a:solidFill>
                  <a:srgbClr val="6FB3F2"/>
                </a:solidFill>
                <a:latin typeface="Consolas"/>
              </a:rPr>
              <a:t>None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result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poem_workflow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("</a:t>
            </a:r>
            <a:r>
              <a:rPr sz="1300">
                <a:solidFill>
                  <a:srgbClr val="E6E6E6"/>
                </a:solidFill>
                <a:latin typeface="Consolas"/>
              </a:rPr>
              <a:t>a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cat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learning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to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code</a:t>
            </a:r>
            <a:r>
              <a:rPr sz="1300">
                <a:solidFill>
                  <a:srgbClr val="F2B13B"/>
                </a:solidFill>
                <a:latin typeface="Consolas"/>
              </a:rPr>
              <a:t>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print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result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get_outputs</a:t>
            </a:r>
            <a:r>
              <a:rPr sz="1300">
                <a:solidFill>
                  <a:srgbClr val="E6E6E6"/>
                </a:solidFill>
                <a:latin typeface="Consolas"/>
              </a:rPr>
              <a:t>()[</a:t>
            </a:r>
            <a:r>
              <a:rPr sz="1300">
                <a:solidFill>
                  <a:srgbClr val="E6E6E6"/>
                </a:solidFill>
                <a:latin typeface="Consolas"/>
              </a:rPr>
              <a:t>0</a:t>
            </a:r>
            <a:r>
              <a:rPr sz="1300">
                <a:solidFill>
                  <a:srgbClr val="E6E6E6"/>
                </a:solidFill>
                <a:latin typeface="Consolas"/>
              </a:rPr>
              <a:t>])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Hands-on 6 — Graph workflow (executors + edges)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C5B6"/>
                </a:solidFill>
                <a:latin typeface="Calibri"/>
              </a:rPr>
              <a:t>Explicit nodes and edges give you full control of the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201400" cy="5212080"/>
          </a:xfrm>
          <a:prstGeom prst="rect">
            <a:avLst/>
          </a:prstGeom>
          <a:solidFill>
            <a:srgbClr val="242A38"/>
          </a:solidFill>
          <a:ln w="12700">
            <a:solidFill>
              <a:srgbClr val="3A4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90472"/>
            <a:ext cx="10698480" cy="4892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Executor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WorkflowBuilder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WorkflowContext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executor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handler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typing_extensions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Never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A class-based executor: receives a message, sends the next one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class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UpperCase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Executor</a:t>
            </a:r>
            <a:r>
              <a:rPr sz="1300">
                <a:solidFill>
                  <a:srgbClr val="E6E6E6"/>
                </a:solidFill>
                <a:latin typeface="Consolas"/>
              </a:rPr>
              <a:t>):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@</a:t>
            </a:r>
            <a:r>
              <a:rPr sz="1300">
                <a:solidFill>
                  <a:srgbClr val="E6E6E6"/>
                </a:solidFill>
                <a:latin typeface="Consolas"/>
              </a:rPr>
              <a:t>handler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def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to_upper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6FB3F2"/>
                </a:solidFill>
                <a:latin typeface="Consolas"/>
              </a:rPr>
              <a:t>self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text</a:t>
            </a:r>
            <a:r>
              <a:rPr sz="1300">
                <a:solidFill>
                  <a:srgbClr val="E6E6E6"/>
                </a:solidFill>
                <a:latin typeface="Consolas"/>
              </a:rPr>
              <a:t>: </a:t>
            </a:r>
            <a:r>
              <a:rPr sz="1300">
                <a:solidFill>
                  <a:srgbClr val="E6E6E6"/>
                </a:solidFill>
                <a:latin typeface="Consolas"/>
              </a:rPr>
              <a:t>str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ctx</a:t>
            </a:r>
            <a:r>
              <a:rPr sz="1300">
                <a:solidFill>
                  <a:srgbClr val="E6E6E6"/>
                </a:solidFill>
                <a:latin typeface="Consolas"/>
              </a:rPr>
              <a:t>: </a:t>
            </a:r>
            <a:r>
              <a:rPr sz="1300">
                <a:solidFill>
                  <a:srgbClr val="E6E6E6"/>
                </a:solidFill>
                <a:latin typeface="Consolas"/>
              </a:rPr>
              <a:t>WorkflowContext</a:t>
            </a:r>
            <a:r>
              <a:rPr sz="1300">
                <a:solidFill>
                  <a:srgbClr val="E6E6E6"/>
                </a:solidFill>
                <a:latin typeface="Consolas"/>
              </a:rPr>
              <a:t>[</a:t>
            </a:r>
            <a:r>
              <a:rPr sz="1300">
                <a:solidFill>
                  <a:srgbClr val="E6E6E6"/>
                </a:solidFill>
                <a:latin typeface="Consolas"/>
              </a:rPr>
              <a:t>str</a:t>
            </a:r>
            <a:r>
              <a:rPr sz="1300">
                <a:solidFill>
                  <a:srgbClr val="E6E6E6"/>
                </a:solidFill>
                <a:latin typeface="Consolas"/>
              </a:rPr>
              <a:t>]) -&gt; </a:t>
            </a:r>
            <a:r>
              <a:rPr sz="1300">
                <a:solidFill>
                  <a:srgbClr val="6FB3F2"/>
                </a:solidFill>
                <a:latin typeface="Consolas"/>
              </a:rPr>
              <a:t>None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ctx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send_message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text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upper</a:t>
            </a:r>
            <a:r>
              <a:rPr sz="1300">
                <a:solidFill>
                  <a:srgbClr val="E6E6E6"/>
                </a:solidFill>
                <a:latin typeface="Consolas"/>
              </a:rPr>
              <a:t>())         # </a:t>
            </a:r>
            <a:r>
              <a:rPr sz="1300">
                <a:solidFill>
                  <a:srgbClr val="E6E6E6"/>
                </a:solidFill>
                <a:latin typeface="Consolas"/>
              </a:rPr>
              <a:t>forward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to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next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node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A function-based executor: yields the final output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@</a:t>
            </a:r>
            <a:r>
              <a:rPr sz="1300">
                <a:solidFill>
                  <a:srgbClr val="E6E6E6"/>
                </a:solidFill>
                <a:latin typeface="Consolas"/>
              </a:rPr>
              <a:t>executor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id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reverse_text</a:t>
            </a:r>
            <a:r>
              <a:rPr sz="1300">
                <a:solidFill>
                  <a:srgbClr val="F2B13B"/>
                </a:solidFill>
                <a:latin typeface="Consolas"/>
              </a:rPr>
              <a:t>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def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reverse_text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text</a:t>
            </a:r>
            <a:r>
              <a:rPr sz="1300">
                <a:solidFill>
                  <a:srgbClr val="E6E6E6"/>
                </a:solidFill>
                <a:latin typeface="Consolas"/>
              </a:rPr>
              <a:t>: </a:t>
            </a:r>
            <a:r>
              <a:rPr sz="1300">
                <a:solidFill>
                  <a:srgbClr val="E6E6E6"/>
                </a:solidFill>
                <a:latin typeface="Consolas"/>
              </a:rPr>
              <a:t>str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ctx</a:t>
            </a:r>
            <a:r>
              <a:rPr sz="1300">
                <a:solidFill>
                  <a:srgbClr val="E6E6E6"/>
                </a:solidFill>
                <a:latin typeface="Consolas"/>
              </a:rPr>
              <a:t>: </a:t>
            </a:r>
            <a:r>
              <a:rPr sz="1300">
                <a:solidFill>
                  <a:srgbClr val="E6E6E6"/>
                </a:solidFill>
                <a:latin typeface="Consolas"/>
              </a:rPr>
              <a:t>WorkflowContext</a:t>
            </a:r>
            <a:r>
              <a:rPr sz="1300">
                <a:solidFill>
                  <a:srgbClr val="E6E6E6"/>
                </a:solidFill>
                <a:latin typeface="Consolas"/>
              </a:rPr>
              <a:t>[</a:t>
            </a:r>
            <a:r>
              <a:rPr sz="1300">
                <a:solidFill>
                  <a:srgbClr val="E6E6E6"/>
                </a:solidFill>
                <a:latin typeface="Consolas"/>
              </a:rPr>
              <a:t>Never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str</a:t>
            </a:r>
            <a:r>
              <a:rPr sz="1300">
                <a:solidFill>
                  <a:srgbClr val="E6E6E6"/>
                </a:solidFill>
                <a:latin typeface="Consolas"/>
              </a:rPr>
              <a:t>]) -&gt; </a:t>
            </a:r>
            <a:r>
              <a:rPr sz="1300">
                <a:solidFill>
                  <a:srgbClr val="6FB3F2"/>
                </a:solidFill>
                <a:latin typeface="Consolas"/>
              </a:rPr>
              <a:t>None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ctx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yield_output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text</a:t>
            </a:r>
            <a:r>
              <a:rPr sz="1300">
                <a:solidFill>
                  <a:srgbClr val="E6E6E6"/>
                </a:solidFill>
                <a:latin typeface="Consolas"/>
              </a:rPr>
              <a:t>[::-</a:t>
            </a:r>
            <a:r>
              <a:rPr sz="1300">
                <a:solidFill>
                  <a:srgbClr val="E6E6E6"/>
                </a:solidFill>
                <a:latin typeface="Consolas"/>
              </a:rPr>
              <a:t>1</a:t>
            </a:r>
            <a:r>
              <a:rPr sz="1300">
                <a:solidFill>
                  <a:srgbClr val="E6E6E6"/>
                </a:solidFill>
                <a:latin typeface="Consolas"/>
              </a:rPr>
              <a:t>])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def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 -&gt; </a:t>
            </a:r>
            <a:r>
              <a:rPr sz="1300">
                <a:solidFill>
                  <a:srgbClr val="6FB3F2"/>
                </a:solidFill>
                <a:latin typeface="Consolas"/>
              </a:rPr>
              <a:t>None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upper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UpperCase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id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upper_case</a:t>
            </a:r>
            <a:r>
              <a:rPr sz="1300">
                <a:solidFill>
                  <a:srgbClr val="F2B13B"/>
                </a:solidFill>
                <a:latin typeface="Consolas"/>
              </a:rPr>
              <a:t>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workflow</a:t>
            </a:r>
            <a:r>
              <a:rPr sz="1300">
                <a:solidFill>
                  <a:srgbClr val="E6E6E6"/>
                </a:solidFill>
                <a:latin typeface="Consolas"/>
              </a:rPr>
              <a:t> = (</a:t>
            </a:r>
            <a:r>
              <a:rPr sz="1300">
                <a:solidFill>
                  <a:srgbClr val="E6E6E6"/>
                </a:solidFill>
                <a:latin typeface="Consolas"/>
              </a:rPr>
              <a:t>WorkflowBuilder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start_executor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upper</a:t>
            </a:r>
            <a:r>
              <a:rPr sz="1300">
                <a:solidFill>
                  <a:srgbClr val="E6E6E6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.</a:t>
            </a:r>
            <a:r>
              <a:rPr sz="1300">
                <a:solidFill>
                  <a:srgbClr val="E6E6E6"/>
                </a:solidFill>
                <a:latin typeface="Consolas"/>
              </a:rPr>
              <a:t>add_edge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upper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reverse_text</a:t>
            </a:r>
            <a:r>
              <a:rPr sz="1300">
                <a:solidFill>
                  <a:srgbClr val="E6E6E6"/>
                </a:solidFill>
                <a:latin typeface="Consolas"/>
              </a:rPr>
              <a:t>)       # </a:t>
            </a:r>
            <a:r>
              <a:rPr sz="1300">
                <a:solidFill>
                  <a:srgbClr val="E6E6E6"/>
                </a:solidFill>
                <a:latin typeface="Consolas"/>
              </a:rPr>
              <a:t>UpperCase</a:t>
            </a:r>
            <a:r>
              <a:rPr sz="1300">
                <a:solidFill>
                  <a:srgbClr val="E6E6E6"/>
                </a:solidFill>
                <a:latin typeface="Consolas"/>
              </a:rPr>
              <a:t> -&gt; </a:t>
            </a:r>
            <a:r>
              <a:rPr sz="1300">
                <a:solidFill>
                  <a:srgbClr val="E6E6E6"/>
                </a:solidFill>
                <a:latin typeface="Consolas"/>
              </a:rPr>
              <a:t>reverse_text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.</a:t>
            </a:r>
            <a:r>
              <a:rPr sz="1300">
                <a:solidFill>
                  <a:srgbClr val="E6E6E6"/>
                </a:solidFill>
                <a:latin typeface="Consolas"/>
              </a:rPr>
              <a:t>build</a:t>
            </a:r>
            <a:r>
              <a:rPr sz="1300">
                <a:solidFill>
                  <a:srgbClr val="E6E6E6"/>
                </a:solidFill>
                <a:latin typeface="Consolas"/>
              </a:rPr>
              <a:t>())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events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workflow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("</a:t>
            </a:r>
            <a:r>
              <a:rPr sz="1300">
                <a:solidFill>
                  <a:srgbClr val="E6E6E6"/>
                </a:solidFill>
                <a:latin typeface="Consolas"/>
              </a:rPr>
              <a:t>hello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world</a:t>
            </a:r>
            <a:r>
              <a:rPr sz="1300">
                <a:solidFill>
                  <a:srgbClr val="F2B13B"/>
                </a:solidFill>
                <a:latin typeface="Consolas"/>
              </a:rPr>
              <a:t>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print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events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get_outputs</a:t>
            </a:r>
            <a:r>
              <a:rPr sz="1300">
                <a:solidFill>
                  <a:srgbClr val="E6E6E6"/>
                </a:solidFill>
                <a:latin typeface="Consolas"/>
              </a:rPr>
              <a:t>())                      # ['</a:t>
            </a:r>
            <a:r>
              <a:rPr sz="1300">
                <a:solidFill>
                  <a:srgbClr val="E6E6E6"/>
                </a:solidFill>
                <a:latin typeface="Consolas"/>
              </a:rPr>
              <a:t>DLROW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OLLEH</a:t>
            </a:r>
            <a:r>
              <a:rPr sz="1300">
                <a:solidFill>
                  <a:srgbClr val="F2B13B"/>
                </a:solidFill>
                <a:latin typeface="Consolas"/>
              </a:rPr>
              <a:t>']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0" b="1" i="0">
                <a:solidFill>
                  <a:srgbClr val="8FC9F5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Multi-Agent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1EEFB"/>
                </a:solidFill>
                <a:latin typeface="Calibri"/>
              </a:rPr>
              <a:t>Prebuilt patterns for teams of agents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The five orchestration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Import builders from agent_framework.orchestrations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5623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Sequential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7744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Agents run in a fixed order; each builds on the last. Pipelines.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60020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0020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85623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Concurrent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37744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Fan out the same prompt to many agents in parallel, then aggregate.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60020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60020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185623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Handoff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37744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A triage agent transfers control to a specialist based on context.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7764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97764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Group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5488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Agents converse in turns; a manager/selector picks who speaks.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97764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397764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23367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Magentic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75488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A manager plans, delegates, and adapts — for open-ended tasks.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3977640"/>
            <a:ext cx="3611880" cy="2148840"/>
          </a:xfrm>
          <a:prstGeom prst="rect">
            <a:avLst/>
          </a:prstGeom>
          <a:solidFill>
            <a:srgbClr val="F4F7FC"/>
          </a:solidFill>
          <a:ln w="12700">
            <a:solidFill>
              <a:srgbClr val="D6E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3977640"/>
            <a:ext cx="3611880" cy="82296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8" y="4233672"/>
            <a:ext cx="3209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All patterns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4754880"/>
            <a:ext cx="320954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233"/>
                </a:solidFill>
                <a:latin typeface="Calibri"/>
              </a:rPr>
              <a:t>Support streaming, checkpointing, human-in-the-loop, pause/resume.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Hands-on — Concurrent orchestration (fan-out / fan-in)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C5B6"/>
                </a:solidFill>
                <a:latin typeface="Calibri"/>
              </a:rPr>
              <a:t>ConcurrentBuilder handles the parallel fan-out and merge for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201400" cy="5212080"/>
          </a:xfrm>
          <a:prstGeom prst="rect">
            <a:avLst/>
          </a:prstGeom>
          <a:solidFill>
            <a:srgbClr val="242A38"/>
          </a:solidFill>
          <a:ln w="12700">
            <a:solidFill>
              <a:srgbClr val="3A4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90472"/>
            <a:ext cx="10698480" cy="4892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openai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orchestrations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ConcurrentBuilder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async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def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 -&gt; </a:t>
            </a:r>
            <a:r>
              <a:rPr sz="1300">
                <a:solidFill>
                  <a:srgbClr val="6FB3F2"/>
                </a:solidFill>
                <a:latin typeface="Consolas"/>
              </a:rPr>
              <a:t>None</a:t>
            </a:r>
            <a:r>
              <a:rPr sz="1300">
                <a:solidFill>
                  <a:srgbClr val="E6E6E6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OpenAIChatClient</a:t>
            </a:r>
            <a:r>
              <a:rPr sz="1300">
                <a:solidFill>
                  <a:srgbClr val="E6E6E6"/>
                </a:solidFill>
                <a:latin typeface="Consolas"/>
              </a:rPr>
              <a:t>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researcher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name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researcher</a:t>
            </a:r>
            <a:r>
              <a:rPr sz="1300">
                <a:solidFill>
                  <a:srgbClr val="F2B13B"/>
                </a:solidFill>
                <a:latin typeface="Consolas"/>
              </a:rPr>
              <a:t>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       </a:t>
            </a:r>
            <a:r>
              <a:rPr sz="1300">
                <a:solidFill>
                  <a:srgbClr val="E6E6E6"/>
                </a:solidFill>
                <a:latin typeface="Consolas"/>
              </a:rPr>
              <a:t>instructions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Give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concise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factual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market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insights</a:t>
            </a:r>
            <a:r>
              <a:rPr sz="1300">
                <a:solidFill>
                  <a:srgbClr val="E6E6E6"/>
                </a:solidFill>
                <a:latin typeface="Consolas"/>
              </a:rPr>
              <a:t>.")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marketer</a:t>
            </a:r>
            <a:r>
              <a:rPr sz="1300">
                <a:solidFill>
                  <a:srgbClr val="E6E6E6"/>
                </a:solidFill>
                <a:latin typeface="Consolas"/>
              </a:rPr>
              <a:t>  =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name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marketer</a:t>
            </a:r>
            <a:r>
              <a:rPr sz="1300">
                <a:solidFill>
                  <a:srgbClr val="F2B13B"/>
                </a:solidFill>
                <a:latin typeface="Consolas"/>
              </a:rPr>
              <a:t>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       </a:t>
            </a:r>
            <a:r>
              <a:rPr sz="1300">
                <a:solidFill>
                  <a:srgbClr val="E6E6E6"/>
                </a:solidFill>
                <a:latin typeface="Consolas"/>
              </a:rPr>
              <a:t>instructions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Craft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compelling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value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propositions</a:t>
            </a:r>
            <a:r>
              <a:rPr sz="1300">
                <a:solidFill>
                  <a:srgbClr val="E6E6E6"/>
                </a:solidFill>
                <a:latin typeface="Consolas"/>
              </a:rPr>
              <a:t>.")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legal</a:t>
            </a:r>
            <a:r>
              <a:rPr sz="1300">
                <a:solidFill>
                  <a:srgbClr val="E6E6E6"/>
                </a:solidFill>
                <a:latin typeface="Consolas"/>
              </a:rPr>
              <a:t>     = </a:t>
            </a:r>
            <a:r>
              <a:rPr sz="1300">
                <a:solidFill>
                  <a:srgbClr val="E6E6E6"/>
                </a:solidFill>
                <a:latin typeface="Consolas"/>
              </a:rPr>
              <a:t>Agent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client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name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legal</a:t>
            </a:r>
            <a:r>
              <a:rPr sz="1300">
                <a:solidFill>
                  <a:srgbClr val="F2B13B"/>
                </a:solidFill>
                <a:latin typeface="Consolas"/>
              </a:rPr>
              <a:t>",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       </a:t>
            </a:r>
            <a:r>
              <a:rPr sz="1300">
                <a:solidFill>
                  <a:srgbClr val="E6E6E6"/>
                </a:solidFill>
                <a:latin typeface="Consolas"/>
              </a:rPr>
              <a:t>instructions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Highlight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compliance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and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policy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concerns</a:t>
            </a:r>
            <a:r>
              <a:rPr sz="1300">
                <a:solidFill>
                  <a:srgbClr val="E6E6E6"/>
                </a:solidFill>
                <a:latin typeface="Consolas"/>
              </a:rPr>
              <a:t>.")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    # Same prompt fans out to all three in parallel; results are aggregated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workflow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ConcurrentBuilder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participants</a:t>
            </a:r>
            <a:r>
              <a:rPr sz="1300">
                <a:solidFill>
                  <a:srgbClr val="E6E6E6"/>
                </a:solidFill>
                <a:latin typeface="Consolas"/>
              </a:rPr>
              <a:t>=[</a:t>
            </a:r>
            <a:r>
              <a:rPr sz="1300">
                <a:solidFill>
                  <a:srgbClr val="E6E6E6"/>
                </a:solidFill>
                <a:latin typeface="Consolas"/>
              </a:rPr>
              <a:t>researcher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marketer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legal</a:t>
            </a:r>
            <a:r>
              <a:rPr sz="1300">
                <a:solidFill>
                  <a:srgbClr val="E6E6E6"/>
                </a:solidFill>
                <a:latin typeface="Consolas"/>
              </a:rPr>
              <a:t>]).</a:t>
            </a:r>
            <a:r>
              <a:rPr sz="1300">
                <a:solidFill>
                  <a:srgbClr val="E6E6E6"/>
                </a:solidFill>
                <a:latin typeface="Consolas"/>
              </a:rPr>
              <a:t>build</a:t>
            </a:r>
            <a:r>
              <a:rPr sz="1300">
                <a:solidFill>
                  <a:srgbClr val="E6E6E6"/>
                </a:solidFill>
                <a:latin typeface="Consolas"/>
              </a:rPr>
              <a:t>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E6E6E6"/>
                </a:solidFill>
                <a:latin typeface="Consolas"/>
              </a:rPr>
              <a:t>events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workflow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("</a:t>
            </a:r>
            <a:r>
              <a:rPr sz="1300">
                <a:solidFill>
                  <a:srgbClr val="E6E6E6"/>
                </a:solidFill>
                <a:latin typeface="Consolas"/>
              </a:rPr>
              <a:t>We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are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launching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budget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e</a:t>
            </a:r>
            <a:r>
              <a:rPr sz="1300">
                <a:solidFill>
                  <a:srgbClr val="E6E6E6"/>
                </a:solidFill>
                <a:latin typeface="Consolas"/>
              </a:rPr>
              <a:t>-</a:t>
            </a:r>
            <a:r>
              <a:rPr sz="1300">
                <a:solidFill>
                  <a:srgbClr val="E6E6E6"/>
                </a:solidFill>
                <a:latin typeface="Consolas"/>
              </a:rPr>
              <a:t>bike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for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city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commuters</a:t>
            </a:r>
            <a:r>
              <a:rPr sz="1300">
                <a:solidFill>
                  <a:srgbClr val="E6E6E6"/>
                </a:solidFill>
                <a:latin typeface="Consolas"/>
              </a:rPr>
              <a:t>.")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</a:t>
            </a:r>
            <a:r>
              <a:rPr sz="1300">
                <a:solidFill>
                  <a:srgbClr val="6FB3F2"/>
                </a:solidFill>
                <a:latin typeface="Consolas"/>
              </a:rPr>
              <a:t>for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msg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in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events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get_outputs</a:t>
            </a:r>
            <a:r>
              <a:rPr sz="1300">
                <a:solidFill>
                  <a:srgbClr val="E6E6E6"/>
                </a:solidFill>
                <a:latin typeface="Consolas"/>
              </a:rPr>
              <a:t>()[</a:t>
            </a:r>
            <a:r>
              <a:rPr sz="1300">
                <a:solidFill>
                  <a:srgbClr val="E6E6E6"/>
                </a:solidFill>
                <a:latin typeface="Consolas"/>
              </a:rPr>
              <a:t>0</a:t>
            </a:r>
            <a:r>
              <a:rPr sz="1300">
                <a:solidFill>
                  <a:srgbClr val="E6E6E6"/>
                </a:solidFill>
                <a:latin typeface="Consolas"/>
              </a:rPr>
              <a:t>]: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</a:t>
            </a:r>
            <a:r>
              <a:rPr sz="1300">
                <a:solidFill>
                  <a:srgbClr val="E6E6E6"/>
                </a:solidFill>
                <a:latin typeface="Consolas"/>
              </a:rPr>
              <a:t>print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f</a:t>
            </a:r>
            <a:r>
              <a:rPr sz="1300">
                <a:solidFill>
                  <a:srgbClr val="F2B13B"/>
                </a:solidFill>
                <a:latin typeface="Consolas"/>
              </a:rPr>
              <a:t>"[{</a:t>
            </a:r>
            <a:r>
              <a:rPr sz="1300">
                <a:solidFill>
                  <a:srgbClr val="E6E6E6"/>
                </a:solidFill>
                <a:latin typeface="Consolas"/>
              </a:rPr>
              <a:t>msg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author_name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or</a:t>
            </a:r>
            <a:r>
              <a:rPr sz="1300">
                <a:solidFill>
                  <a:srgbClr val="E6E6E6"/>
                </a:solidFill>
                <a:latin typeface="Consolas"/>
              </a:rPr>
              <a:t> '</a:t>
            </a:r>
            <a:r>
              <a:rPr sz="1300">
                <a:solidFill>
                  <a:srgbClr val="E6E6E6"/>
                </a:solidFill>
                <a:latin typeface="Consolas"/>
              </a:rPr>
              <a:t>user</a:t>
            </a:r>
            <a:r>
              <a:rPr sz="1300">
                <a:solidFill>
                  <a:srgbClr val="F2B13B"/>
                </a:solidFill>
                <a:latin typeface="Consolas"/>
              </a:rPr>
              <a:t>'}]: {</a:t>
            </a:r>
            <a:r>
              <a:rPr sz="1300">
                <a:solidFill>
                  <a:srgbClr val="E6E6E6"/>
                </a:solidFill>
                <a:latin typeface="Consolas"/>
              </a:rPr>
              <a:t>msg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text</a:t>
            </a:r>
            <a:r>
              <a:rPr sz="1300">
                <a:solidFill>
                  <a:srgbClr val="E6E6E6"/>
                </a:solidFill>
                <a:latin typeface="Consolas"/>
              </a:rPr>
              <a:t>}\</a:t>
            </a:r>
            <a:r>
              <a:rPr sz="1300">
                <a:solidFill>
                  <a:srgbClr val="E6E6E6"/>
                </a:solidFill>
                <a:latin typeface="Consolas"/>
              </a:rPr>
              <a:t>n</a:t>
            </a:r>
            <a:r>
              <a:rPr sz="1300">
                <a:solidFill>
                  <a:srgbClr val="F2B13B"/>
                </a:solidFill>
                <a:latin typeface="Consolas"/>
              </a:rPr>
              <a:t>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asyncio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main</a:t>
            </a:r>
            <a:r>
              <a:rPr sz="1300">
                <a:solidFill>
                  <a:srgbClr val="E6E6E6"/>
                </a:solidFill>
                <a:latin typeface="Consolas"/>
              </a:rPr>
              <a:t>())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Hands-on — Sequential &amp; Handoff builders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C5B6"/>
                </a:solidFill>
                <a:latin typeface="Calibri"/>
              </a:rPr>
              <a:t>Same shape, different topology — swap the builder to change behavior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201400" cy="5212080"/>
          </a:xfrm>
          <a:prstGeom prst="rect">
            <a:avLst/>
          </a:prstGeom>
          <a:solidFill>
            <a:srgbClr val="242A38"/>
          </a:solidFill>
          <a:ln w="12700">
            <a:solidFill>
              <a:srgbClr val="3A4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90472"/>
            <a:ext cx="10698480" cy="4892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--- Sequential: shared conversation flows through agents in order 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orchestrations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SequentialBuilder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workflow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E6E6E6"/>
                </a:solidFill>
                <a:latin typeface="Consolas"/>
              </a:rPr>
              <a:t>SequentialBuilder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participants</a:t>
            </a:r>
            <a:r>
              <a:rPr sz="1300">
                <a:solidFill>
                  <a:srgbClr val="E6E6E6"/>
                </a:solidFill>
                <a:latin typeface="Consolas"/>
              </a:rPr>
              <a:t>=[</a:t>
            </a:r>
            <a:r>
              <a:rPr sz="1300">
                <a:solidFill>
                  <a:srgbClr val="E6E6E6"/>
                </a:solidFill>
                <a:latin typeface="Consolas"/>
              </a:rPr>
              <a:t>outliner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writer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editor</a:t>
            </a:r>
            <a:r>
              <a:rPr sz="1300">
                <a:solidFill>
                  <a:srgbClr val="E6E6E6"/>
                </a:solidFill>
                <a:latin typeface="Consolas"/>
              </a:rPr>
              <a:t>]).</a:t>
            </a:r>
            <a:r>
              <a:rPr sz="1300">
                <a:solidFill>
                  <a:srgbClr val="E6E6E6"/>
                </a:solidFill>
                <a:latin typeface="Consolas"/>
              </a:rPr>
              <a:t>build</a:t>
            </a:r>
            <a:r>
              <a:rPr sz="1300">
                <a:solidFill>
                  <a:srgbClr val="E6E6E6"/>
                </a:solidFill>
                <a:latin typeface="Consolas"/>
              </a:rPr>
              <a:t>()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events</a:t>
            </a:r>
            <a:r>
              <a:rPr sz="1300">
                <a:solidFill>
                  <a:srgbClr val="E6E6E6"/>
                </a:solidFill>
                <a:latin typeface="Consolas"/>
              </a:rPr>
              <a:t> = </a:t>
            </a:r>
            <a:r>
              <a:rPr sz="1300">
                <a:solidFill>
                  <a:srgbClr val="6FB3F2"/>
                </a:solidFill>
                <a:latin typeface="Consolas"/>
              </a:rPr>
              <a:t>await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workflow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run</a:t>
            </a:r>
            <a:r>
              <a:rPr sz="1300">
                <a:solidFill>
                  <a:srgbClr val="E6E6E6"/>
                </a:solidFill>
                <a:latin typeface="Consolas"/>
              </a:rPr>
              <a:t>("</a:t>
            </a:r>
            <a:r>
              <a:rPr sz="1300">
                <a:solidFill>
                  <a:srgbClr val="E6E6E6"/>
                </a:solidFill>
                <a:latin typeface="Consolas"/>
              </a:rPr>
              <a:t>Draft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blog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post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about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electric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bikes</a:t>
            </a:r>
            <a:r>
              <a:rPr sz="1300">
                <a:solidFill>
                  <a:srgbClr val="E6E6E6"/>
                </a:solidFill>
                <a:latin typeface="Consolas"/>
              </a:rPr>
              <a:t>.")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--- Handoff: a triage agent routes to the right specialist ---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orchestrations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HandoffBuilder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HandoffBuilder auto-creates 'transfer' tools so triage can hand off control.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workflow</a:t>
            </a:r>
            <a:r>
              <a:rPr sz="1300">
                <a:solidFill>
                  <a:srgbClr val="E6E6E6"/>
                </a:solidFill>
                <a:latin typeface="Consolas"/>
              </a:rPr>
              <a:t> = (</a:t>
            </a:r>
            <a:r>
              <a:rPr sz="1300">
                <a:solidFill>
                  <a:srgbClr val="E6E6E6"/>
                </a:solidFill>
                <a:latin typeface="Consolas"/>
              </a:rPr>
              <a:t>HandoffBuilder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300">
                <a:solidFill>
                  <a:srgbClr val="E6E6E6"/>
                </a:solidFill>
                <a:latin typeface="Consolas"/>
              </a:rPr>
              <a:t>coordinator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E6E6E6"/>
                </a:solidFill>
                <a:latin typeface="Consolas"/>
              </a:rPr>
              <a:t>triage_agent</a:t>
            </a:r>
            <a:r>
              <a:rPr sz="1300">
                <a:solidFill>
                  <a:srgbClr val="E6E6E6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</a:t>
            </a:r>
            <a:r>
              <a:rPr sz="1300">
                <a:solidFill>
                  <a:srgbClr val="E6E6E6"/>
                </a:solidFill>
                <a:latin typeface="Consolas"/>
              </a:rPr>
              <a:t>participants</a:t>
            </a:r>
            <a:r>
              <a:rPr sz="1300">
                <a:solidFill>
                  <a:srgbClr val="E6E6E6"/>
                </a:solidFill>
                <a:latin typeface="Consolas"/>
              </a:rPr>
              <a:t>=[</a:t>
            </a:r>
            <a:r>
              <a:rPr sz="1300">
                <a:solidFill>
                  <a:srgbClr val="E6E6E6"/>
                </a:solidFill>
                <a:latin typeface="Consolas"/>
              </a:rPr>
              <a:t>refund_agent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order_agent</a:t>
            </a:r>
            <a:r>
              <a:rPr sz="1300">
                <a:solidFill>
                  <a:srgbClr val="E6E6E6"/>
                </a:solidFill>
                <a:latin typeface="Consolas"/>
              </a:rPr>
              <a:t>, </a:t>
            </a:r>
            <a:r>
              <a:rPr sz="1300">
                <a:solidFill>
                  <a:srgbClr val="E6E6E6"/>
                </a:solidFill>
                <a:latin typeface="Consolas"/>
              </a:rPr>
              <a:t>return_agent</a:t>
            </a:r>
            <a:r>
              <a:rPr sz="1300">
                <a:solidFill>
                  <a:srgbClr val="E6E6E6"/>
                </a:solidFill>
                <a:latin typeface="Consolas"/>
              </a:rPr>
              <a:t>])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            .</a:t>
            </a:r>
            <a:r>
              <a:rPr sz="1300">
                <a:solidFill>
                  <a:srgbClr val="E6E6E6"/>
                </a:solidFill>
                <a:latin typeface="Consolas"/>
              </a:rPr>
              <a:t>build</a:t>
            </a:r>
            <a:r>
              <a:rPr sz="1300">
                <a:solidFill>
                  <a:srgbClr val="E6E6E6"/>
                </a:solidFill>
                <a:latin typeface="Consolas"/>
              </a:rPr>
              <a:t>())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The workflow requests user input, routes to a specialist, and loops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until a termination condition is met (great for support bots).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0" b="1" i="0">
                <a:solidFill>
                  <a:srgbClr val="8FC9F5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Going to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1EEFB"/>
                </a:solidFill>
                <a:latin typeface="Calibri"/>
              </a:rPr>
              <a:t>Observe, test, and deploy your agents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Middleware &amp;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Treat agents like any other production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440680" cy="502920"/>
          </a:xfrm>
          <a:prstGeom prst="rect">
            <a:avLst/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078D4"/>
                </a:solidFill>
                <a:latin typeface="Calibri"/>
              </a:rPr>
              <a:t>Middleware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Hooks that wrap agent runs and tool calls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Use for logging, retries, timing, guardrails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Inspect or modify inputs/outputs; short-circuit calls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Add cross-cutting behavior without touching agent logic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5440680" cy="502920"/>
          </a:xfrm>
          <a:prstGeom prst="rect">
            <a:avLst/>
          </a:prstGeom>
          <a:solidFill>
            <a:srgbClr val="EA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E80"/>
                </a:solidFill>
                <a:latin typeface="Calibri"/>
              </a:rPr>
              <a:t>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Built on OpenTelemetry — traces, metrics, logs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See each model call, tool call, and token usage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Export to Azure Monitor / App Insights / any OTLP backend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Essential for debugging multi-agent behavior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Hands-on — DevUI: test agents in a local 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C5B6"/>
                </a:solidFill>
                <a:latin typeface="Calibri"/>
              </a:rPr>
              <a:t>A local playground to iterate before you write any frontend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11201400" cy="5212080"/>
          </a:xfrm>
          <a:prstGeom prst="rect">
            <a:avLst/>
          </a:prstGeom>
          <a:solidFill>
            <a:srgbClr val="242A38"/>
          </a:solidFill>
          <a:ln w="12700">
            <a:solidFill>
              <a:srgbClr val="3A4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90472"/>
            <a:ext cx="10698480" cy="4892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1. Install:  pip install agent-framework-devui  (or the full framework)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6FB3F2"/>
                </a:solidFill>
                <a:latin typeface="Consolas"/>
              </a:rPr>
              <a:t>from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agent_framework</a:t>
            </a:r>
            <a:r>
              <a:rPr sz="1300">
                <a:solidFill>
                  <a:srgbClr val="E6E6E6"/>
                </a:solidFill>
                <a:latin typeface="Consolas"/>
              </a:rPr>
              <a:t>.</a:t>
            </a:r>
            <a:r>
              <a:rPr sz="1300">
                <a:solidFill>
                  <a:srgbClr val="E6E6E6"/>
                </a:solidFill>
                <a:latin typeface="Consolas"/>
              </a:rPr>
              <a:t>devui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6FB3F2"/>
                </a:solidFill>
                <a:latin typeface="Consolas"/>
              </a:rPr>
              <a:t>import</a:t>
            </a: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  <a:r>
              <a:rPr sz="1300">
                <a:solidFill>
                  <a:srgbClr val="E6E6E6"/>
                </a:solidFill>
                <a:latin typeface="Consolas"/>
              </a:rPr>
              <a:t>serve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E6E6E6"/>
                </a:solidFill>
                <a:latin typeface="Consolas"/>
              </a:rPr>
              <a:t>serve</a:t>
            </a:r>
            <a:r>
              <a:rPr sz="1300">
                <a:solidFill>
                  <a:srgbClr val="E6E6E6"/>
                </a:solidFill>
                <a:latin typeface="Consolas"/>
              </a:rPr>
              <a:t>(</a:t>
            </a:r>
            <a:r>
              <a:rPr sz="1300">
                <a:solidFill>
                  <a:srgbClr val="E6E6E6"/>
                </a:solidFill>
                <a:latin typeface="Consolas"/>
              </a:rPr>
              <a:t>entities_dir</a:t>
            </a:r>
            <a:r>
              <a:rPr sz="1300">
                <a:solidFill>
                  <a:srgbClr val="E6E6E6"/>
                </a:solidFill>
                <a:latin typeface="Consolas"/>
              </a:rPr>
              <a:t>="</a:t>
            </a:r>
            <a:r>
              <a:rPr sz="1300">
                <a:solidFill>
                  <a:srgbClr val="E6E6E6"/>
                </a:solidFill>
                <a:latin typeface="Consolas"/>
              </a:rPr>
              <a:t>samples</a:t>
            </a:r>
            <a:r>
              <a:rPr sz="1300">
                <a:solidFill>
                  <a:srgbClr val="E6E6E6"/>
                </a:solidFill>
                <a:latin typeface="Consolas"/>
              </a:rPr>
              <a:t>/</a:t>
            </a:r>
            <a:r>
              <a:rPr sz="1300">
                <a:solidFill>
                  <a:srgbClr val="E6E6E6"/>
                </a:solidFill>
                <a:latin typeface="Consolas"/>
              </a:rPr>
              <a:t>02</a:t>
            </a:r>
            <a:r>
              <a:rPr sz="1300">
                <a:solidFill>
                  <a:srgbClr val="E6E6E6"/>
                </a:solidFill>
                <a:latin typeface="Consolas"/>
              </a:rPr>
              <a:t>-</a:t>
            </a:r>
            <a:r>
              <a:rPr sz="1300">
                <a:solidFill>
                  <a:srgbClr val="E6E6E6"/>
                </a:solidFill>
                <a:latin typeface="Consolas"/>
              </a:rPr>
              <a:t>agents</a:t>
            </a:r>
            <a:r>
              <a:rPr sz="1300">
                <a:solidFill>
                  <a:srgbClr val="E6E6E6"/>
                </a:solidFill>
                <a:latin typeface="Consolas"/>
              </a:rPr>
              <a:t>/</a:t>
            </a:r>
            <a:r>
              <a:rPr sz="1300">
                <a:solidFill>
                  <a:srgbClr val="E6E6E6"/>
                </a:solidFill>
                <a:latin typeface="Consolas"/>
              </a:rPr>
              <a:t>devui</a:t>
            </a:r>
            <a:r>
              <a:rPr sz="1300">
                <a:solidFill>
                  <a:srgbClr val="F2B13B"/>
                </a:solidFill>
                <a:latin typeface="Consolas"/>
              </a:rPr>
              <a:t>", </a:t>
            </a:r>
            <a:r>
              <a:rPr sz="1300">
                <a:solidFill>
                  <a:srgbClr val="E6E6E6"/>
                </a:solidFill>
                <a:latin typeface="Consolas"/>
              </a:rPr>
              <a:t>auto_open</a:t>
            </a:r>
            <a:r>
              <a:rPr sz="1300">
                <a:solidFill>
                  <a:srgbClr val="E6E6E6"/>
                </a:solidFill>
                <a:latin typeface="Consolas"/>
              </a:rPr>
              <a:t>=</a:t>
            </a:r>
            <a:r>
              <a:rPr sz="1300">
                <a:solidFill>
                  <a:srgbClr val="6FB3F2"/>
                </a:solidFill>
                <a:latin typeface="Consolas"/>
              </a:rPr>
              <a:t>True</a:t>
            </a:r>
            <a:r>
              <a:rPr sz="1300">
                <a:solidFill>
                  <a:srgbClr val="E6E6E6"/>
                </a:solidFill>
                <a:latin typeface="Consolas"/>
              </a:rPr>
              <a:t>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Starts Agent Framework DevUI on http://127.0.0.1:8080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-&gt; chat with your agents, inspect tool calls, replay runs, view traces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You can also serve specific in-memory objects: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300">
                <a:solidFill>
                  <a:srgbClr val="7FC87A"/>
                </a:solidFill>
                <a:latin typeface="Consolas"/>
              </a:rPr>
              <a:t>#   serve(entities=[my_agent, my_workflow], auto_open=True)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Hosting &amp;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From laptop to cloud with the same agent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440680" cy="502920"/>
          </a:xfrm>
          <a:prstGeom prst="rect">
            <a:avLst/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078D4"/>
                </a:solidFill>
                <a:latin typeface="Calibri"/>
              </a:rPr>
              <a:t>Options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Azure Functions — AgentFunctionApp(agents=[...])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Durable Task — long-running, resumable orchestrations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Any container / API host (it's plain Python)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Expose over A2A (agent-to-agent) or AG-UI 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5440680" cy="502920"/>
          </a:xfrm>
          <a:prstGeom prst="rect">
            <a:avLst/>
          </a:prstGeom>
          <a:solidFill>
            <a:srgbClr val="EA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E80"/>
                </a:solidFill>
                <a:latin typeface="Calibri"/>
              </a:rPr>
              <a:t>Production checklist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approval_mode='always_require' for risky tools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Persist sessions (Redis/Cosmos) for stateful chats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Enable OpenTelemetry export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Add middleware for retries &amp; rate limits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Set timeouts and token/cost budgets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0" b="1" i="0">
                <a:solidFill>
                  <a:srgbClr val="8FC9F5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1EEFB"/>
                </a:solidFill>
                <a:latin typeface="Calibri"/>
              </a:rPr>
              <a:t>Best practices, pitfalls &amp; your lab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Best practices vs. common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Most bugs are instruction and state problems, not code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5440680" cy="502920"/>
          </a:xfrm>
          <a:prstGeom prst="rect">
            <a:avLst/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0078D4"/>
                </a:solidFill>
                <a:latin typeface="Calibri"/>
              </a:rPr>
              <a:t>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Write clear, specific instructions (they steer everything)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Keep tools small, single-purpose, well-documented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Start with one agent; add agents only when needed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Use sessions for anything multi-turn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Turn on tracing early — debug with data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Prefer functional workflows until you need the graph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00200"/>
            <a:ext cx="5440680" cy="502920"/>
          </a:xfrm>
          <a:prstGeom prst="rect">
            <a:avLst/>
          </a:prstGeom>
          <a:solidFill>
            <a:srgbClr val="EA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73352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8E80"/>
                </a:solidFill>
                <a:latin typeface="Calibri"/>
              </a:rPr>
              <a:t>Avoid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1206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Vague instructions ('be helpful') → unpredictable agents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'always_require' forgotten on tools that spend money/write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Giant do-everything tools the model can't reason about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Forgetting await / not running inside asyncio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Reusing one session across unrelated users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2EC5B6"/>
                </a:solidFill>
                <a:latin typeface="Calibri"/>
              </a:rPr>
              <a:t>▸  </a:t>
            </a:r>
            <a:r>
              <a:rPr sz="1500">
                <a:solidFill>
                  <a:srgbClr val="1B2233"/>
                </a:solidFill>
                <a:latin typeface="Calibri"/>
              </a:rPr>
              <a:t>Jumping to multi-agent before a single agent works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Your lab — build it 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Runnable starters are in the examples/ folder of this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Level 1: Hello agent — run a prompt (streaming + non-streaming)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Level 2: Add a @tool (e.g. a calculator or a fake weather API)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Level 3: Make it multi-turn with a session; verify it remembers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Level 4: Add a context provider that remembers the user's name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Level 5: Connect an MCP server (e.g. Microsoft Learn) and ask docs questions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Level 6: Build a 2-agent functional workflow (writer → reviewer)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Level 7: Rebuild it as a ConcurrentBuilder or SequentialBuilder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Stretch: launch DevUI and demo your agent in the browser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B2233"/>
                </a:solidFill>
                <a:latin typeface="Calibri"/>
              </a:rPr>
              <a:t>Resources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241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0078D4"/>
                </a:solidFill>
                <a:latin typeface="Calibri"/>
              </a:rPr>
              <a:t>Bookmark these; the samples repo is the fastest way to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Docs:  https://learn.microsoft.com/agent-framework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GitHub:  https://github.com/microsoft/agent-framework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Python samples:  github.com/microsoft/agent-framework/tree/main/python/samples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PyPI:  https://pypi.org/project/agent-framework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Migration guides: from AutoGen and from Semantic Kernel (in the repo)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800" b="1">
                <a:solidFill>
                  <a:srgbClr val="2EC5B6"/>
                </a:solidFill>
                <a:latin typeface="Calibri"/>
              </a:rPr>
              <a:t>▸  </a:t>
            </a:r>
            <a:r>
              <a:rPr sz="1800">
                <a:solidFill>
                  <a:srgbClr val="1B2233"/>
                </a:solidFill>
                <a:latin typeface="Calibri"/>
              </a:rPr>
              <a:t>This repo's examples/ folder — runnable versions of every code slide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2EC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C5B6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E8ECF4"/>
                </a:solidFill>
                <a:latin typeface="Calibri"/>
              </a:rPr>
              <a:t>Now open the examples/ folder and build your first agent.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9AA4B8"/>
                </a:solidFill>
                <a:latin typeface="Calibri"/>
              </a:rPr>
              <a:t>Microsoft Agent Framework  •  Python Training  •  Concepts + Hands-on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